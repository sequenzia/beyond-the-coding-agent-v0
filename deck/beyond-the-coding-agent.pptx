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You shipped code you did not read
</a:t>
            </a:r>
          </a:p>
          <a:p>
            <a:r>
              <a:rPr lang="en-US" dirty="0"/>
              <a:t>Time 1:00, about 150 words. Cues: [BUILD] is a click; [POINT] is where to gesture.
</a:t>
            </a:r>
          </a:p>
          <a:p>
            <a:r>
              <a:rPr lang="en-US" dirty="0"/>
              <a:t>
</a:t>
            </a:r>
          </a:p>
          <a:p>
            <a:r>
              <a:rPr lang="en-US" dirty="0"/>
              <a:t>Some of you shipped code this week that you did not read. I am not judging. Simon Willison, who has written about this longer than almost anyone, said in May that he no longer reviews every line his agents write, even for production. His words: "I'm not reviewing that code. And now I've got that feeling of guilt."
</a:t>
            </a:r>
          </a:p>
          <a:p>
            <a:r>
              <a:rPr lang="en-US" dirty="0"/>
              <a:t>
</a:t>
            </a:r>
          </a:p>
          <a:p>
            <a:r>
              <a:rPr lang="en-US" dirty="0"/>
              <a:t>That does not make you an AI engineer. It makes you an AI-enabled software engineer, and that is a real skill.
</a:t>
            </a:r>
          </a:p>
          <a:p>
            <a:r>
              <a:rPr lang="en-US" dirty="0"/>
              <a:t>
</a:t>
            </a:r>
          </a:p>
          <a:p>
            <a:r>
              <a:rPr lang="en-US" dirty="0"/>
              <a:t>Now turn it around. Everything you touched from the user side of that agent, somebody engineered. The instructions file. The permission prompt. The sandbox. The model picker. The people who built those are AI engineers.
</a:t>
            </a:r>
          </a:p>
          <a:p>
            <a:r>
              <a:rPr lang="en-US" dirty="0"/>
              <a:t>
</a:t>
            </a:r>
          </a:p>
          <a:p>
            <a:r>
              <a:rPr lang="en-US" dirty="0"/>
              <a:t>This talk is about crossing to that side. We are going to take that agent apart. [BUILD] Here is the whole argument in two sentences. [POINT: thesis] It stays on screen while we go.
</a:t>
            </a:r>
          </a:p>
          <a:p>
            <a:r>
              <a:rPr lang="en-US" dirty="0"/>
              <a:t>
</a:t>
            </a:r>
          </a:p>
          <a:p>
            <a:r>
              <a:rPr lang="en-US" dirty="0"/>
              <a:t>CUT IF RUNNING LONG
</a:t>
            </a:r>
          </a:p>
          <a:p>
            <a:r>
              <a:rPr lang="en-US" dirty="0"/>
              <a:t>Drop the verbatim Willison quotation and keep the paraphrase: "he no longer reviews every line his agents write, even for production." Saves about 8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You shipped code you did not read
</a:t>
            </a:r>
          </a:p>
          <a:p>
            <a:r>
              <a:rPr lang="en-US" dirty="0"/>
              <a:t>Time 1:00, about 150 words. Cues: [BUILD] is a click; [POINT] is where to gesture.
</a:t>
            </a:r>
          </a:p>
          <a:p>
            <a:r>
              <a:rPr lang="en-US" dirty="0"/>
              <a:t>
</a:t>
            </a:r>
          </a:p>
          <a:p>
            <a:r>
              <a:rPr lang="en-US" dirty="0"/>
              <a:t>Some of you shipped code this week that you did not read. I am not judging. Simon Willison, who has written about this longer than almost anyone, said in May that he no longer reviews every line his agents write, even for production. His words: "I'm not reviewing that code. And now I've got that feeling of guilt."
</a:t>
            </a:r>
          </a:p>
          <a:p>
            <a:r>
              <a:rPr lang="en-US" dirty="0"/>
              <a:t>
</a:t>
            </a:r>
          </a:p>
          <a:p>
            <a:r>
              <a:rPr lang="en-US" dirty="0"/>
              <a:t>That does not make you an AI engineer. It makes you an AI-enabled software engineer, and that is a real skill.
</a:t>
            </a:r>
          </a:p>
          <a:p>
            <a:r>
              <a:rPr lang="en-US" dirty="0"/>
              <a:t>
</a:t>
            </a:r>
          </a:p>
          <a:p>
            <a:r>
              <a:rPr lang="en-US" dirty="0"/>
              <a:t>Now turn it around. Everything you touched from the user side of that agent, somebody engineered. The instructions file. The permission prompt. The sandbox. The model picker. The people who built those are AI engineers.
</a:t>
            </a:r>
          </a:p>
          <a:p>
            <a:r>
              <a:rPr lang="en-US" dirty="0"/>
              <a:t>
</a:t>
            </a:r>
          </a:p>
          <a:p>
            <a:r>
              <a:rPr lang="en-US" dirty="0"/>
              <a:t>This talk is about crossing to that side. We are going to take that agent apart. [BUILD] Here is the whole argument in two sentences. [POINT: thesis] It stays on screen while we go.
</a:t>
            </a:r>
          </a:p>
          <a:p>
            <a:r>
              <a:rPr lang="en-US" dirty="0"/>
              <a:t>
</a:t>
            </a:r>
          </a:p>
          <a:p>
            <a:r>
              <a:rPr lang="en-US" dirty="0"/>
              <a:t>CUT IF RUNNING LONG
</a:t>
            </a:r>
          </a:p>
          <a:p>
            <a:r>
              <a:rPr lang="en-US" dirty="0"/>
              <a:t>Drop the verbatim Willison quotation and keep the paraphrase: "he no longer reviews every line his agents write, even for production." Saves about 8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Same tools, different deliverable
</a:t>
            </a:r>
          </a:p>
          <a:p>
            <a:r>
              <a:rPr lang="en-US" dirty="0"/>
              <a:t>Time 1:15, about 190 words. Cues: [BUILD] is a click; [POINT] is where to gesture.
</a:t>
            </a:r>
          </a:p>
          <a:p>
            <a:r>
              <a:rPr lang="en-US" dirty="0"/>
              <a:t>
</a:t>
            </a:r>
          </a:p>
          <a:p>
            <a:r>
              <a:rPr lang="en-US" dirty="0"/>
              <a:t>swyx, who named this field and runs its conference, draws three categories. Software engineers enhanced by AI. Software engineers building AI products. And non-human software engineers, the agents themselves. This talk is about moving from the first to the second. [POINT: arrow]
</a:t>
            </a:r>
          </a:p>
          <a:p>
            <a:r>
              <a:rPr lang="en-US" dirty="0"/>
              <a:t>
</a:t>
            </a:r>
          </a:p>
          <a:p>
            <a:r>
              <a:rPr lang="en-US" dirty="0"/>
              <a:t>What does the second group build? Chip Huyen's definition: products and systems on foundation models that someone else made. Machine learning engineers train models. AI engineers adapt them. Karpathy's line, quoted by swyx: "One can be quite successful in this role without ever training anything." That is the boundary with ML engineering, and it is the last time I will mention fine-tuning until the end.
</a:t>
            </a:r>
          </a:p>
          <a:p>
            <a:r>
              <a:rPr lang="en-US" dirty="0"/>
              <a:t>
</a:t>
            </a:r>
          </a:p>
          <a:p>
            <a:r>
              <a:rPr lang="en-US" dirty="0"/>
              <a:t>So how do you tell the two groups apart? Not by the tools. Both use the same coding agent. The test is the deliverable. [POINT: footer] If the system you ship calls a model at runtime, it inherits non-determinism, evaluation, cost, and safety as engineering problems. That is the whole difference.
</a:t>
            </a:r>
          </a:p>
          <a:p>
            <a:r>
              <a:rPr lang="en-US" dirty="0"/>
              <a:t>
</a:t>
            </a:r>
          </a:p>
          <a:p>
            <a:r>
              <a:rPr lang="en-US" dirty="0"/>
              <a:t>And it is what the job postings say. Real 2026 postings from OpenAI and Anthropic list "evaluation frameworks" and "agent development" as required. Not agent use. Agent development.
</a:t>
            </a:r>
          </a:p>
          <a:p>
            <a:r>
              <a:rPr lang="en-US" dirty="0"/>
              <a:t>
</a:t>
            </a:r>
          </a:p>
          <a:p>
            <a:r>
              <a:rPr lang="en-US" dirty="0"/>
              <a:t>CUT IF RUNNING LONG
</a:t>
            </a:r>
          </a:p>
          <a:p>
            <a:r>
              <a:rPr lang="en-US" dirty="0"/>
              <a:t>Drop the final paragraph on job postings. Saves about 10 seconds. The same fact returns on slide 18.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Why it is a distinct discipline
</a:t>
            </a:r>
          </a:p>
          <a:p>
            <a:r>
              <a:rPr lang="en-US" dirty="0"/>
              <a:t>Time 1:15, about 190 words. Cues: [BUILD] is a click; [POINT] is where to gesture.
</a:t>
            </a:r>
          </a:p>
          <a:p>
            <a:r>
              <a:rPr lang="en-US" dirty="0"/>
              <a:t>
</a:t>
            </a:r>
          </a:p>
          <a:p>
            <a:r>
              <a:rPr lang="en-US" dirty="0"/>
              <a:t>Why is this a distinct discipline and not just software engineering with an API call in it? Start with the model's psychology, because the engineering that follows needs a reason. Karpathy, June 2025: these models are jagged, brilliant at one thing and wrong at the thing next to it. They are non-deterministic; the same input does not give the same output. And they are amnesiac at every context boundary. Every new session starts from nothing.
</a:t>
            </a:r>
          </a:p>
          <a:p>
            <a:r>
              <a:rPr lang="en-US" dirty="0"/>
              <a:t>
</a:t>
            </a:r>
          </a:p>
          <a:p>
            <a:r>
              <a:rPr lang="en-US" dirty="0"/>
              <a:t>Karpathy again, on the gap between prototype and production: "Demo is works.any(). Product is works.all()." [POINT: headline] Your demo has to work once. Your product has to work every time.
</a:t>
            </a:r>
          </a:p>
          <a:p>
            <a:r>
              <a:rPr lang="en-US" dirty="0"/>
              <a:t>
</a:t>
            </a:r>
          </a:p>
          <a:p>
            <a:r>
              <a:rPr lang="en-US" dirty="0"/>
              <a:t>Here is the arithmetic that makes that real. [BUILD] An agent that succeeds 75 percent of the time per attempt. [BUILD] Three attempts in a row. [BUILD] 42 percent. Anthropic published that in January. Reliability, not capability, is the enterprise problem, and the field's own data says capability gains have not delivered it.
</a:t>
            </a:r>
          </a:p>
          <a:p>
            <a:r>
              <a:rPr lang="en-US" dirty="0"/>
              <a:t>
</a:t>
            </a:r>
          </a:p>
          <a:p>
            <a:r>
              <a:rPr lang="en-US" dirty="0"/>
              <a:t>So traditional software engineering remains the foundation. It is no longer sufficient. Thoughtworks put it as "retaining principles, relinquishing patterns." The principles are old. The failure modes are new.
</a:t>
            </a:r>
          </a:p>
          <a:p>
            <a:r>
              <a:rPr lang="en-US" dirty="0"/>
              <a:t>
</a:t>
            </a:r>
          </a:p>
          <a:p>
            <a:r>
              <a:rPr lang="en-US" dirty="0"/>
              <a:t>CUT IF RUNNING LONG
</a:t>
            </a:r>
          </a:p>
          <a:p>
            <a:r>
              <a:rPr lang="en-US" dirty="0"/>
              <a:t>Drop the Thoughtworks sentence and end on "capability gains have not delivered it." Saves about 10 seconds. The Thoughtworks line returns in the Q&amp;A answer to "Isn't this just software engineering?"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The autonomy spectrum and the coding agent's lineage
</a:t>
            </a:r>
          </a:p>
          <a:p>
            <a:r>
              <a:rPr lang="en-US" dirty="0"/>
              <a:t>Time 1:15, about 190 words. Cues: [BUILD] is a click; [POINT] is where to gesture.
</a:t>
            </a:r>
          </a:p>
          <a:p>
            <a:r>
              <a:rPr lang="en-US" dirty="0"/>
              <a:t>
</a:t>
            </a:r>
          </a:p>
          <a:p>
            <a:r>
              <a:rPr lang="en-US" dirty="0"/>
              <a:t>Now the spectrum every guide agrees on. Anthropic's definitions, December 2024. Workflows are "systems where LLMs and tools are orchestrated through predefined code paths." Agents are "systems where LLMs dynamically direct their own processes and tool usage."
</a:t>
            </a:r>
          </a:p>
          <a:p>
            <a:r>
              <a:rPr lang="en-US" dirty="0"/>
              <a:t>
</a:t>
            </a:r>
          </a:p>
          <a:p>
            <a:r>
              <a:rPr lang="en-US" dirty="0"/>
              <a:t>And the rule: start with a workflow. Add autonomy only when it demonstrably improves outcomes. Anthropic's own words: "For many applications, optimizing single LLM calls with retrieval and in-context examples is usually enough."
</a:t>
            </a:r>
          </a:p>
          <a:p>
            <a:r>
              <a:rPr lang="en-US" dirty="0"/>
              <a:t>
</a:t>
            </a:r>
          </a:p>
          <a:p>
            <a:r>
              <a:rPr lang="en-US" dirty="0"/>
              <a:t>You have lived this spectrum. [BUILD] One call. A completion, or one prompt that hands back a snippet. You paste it. [BUILD] A workflow. Chat over your codebase: retrieve the relevant files, answer, on a fixed path. That was retrieval-augmented generation before it had a name. You decide and edit. [BUILD] An agent with read-only tools. Explore or plan mode: the model chooses which files to read and proposes a patch. You approve and apply. [BUILD] An agent with tiered actions. It edits files, runs commands behind a permission prompt, and pushes when allowed.
</a:t>
            </a:r>
          </a:p>
          <a:p>
            <a:r>
              <a:rPr lang="en-US" dirty="0"/>
              <a:t>
</a:t>
            </a:r>
          </a:p>
          <a:p>
            <a:r>
              <a:rPr lang="en-US" dirty="0"/>
              <a:t>The industry did what the rule says. It started with a workflow and added autonomy one tier at a time. That fourth stop is the most demanding expression of this discipline. And it is the machine we take apart for the next nineteen minutes.
</a:t>
            </a:r>
          </a:p>
          <a:p>
            <a:r>
              <a:rPr lang="en-US" dirty="0"/>
              <a:t>
</a:t>
            </a:r>
          </a:p>
          <a:p>
            <a:r>
              <a:rPr lang="en-US" dirty="0"/>
              <a:t>CUT IF RUNNING LONG
</a:t>
            </a:r>
          </a:p>
          <a:p>
            <a:r>
              <a:rPr lang="en-US" dirty="0"/>
              <a:t>Drop the "For many applications" quotation. Saves about 8 seconds. Keep the rule before it; slide 17 depends on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The loop and the map
</a:t>
            </a:r>
          </a:p>
          <a:p>
            <a:r>
              <a:rPr lang="en-US" dirty="0"/>
              <a:t>Time 1:15, about 190 words. Cues: [BUILD] is a click; [POINT] is where to gesture.
</a:t>
            </a:r>
          </a:p>
          <a:p>
            <a:r>
              <a:rPr lang="en-US" dirty="0"/>
              <a:t>
</a:t>
            </a:r>
          </a:p>
          <a:p>
            <a:r>
              <a:rPr lang="en-US" dirty="0"/>
              <a:t>Here is the map for the next nineteen minutes. Photograph this one.
</a:t>
            </a:r>
          </a:p>
          <a:p>
            <a:r>
              <a:rPr lang="en-US" dirty="0"/>
              <a:t>
</a:t>
            </a:r>
          </a:p>
          <a:p>
            <a:r>
              <a:rPr lang="en-US" dirty="0"/>
              <a:t>[POINT: center] A model in the middle. It answers one call. [POINT: loop] Around it, the loop: gather context, act through a tool, verify the result, repeat. That loop is what an agent is. [BUILD] Around the loop, the harness: the code that runs the loop, keeps its state across a whole run, and decides when the run stops. [BUILD] Around the harness, everything across many runs and in production: evaluate, observe, secure, govern.
</a:t>
            </a:r>
          </a:p>
          <a:p>
            <a:r>
              <a:rPr lang="en-US" dirty="0"/>
              <a:t>
</a:t>
            </a:r>
          </a:p>
          <a:p>
            <a:r>
              <a:rPr lang="en-US" dirty="0"/>
              <a:t>Addy Osmani put it in one line this spring: "Agent equals model plus harness. If you're not the model, you're the harness." You are not the model. And harness, in this talk, means one thing: the program that runs the loop. The loop is the idea. The harness is the code.
</a:t>
            </a:r>
          </a:p>
          <a:p>
            <a:r>
              <a:rPr lang="en-US" dirty="0"/>
              <a:t>
</a:t>
            </a:r>
          </a:p>
          <a:p>
            <a:r>
              <a:rPr lang="en-US" dirty="0"/>
              <a:t>You have heard "harness engineering" used for the instructions file, the linters, and the hooks you set up around your coding agent. That is configuring the harness, from the user side of the line. This talk is about writing it.
</a:t>
            </a:r>
          </a:p>
          <a:p>
            <a:r>
              <a:rPr lang="en-US" dirty="0"/>
              <a:t>
</a:t>
            </a:r>
          </a:p>
          <a:p>
            <a:r>
              <a:rPr lang="en-US" dirty="0"/>
              <a:t>Six areas follow, from one call outward. The model: one call. Context: what that call sees. Tools: one action. The harness: that action gated, then the whole run. Evaluation: many runs. Operations: production.
</a:t>
            </a:r>
          </a:p>
          <a:p>
            <a:r>
              <a:rPr lang="en-US" dirty="0"/>
              <a:t>
</a:t>
            </a:r>
          </a:p>
          <a:p>
            <a:r>
              <a:rPr lang="en-US" dirty="0"/>
              <a:t>CUT IF RUNNING LONG
</a:t>
            </a:r>
          </a:p>
          <a:p>
            <a:r>
              <a:rPr lang="en-US" dirty="0"/>
              <a:t>Nothing. This is the slide the section is built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The model is a component
</a:t>
            </a:r>
          </a:p>
          <a:p>
            <a:r>
              <a:rPr lang="en-US" dirty="0"/>
              <a:t>Time 2:00, about 300 words. Cues: [BUILD] is a click; [POINT] is where to gesture.
</a:t>
            </a:r>
          </a:p>
          <a:p>
            <a:r>
              <a:rPr lang="en-US" dirty="0"/>
              <a:t>
</a:t>
            </a:r>
          </a:p>
          <a:p>
            <a:r>
              <a:rPr lang="en-US" dirty="0"/>
              <a:t>First area. The model. It answers one call. Every canonical decomposition of an agent starts here. OpenAI says model, tools, instructions. Google says model, tools, orchestration. The point for you is that the model is a component. You select it, you measure it, you replace it.
</a:t>
            </a:r>
          </a:p>
          <a:p>
            <a:r>
              <a:rPr lang="en-US" dirty="0"/>
              <a:t>
</a:t>
            </a:r>
          </a:p>
          <a:p>
            <a:r>
              <a:rPr lang="en-US" dirty="0"/>
              <a:t>The selection rule, from OpenAI's guide: "build your agent prototype with the most capable model for every task to establish a performance baseline. From there, try swapping in smaller models." Then route by task. A capable model for judgment. A cheaper one for classification.
</a:t>
            </a:r>
          </a:p>
          <a:p>
            <a:r>
              <a:rPr lang="en-US" dirty="0"/>
              <a:t>
</a:t>
            </a:r>
          </a:p>
          <a:p>
            <a:r>
              <a:rPr lang="en-US" dirty="0"/>
              <a:t>Open the model picker in your coding agent. That menu is this decision, made by the people who built it. The main loop runs on the capable model. The subagent that scans your codebase, the autocomplete, the commit message: a cheaper one. The same split in a support agent: classify with the cheap model, reason with the capable one.
</a:t>
            </a:r>
          </a:p>
          <a:p>
            <a:r>
              <a:rPr lang="en-US" dirty="0"/>
              <a:t>
</a:t>
            </a:r>
          </a:p>
          <a:p>
            <a:r>
              <a:rPr lang="en-US" dirty="0"/>
              <a:t>Structured outputs. Whenever your code consumes the model's answer, ask for a schema, not prose. That draws the line between the probabilistic part of your system and the deterministic part.
</a:t>
            </a:r>
          </a:p>
          <a:p>
            <a:r>
              <a:rPr lang="en-US" dirty="0"/>
              <a:t>
</a:t>
            </a:r>
          </a:p>
          <a:p>
            <a:r>
              <a:rPr lang="en-US" dirty="0"/>
              <a:t>Now lifecycle, because this is where it becomes engineering. [BUILD] OpenAI gives six months' notice on generally available models. It retired its remaining GPT-4-era models on July 23rd of this year. Over 75 percent of surveyed teams already run more than one model. So plan one migration every six to twelve months, as a scheduled event. And a rule from practitioners: never change the model and the prompt in the same commit, because you will not know which one broke it.
</a:t>
            </a:r>
          </a:p>
          <a:p>
            <a:r>
              <a:rPr lang="en-US" dirty="0"/>
              <a:t>
</a:t>
            </a:r>
          </a:p>
          <a:p>
            <a:r>
              <a:rPr lang="en-US" dirty="0"/>
              <a:t>Anthropic wrote this spring that "harnesses encode assumptions that go stale as models improve." Every workaround you build is a hypothesis about a model limit, and it has an expiry date.
</a:t>
            </a:r>
          </a:p>
          <a:p>
            <a:r>
              <a:rPr lang="en-US" dirty="0"/>
              <a:t>
</a:t>
            </a:r>
          </a:p>
          <a:p>
            <a:r>
              <a:rPr lang="en-US" dirty="0"/>
              <a:t>Inside your coding agent, every model change runs through an eval suite before it reaches you. We build that suite in a few minutes. And the deprecation email you got this year was the lifecycle, seen from the user side.
</a:t>
            </a:r>
          </a:p>
          <a:p>
            <a:r>
              <a:rPr lang="en-US" dirty="0"/>
              <a:t>
</a:t>
            </a:r>
          </a:p>
          <a:p>
            <a:r>
              <a:rPr lang="en-US" dirty="0"/>
              <a:t>CUT IF RUNNING LONG
</a:t>
            </a:r>
          </a:p>
          <a:p>
            <a:r>
              <a:rPr lang="en-US" dirty="0"/>
              <a:t>Drop the "harnesses encode assumptions" paragraph. Saves about 12 seconds. It returns in the Q&amp;A answer to "Won't better models make the harness obsolete?"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Context is a budget, not a bucket
</a:t>
            </a:r>
          </a:p>
          <a:p>
            <a:r>
              <a:rPr lang="en-US" dirty="0"/>
              <a:t>Time 2:30, about 375 words. Cues: [BUILD] is a click; [POINT] is where to gesture.
</a:t>
            </a:r>
          </a:p>
          <a:p>
            <a:r>
              <a:rPr lang="en-US" dirty="0"/>
              <a:t>
</a:t>
            </a:r>
          </a:p>
          <a:p>
            <a:r>
              <a:rPr lang="en-US" dirty="0"/>
              <a:t>Second area. Context: what that one call sees. Anthropic's definition: context engineering is "the set of strategies for curating and maintaining the optimal set of tokens during LLM inference." Prompt engineering is a subset of that. And the governing rule, also Anthropic: "find the smallest set of high-signal tokens that maximize the likelihood of your desired outcome." Smallest. Not most.
</a:t>
            </a:r>
          </a:p>
          <a:p>
            <a:r>
              <a:rPr lang="en-US" dirty="0"/>
              <a:t>
</a:t>
            </a:r>
          </a:p>
          <a:p>
            <a:r>
              <a:rPr lang="en-US" dirty="0"/>
              <a:t>[POINT: bar] Here is what is in your coding agent's window. The instructions file. The task. The conversation so far. The files it has read and the search results it got back. Memory. Tool definitions. Tool results. Retrieval-augmented generation is one technique for one of these segments.
</a:t>
            </a:r>
          </a:p>
          <a:p>
            <a:r>
              <a:rPr lang="en-US" dirty="0"/>
              <a:t>
</a:t>
            </a:r>
          </a:p>
          <a:p>
            <a:r>
              <a:rPr lang="en-US" dirty="0"/>
              <a:t>The window is a budget, not a bucket. Attention degrades as it fills. So the long-horizon techniques are all about spending less: compaction, structured notes the agent maintains for itself, subagents that return a short summary instead of their whole transcript, and just-in-time retrieval instead of preloading. Memory, briefly, is the same budget across sessions: working, episodic, semantic, procedural. Your skills files are procedural memory under version control.
</a:t>
            </a:r>
          </a:p>
          <a:p>
            <a:r>
              <a:rPr lang="en-US" dirty="0"/>
              <a:t>
</a:t>
            </a:r>
          </a:p>
          <a:p>
            <a:r>
              <a:rPr lang="en-US" dirty="0"/>
              <a:t>[BUILD] Now two properties beginners miss. First, provenance and freshness. Your coding agent refuses to edit a file the model has not read this session. It re-reads before it edits, because the model may be holding a stale picture of that file. In code, not in a prompt. That code has a name on the map: the harness. Hold on to it.
</a:t>
            </a:r>
          </a:p>
          <a:p>
            <a:r>
              <a:rPr lang="en-US" dirty="0"/>
              <a:t>
</a:t>
            </a:r>
          </a:p>
          <a:p>
            <a:r>
              <a:rPr lang="en-US" dirty="0"/>
              <a:t>Now change the customer. Amazon's retail outage in March traced to an engineer acting on advice an agent had inferred from an outdated internal wiki. The agent was not wrong about code. It was confidently right about stale context. When the context is a wiki and not a repo, the freshness rule is a last-reviewed stamp on the document, and a stale one blocks autonomous action.
</a:t>
            </a:r>
          </a:p>
          <a:p>
            <a:r>
              <a:rPr lang="en-US" dirty="0"/>
              <a:t>
</a:t>
            </a:r>
          </a:p>
          <a:p>
            <a:r>
              <a:rPr lang="en-US" dirty="0"/>
              <a:t>Second, the security boundary. Tool results and retrieved documents enter the window with the same authority as your instructions. One practitioner's phrase: "tool output is prompt engineering." So label untrusted content as untrusted. In your coding agent that is every file it reads, every page it fetches, every tool result. We will see why that label matters when someone puts an instruction inside a pull request.
</a:t>
            </a:r>
          </a:p>
          <a:p>
            <a:r>
              <a:rPr lang="en-US" dirty="0"/>
              <a:t>
</a:t>
            </a:r>
          </a:p>
          <a:p>
            <a:r>
              <a:rPr lang="en-US" dirty="0"/>
              <a:t>You already do context engineering, from the user side. The instructions file in your repo is exactly this. OpenAI's own agent-first codebase keeps that file to about a hundred lines, and it works as a table of contents, not a manual.
</a:t>
            </a:r>
          </a:p>
          <a:p>
            <a:r>
              <a:rPr lang="en-US" dirty="0"/>
              <a:t>
</a:t>
            </a:r>
          </a:p>
          <a:p>
            <a:r>
              <a:rPr lang="en-US" dirty="0"/>
              <a:t>CUT IF RUNNING LONG
</a:t>
            </a:r>
          </a:p>
          <a:p>
            <a:r>
              <a:rPr lang="en-US" dirty="0"/>
              <a:t>The two memory sentences ("Memory, briefly ... version control."). Saves about 12 seconds. This is the outline's designated trim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Tools, action tiers, and isolation
</a:t>
            </a:r>
          </a:p>
          <a:p>
            <a:r>
              <a:rPr lang="en-US" dirty="0"/>
              <a:t>Time 3:00, about 450 words. Cues: [BUILD] is a click; [POINT] is where to gesture.
</a:t>
            </a:r>
          </a:p>
          <a:p>
            <a:r>
              <a:rPr lang="en-US" dirty="0"/>
              <a:t>
</a:t>
            </a:r>
          </a:p>
          <a:p>
            <a:r>
              <a:rPr lang="en-US" dirty="0"/>
              <a:t>Third area. Tools: one action. Anthropic's definition: tools are "a new kind of software which reflects a contract between deterministic systems and non-deterministic agents." You are writing an interface for a caller that reads the documentation, reasons about it, and sometimes gets it wrong. So the design rules differ. A few workflow-shaped tools instead of a wrapper per endpoint. Descriptions written as you would for a new teammate. Results that return meaning rather than identifiers. Errors that say what to do next.
</a:t>
            </a:r>
          </a:p>
          <a:p>
            <a:r>
              <a:rPr lang="en-US" dirty="0"/>
              <a:t>
</a:t>
            </a:r>
          </a:p>
          <a:p>
            <a:r>
              <a:rPr lang="en-US" dirty="0"/>
              <a:t>MCP, the Model Context Protocol, is how tools ship. It has been vendor-neutral under the Linux Foundation since December, and it is the de facto standard. This year's revision made servers stateless and hardened the OAuth profile. One thing to know: the protocol delegates the security boundary to you. Akamai's Maxim Zavodchik, in June: "critical security boundaries are now entirely dependent on how developers implement them." If you write a server, the tool-design rules apply. If you configure a client, scoped short-lived tokens are your job. And if your agents ever cross a vendor or organizational boundary, there is an agent-to-agent protocol, A2A, for that. Inside one system you do not need it.
</a:t>
            </a:r>
          </a:p>
          <a:p>
            <a:r>
              <a:rPr lang="en-US" dirty="0"/>
              <a:t>
</a:t>
            </a:r>
          </a:p>
          <a:p>
            <a:r>
              <a:rPr lang="en-US" dirty="0"/>
              <a:t>[BUILD] Now the most important design decision in this talk. Action tiers. Read-only. Reversible. Consequential. OpenAI rates every tool low, medium, or high by write access, reversibility, permissions, and financial impact. [POINT: table] Here are your coding agent's six tools. Read file, search the codebase, list files: read-only. Edit file: reversible, and git is the compensating action. Run a command: consequential, and that is the one behind the permission prompt. Push, or open a pull request: external communication, which will matter for security in a few minutes.
</a:t>
            </a:r>
          </a:p>
          <a:p>
            <a:r>
              <a:rPr lang="en-US" dirty="0"/>
              <a:t>
</a:t>
            </a:r>
          </a:p>
          <a:p>
            <a:r>
              <a:rPr lang="en-US" dirty="0"/>
              <a:t>Here is the part that makes it engineering. [BUILD] Tiers are enforced by a policy layer outside the model. Not by asking the model to be careful. The permission system is that policy layer. Allowlists and tiers in code decide which calls prompt, not the model. In code, not in a prompt. Harness code, again.
</a:t>
            </a:r>
          </a:p>
          <a:p>
            <a:r>
              <a:rPr lang="en-US" dirty="0"/>
              <a:t>
</a:t>
            </a:r>
          </a:p>
          <a:p>
            <a:r>
              <a:rPr lang="en-US" dirty="0"/>
              <a:t>Execution isolation is the counterpart. A sandbox with filesystem confinement and a network egress allowlist, and credentials that never enter the sandbox at all. Anthropic published the design note for its coding agent's sandbox last October: an injected agent cannot "steal your SSH keys, or phone home," and the sandbox cut permission prompts by 84 percent. Why it matters: Replit's agent deleted a production database during a declared code freeze in July of last year. A code freeze is a prompt. The fix was three controls: separate dev and prod databases, one-click restore, and a planning-only mode. Not a better prompt. And in December, a coding agent's turbo mode, which executed without confirmation, ran a recursive delete against a user's drive.
</a:t>
            </a:r>
          </a:p>
          <a:p>
            <a:r>
              <a:rPr lang="en-US" dirty="0"/>
              <a:t>
</a:t>
            </a:r>
          </a:p>
          <a:p>
            <a:r>
              <a:rPr lang="en-US" dirty="0"/>
              <a:t>Now change the customer. The tools wrap your billing system. Ask what the compensating action is before you ship the tool.
</a:t>
            </a:r>
          </a:p>
          <a:p>
            <a:r>
              <a:rPr lang="en-US" dirty="0"/>
              <a:t>
</a:t>
            </a:r>
          </a:p>
          <a:p>
            <a:r>
              <a:rPr lang="en-US" dirty="0"/>
              <a:t>CUT IF RUNNING LONG
</a:t>
            </a:r>
          </a:p>
          <a:p>
            <a:r>
              <a:rPr lang="en-US" dirty="0"/>
              <a:t>The two A2A sentences ("And if your agents ever cross ... you do not need it."). Saves about 10 seconds. A2A is then mentioned nowhere else, which Appendix B of the outline permits.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Verify this action
</a:t>
            </a:r>
          </a:p>
          <a:p>
            <a:r>
              <a:rPr lang="en-US" dirty="0"/>
              <a:t>Time 1:45, about 260 words. Cues: [BUILD] is a click; [POINT] is where to gesture.
</a:t>
            </a:r>
          </a:p>
          <a:p>
            <a:r>
              <a:rPr lang="en-US" dirty="0"/>
              <a:t>
</a:t>
            </a:r>
          </a:p>
          <a:p>
            <a:r>
              <a:rPr lang="en-US" dirty="0"/>
              <a:t>Fourth area, the harness, in two halves. First half: that same action, gated, before it takes effect. [POINT: card] Two questions beginners blur. Verification decides whether this action, now, is acceptable. Evaluation, two slides from now, estimates how often the system succeeds across many runs. Different failure costs. Fail verification and you merged a broken build. Fail evaluation and you shipped a bad release.
</a:t>
            </a:r>
          </a:p>
          <a:p>
            <a:r>
              <a:rPr lang="en-US" dirty="0"/>
              <a:t>
</a:t>
            </a:r>
          </a:p>
          <a:p>
            <a:r>
              <a:rPr lang="en-US" dirty="0"/>
              <a:t>Verification is the third step of the loop. Gather context, take action, verify work, repeat. [BUILD] Verifiers, in order of trust. Deterministic checks and tests. External evidence and the end state of the world. Approval gates. And model judges, last, as evidence rather than proof.
</a:t>
            </a:r>
          </a:p>
          <a:p>
            <a:r>
              <a:rPr lang="en-US" dirty="0"/>
              <a:t>
</a:t>
            </a:r>
          </a:p>
          <a:p>
            <a:r>
              <a:rPr lang="en-US" dirty="0"/>
              <a:t>Jason Wei's principle: "Some tasks are much easier to verify than to solve." So design your tasks and your tools so that checking is cheap.
</a:t>
            </a:r>
          </a:p>
          <a:p>
            <a:r>
              <a:rPr lang="en-US" dirty="0"/>
              <a:t>
</a:t>
            </a:r>
          </a:p>
          <a:p>
            <a:r>
              <a:rPr lang="en-US" dirty="0"/>
              <a:t>Your coding agent runs the tests before it says done, and the harness runs them, not the model. Anthropic found that long-running agents "declare the job done" after seeing prior progress. The fix was not a better prompt. It was a per-feature pass-fail file the harness keeps, and separating the agent doing the work from the agent judging it. Cognition's review agent finds about two bugs per pull request because it does not share the author's context.
</a:t>
            </a:r>
          </a:p>
          <a:p>
            <a:r>
              <a:rPr lang="en-US" dirty="0"/>
              <a:t>
</a:t>
            </a:r>
          </a:p>
          <a:p>
            <a:r>
              <a:rPr lang="en-US" dirty="0"/>
              <a:t>The model proposes. The verifier disposes. The harness runs the tests; the model does not get to say done. In code, not in a prompt. Three times now. The harness is next.
</a:t>
            </a:r>
          </a:p>
          <a:p>
            <a:r>
              <a:rPr lang="en-US" dirty="0"/>
              <a:t>
</a:t>
            </a:r>
          </a:p>
          <a:p>
            <a:r>
              <a:rPr lang="en-US" dirty="0"/>
              <a:t>Change the customer and there is no test suite. The verifier is then the end state of the world: the order in the database, the ticket's status.
</a:t>
            </a:r>
          </a:p>
          <a:p>
            <a:r>
              <a:rPr lang="en-US" dirty="0"/>
              <a:t>
</a:t>
            </a:r>
          </a:p>
          <a:p>
            <a:r>
              <a:rPr lang="en-US" dirty="0"/>
              <a:t>That guards one action. A run is many actions over days, and that is the other half.
</a:t>
            </a:r>
          </a:p>
          <a:p>
            <a:r>
              <a:rPr lang="en-US" dirty="0"/>
              <a:t>
</a:t>
            </a:r>
          </a:p>
          <a:p>
            <a:r>
              <a:rPr lang="en-US" dirty="0"/>
              <a:t>CUT IF RUNNING LONG
</a:t>
            </a:r>
          </a:p>
          <a:p>
            <a:r>
              <a:rPr lang="en-US" dirty="0"/>
              <a:t>Compress the Anthropic paragraph to its last two sentences ("It was a per-feature pass-fail file ... does not share the author's context."). Saves about 12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The harness: one run
</a:t>
            </a:r>
          </a:p>
          <a:p>
            <a:r>
              <a:rPr lang="en-US" dirty="0"/>
              <a:t>Time 3:00, about 450 words. Cues: [BUILD] is a click; [POINT] is where to gesture.
</a:t>
            </a:r>
          </a:p>
          <a:p>
            <a:r>
              <a:rPr lang="en-US" dirty="0"/>
              <a:t>
</a:t>
            </a:r>
          </a:p>
          <a:p>
            <a:r>
              <a:rPr lang="en-US" dirty="0"/>
              <a:t>Your coding agent is halfway through a task with four features in it, and the context window fills. [POINT: flow] Here is one run. Feature one, tests pass. Feature two, tests pass. [BUILD] Then the session ends, and the next one arrives with no memory. Anthropic's phrase: "engineers working in shifts, where each new engineer arrives with no memory." Does it redo feature one? Does it open a second pull request? Nothing on the last four slides answers that.
</a:t>
            </a:r>
          </a:p>
          <a:p>
            <a:r>
              <a:rPr lang="en-US" dirty="0"/>
              <a:t>
</a:t>
            </a:r>
          </a:p>
          <a:p>
            <a:r>
              <a:rPr lang="en-US" dirty="0"/>
              <a:t>This is the harness's job: one run. Three times I have said in code, not in a prompt. The re-read rule before an edit. The permission system that decides the tier. The tests before done. Here is where that code lives: the program that runs the loop. The loop is the idea. The harness is the code. [BUILD] And here it is as code. [POINT: code] Ten lines. Read the comments: one run, what this call sees, one call, that action gated, one action. The section you have been sitting through is a while loop.
</a:t>
            </a:r>
          </a:p>
          <a:p>
            <a:r>
              <a:rPr lang="en-US" dirty="0"/>
              <a:t>
</a:t>
            </a:r>
          </a:p>
          <a:p>
            <a:r>
              <a:rPr lang="en-US" dirty="0"/>
              <a:t>Control flow first. [POINT: gauge] A deterministic outer loop in code. Model-directed inner steps. And hard budgets: steps, tokens, money, and wall-clock time. You have watched one of them: the context-remaining indicator. A step budget is what stops a run looping on the same failing test.
</a:t>
            </a:r>
          </a:p>
          <a:p>
            <a:r>
              <a:rPr lang="en-US" dirty="0"/>
              <a:t>
</a:t>
            </a:r>
          </a:p>
          <a:p>
            <a:r>
              <a:rPr lang="en-US" dirty="0"/>
              <a:t>Now the thing that separates a demo loop from a production agent: durable state. [POINT: progress file] Journal every side effect before it runs, and resume from the log. The progress file is that journal; the next session reads it and starts at feature three. Make steps idempotent, so a retry cannot open a second pull request. Pair consequential steps with compensating actions; that is what git revert is for. And model a human wait as a durable wait with a timeout that escalates. The pull request waits on CI and on a reviewer, and that can take days. If nobody answers, it lands in a human queue with the agent's reasoning attached. Anthropic's managed agents split a stateless harness from a durable session log for exactly this reason: any instance can wake a session and rebuild it from the log.
</a:t>
            </a:r>
          </a:p>
          <a:p>
            <a:r>
              <a:rPr lang="en-US" dirty="0"/>
              <a:t>
</a:t>
            </a:r>
          </a:p>
          <a:p>
            <a:r>
              <a:rPr lang="en-US" dirty="0"/>
              <a:t>Multi-agent, in one rule, from Cognition this spring: "writes stay single-threaded and the additional agents contribute intelligence rather than actions." Parallelize reads. Never writes. Your subagents already follow it. And know the price: Anthropic's multi-agent research system cost about fifteen times the tokens of a chat.
</a:t>
            </a:r>
          </a:p>
          <a:p>
            <a:r>
              <a:rPr lang="en-US" dirty="0"/>
              <a:t>
</a:t>
            </a:r>
          </a:p>
          <a:p>
            <a:r>
              <a:rPr lang="en-US" dirty="0"/>
              <a:t>Autonomy is set by tier, not by mood. More autonomy where actions are cheap to verify and reverse, which is why verification came first. Less where they are not.
</a:t>
            </a:r>
          </a:p>
          <a:p>
            <a:r>
              <a:rPr lang="en-US" dirty="0"/>
              <a:t>
</a:t>
            </a:r>
          </a:p>
          <a:p>
            <a:r>
              <a:rPr lang="en-US" dirty="0"/>
              <a:t>So here is the harness in the terms that matter to this room. The model is rented. The tools wrap systems your company already owns. The harness is the program you write. OpenAI's own phrase for its platform: "the reusable part is the agent loop."
</a:t>
            </a:r>
          </a:p>
          <a:p>
            <a:r>
              <a:rPr lang="en-US" dirty="0"/>
              <a:t>
</a:t>
            </a:r>
          </a:p>
          <a:p>
            <a:r>
              <a:rPr lang="en-US" dirty="0"/>
              <a:t>Change the customer, and the durable wait is a manager's approval instead of a code review, and the journal is what the auditor reads.
</a:t>
            </a:r>
          </a:p>
          <a:p>
            <a:r>
              <a:rPr lang="en-US" dirty="0"/>
              <a:t>
</a:t>
            </a:r>
          </a:p>
          <a:p>
            <a:r>
              <a:rPr lang="en-US" dirty="0"/>
              <a:t>CUT IF RUNNING LONG
</a:t>
            </a:r>
          </a:p>
          <a:p>
            <a:r>
              <a:rPr lang="en-US" dirty="0"/>
              <a:t>The two price sentences in the multi-agent paragraph ("Parallelize reads. Never writes. ... tokens of a chat."). Saves about 10 seconds. The figure returns in the Q&amp;A answer to "Should we build multi-agent?"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Evaluate across runs: the loop
</a:t>
            </a:r>
          </a:p>
          <a:p>
            <a:r>
              <a:rPr lang="en-US" dirty="0"/>
              <a:t>Time 2:15, about 340 words. Cues: [BUILD] is a click; [POINT] is where to gesture.
</a:t>
            </a:r>
          </a:p>
          <a:p>
            <a:r>
              <a:rPr lang="en-US" dirty="0"/>
              <a:t>
</a:t>
            </a:r>
          </a:p>
          <a:p>
            <a:r>
              <a:rPr lang="en-US" dirty="0"/>
              <a:t>Fifth area. Evaluation: many runs. The one every source names as the hardest new skill. The word that matters is loop. [POINT: cycle] Read a hundred real traces. One domain expert labels each one pass or fail, with a written critique. Cluster the failures into a taxonomy and count them. Write graders for the top failures: code where possible, a model judge where necessary, humans for calibration. Freeze a regression suite and gate changes on rates, not exact outputs. Ship, and sample production traffic into the same graders. Then repeat, every two to four weeks. This loop sits on the outer ring of the map, because it samples production.
</a:t>
            </a:r>
          </a:p>
          <a:p>
            <a:r>
              <a:rPr lang="en-US" dirty="0"/>
              <a:t>
</a:t>
            </a:r>
          </a:p>
          <a:p>
            <a:r>
              <a:rPr lang="en-US" dirty="0"/>
              <a:t>Husain and Shankar: "Write evaluators for errors you discover, not errors you imagine." Anthropic says start with 20 to 50 tasks from real failures. And expect to spend 60 to 80 percent of your development time here.
</a:t>
            </a:r>
          </a:p>
          <a:p>
            <a:r>
              <a:rPr lang="en-US" dirty="0"/>
              <a:t>
</a:t>
            </a:r>
          </a:p>
          <a:p>
            <a:r>
              <a:rPr lang="en-US" dirty="0"/>
              <a:t>For your coding agent, the eval set starts as 20 to 50 real tasks from the repo's own history, and the tests are the graders. Then reading traces surfaces the failure nobody imagined: runs that declare done after seeing prior progress. That becomes a taxonomy entry, a grader, and a regression case. And graders drift. Terminal-Bench had to fix 28 of its 89 tasks this year because the tasks themselves had drifted.
</a:t>
            </a:r>
          </a:p>
          <a:p>
            <a:r>
              <a:rPr lang="en-US" dirty="0"/>
              <a:t>
</a:t>
            </a:r>
          </a:p>
          <a:p>
            <a:r>
              <a:rPr lang="en-US" dirty="0"/>
              <a:t>Change the customer. NurtureBoss, from Husain's case studies: error analysis showed date handling dominated its failures, and fixing that one category moved it from 33 percent to 95. Same loop. A customer's messages instead of a repo.
</a:t>
            </a:r>
          </a:p>
          <a:p>
            <a:r>
              <a:rPr lang="en-US" dirty="0"/>
              <a:t>
</a:t>
            </a:r>
          </a:p>
          <a:p>
            <a:r>
              <a:rPr lang="en-US" dirty="0"/>
              <a:t>[BUILD] Reliability is its own dimension. pass@k says one of k attempts succeeded. pass^k says all of them did. Enterprises are judged on the second. Cost per task and latency sit on the same scorecard as correctness.
</a:t>
            </a:r>
          </a:p>
          <a:p>
            <a:r>
              <a:rPr lang="en-US" dirty="0"/>
              <a:t>
</a:t>
            </a:r>
          </a:p>
          <a:p>
            <a:r>
              <a:rPr lang="en-US" dirty="0"/>
              <a:t>Tests remain necessary; evals sit on top as a statistical layer. And your graders, judges, and fixtures are production code that drifts. Version them.
</a:t>
            </a:r>
          </a:p>
          <a:p>
            <a:r>
              <a:rPr lang="en-US" dirty="0"/>
              <a:t>
</a:t>
            </a:r>
          </a:p>
          <a:p>
            <a:r>
              <a:rPr lang="en-US" dirty="0"/>
              <a:t>[BUILD] The gap: 89 percent of teams have observability. About half run offline evals. About a third run online evals. You already know the test pyramid and CI gates. The new habit is reading raw traces by hand. The new artifact is a labeled failure taxonomy. The new metric is a rate with a confidence interval instead of a green check.
</a:t>
            </a:r>
          </a:p>
          <a:p>
            <a:r>
              <a:rPr lang="en-US" dirty="0"/>
              <a:t>
</a:t>
            </a:r>
          </a:p>
          <a:p>
            <a:r>
              <a:rPr lang="en-US" dirty="0"/>
              <a:t>CUT IF RUNNING LONG
</a:t>
            </a:r>
          </a:p>
          <a:p>
            <a:r>
              <a:rPr lang="en-US" dirty="0"/>
              <a:t>Drop the Terminal-Bench sentence. Saves about 8 seconds. The grader-drift point stands on "production code that drifts."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Observe and operate
</a:t>
            </a:r>
          </a:p>
          <a:p>
            <a:r>
              <a:rPr lang="en-US" dirty="0"/>
              <a:t>Time 1:00, about 150 words. Cues: [BUILD] is a click; [POINT] is where to gesture.
</a:t>
            </a:r>
          </a:p>
          <a:p>
            <a:r>
              <a:rPr lang="en-US" dirty="0"/>
              <a:t>
</a:t>
            </a:r>
          </a:p>
          <a:p>
            <a:r>
              <a:rPr lang="en-US" dirty="0"/>
              <a:t>Sixth area, operations: production, in two halves. First, observe. The trace is the shared unit of evals and operations. Every session of your coding agent is one trace, and the record your graders read is the record your on-call engineer reads. So record all of it: the full context, every model call, every tool call and its result, state transitions and the stopping reason, the end state, tokens, cost, latency, the model version, the prompt version, and user feedback.
</a:t>
            </a:r>
          </a:p>
          <a:p>
            <a:r>
              <a:rPr lang="en-US" dirty="0"/>
              <a:t>
</a:t>
            </a:r>
          </a:p>
          <a:p>
            <a:r>
              <a:rPr lang="en-US" dirty="0"/>
              <a:t>OpenTelemetry has GenAI semantic conventions for agents and tools. As of July they are still marked development status. Instrument now anyway, and expect renames.
</a:t>
            </a:r>
          </a:p>
          <a:p>
            <a:r>
              <a:rPr lang="en-US" dirty="0"/>
              <a:t>
</a:t>
            </a:r>
          </a:p>
          <a:p>
            <a:r>
              <a:rPr lang="en-US" dirty="0"/>
              <a:t>And operate the behavior, not just the availability. A model swap that raises the rate of runs that say done without passing the tests is an incident. Page someone. Change the customer: Cursor's support bot, as widely reported, invented a login policy last year and triggered cancellations. No exception was raised.
</a:t>
            </a:r>
          </a:p>
          <a:p>
            <a:r>
              <a:rPr lang="en-US" dirty="0"/>
              <a:t>
</a:t>
            </a:r>
          </a:p>
          <a:p>
            <a:r>
              <a:rPr lang="en-US" dirty="0"/>
              <a:t>CUT IF RUNNING LONG
</a:t>
            </a:r>
          </a:p>
          <a:p>
            <a:r>
              <a:rPr lang="en-US" dirty="0"/>
              <a:t>Nothing. This is one minute and it carries the observability promise from the session description.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Secure and govern
</a:t>
            </a:r>
          </a:p>
          <a:p>
            <a:r>
              <a:rPr lang="en-US" dirty="0"/>
              <a:t>Time 2:00, about 300 words. Cues: [BUILD] is a click; [POINT] is where to gesture.
</a:t>
            </a:r>
          </a:p>
          <a:p>
            <a:r>
              <a:rPr lang="en-US" dirty="0"/>
              <a:t>
</a:t>
            </a:r>
          </a:p>
          <a:p>
            <a:r>
              <a:rPr lang="en-US" dirty="0"/>
              <a:t>Second half of operations. Secure and govern. Prompt injection is unsolved. OpenAI, in December: "unlikely to ever be fully solved." Simon Willison's lethal trifecta. Private data: for your coding agent, the repo and your keys. Untrusted content: an issue, a README, a fetched page. A way to communicate out: push. All three, and one injected instruction is an exfiltration. So the defenses are architectural. Least privilege. Action tiers. Sandboxing. Deterministic policy outside the model.
</a:t>
            </a:r>
          </a:p>
          <a:p>
            <a:r>
              <a:rPr lang="en-US" dirty="0"/>
              <a:t>
</a:t>
            </a:r>
          </a:p>
          <a:p>
            <a:r>
              <a:rPr lang="en-US" dirty="0"/>
              <a:t>[POINT: pull request] Last July a pull request from an unknown contributor to Amazon's coding-agent extension carried the instruction "clear a system to a near-factory state." It shipped to about a million installs. The model may be fooled. [BUILD] The permission tier and the egress allowlist are not.
</a:t>
            </a:r>
          </a:p>
          <a:p>
            <a:r>
              <a:rPr lang="en-US" dirty="0"/>
              <a:t>
</a:t>
            </a:r>
          </a:p>
          <a:p>
            <a:r>
              <a:rPr lang="en-US" dirty="0"/>
              <a:t>[BUILD] Identity. Google's phrase: an agent is "a new principal class distinct from users and service accounts." Your coding agent pushes with your token. Give it its own identity, down-scoped, on a short-lived token, never a shared key. In one vendor survey, nearly half of organizations still share API keys between agents.
</a:t>
            </a:r>
          </a:p>
          <a:p>
            <a:r>
              <a:rPr lang="en-US" dirty="0"/>
              <a:t>
</a:t>
            </a:r>
          </a:p>
          <a:p>
            <a:r>
              <a:rPr lang="en-US" dirty="0"/>
              <a:t>Supply chain: skills and tool servers are code you execute. Hundreds of malicious skills on one marketplace this winter. A credential stealer on PyPI for forty minutes in March.
</a:t>
            </a:r>
          </a:p>
          <a:p>
            <a:r>
              <a:rPr lang="en-US" dirty="0"/>
              <a:t>
</a:t>
            </a:r>
          </a:p>
          <a:p>
            <a:r>
              <a:rPr lang="en-US" dirty="0"/>
              <a:t>Interaction design: disclose that a human is talking to an agent; the EU requires it as of August. And approval gates must carry the action, the reasoning, and the impact, because human-in-the-loop bypass was the most consistently exploited failure mode in Microsoft's red teaming.
</a:t>
            </a:r>
          </a:p>
          <a:p>
            <a:r>
              <a:rPr lang="en-US" dirty="0"/>
              <a:t>
</a:t>
            </a:r>
          </a:p>
          <a:p>
            <a:r>
              <a:rPr lang="en-US" dirty="0"/>
              <a:t>Governance in one breath: an audit trail that ties every outcome to the person who asked, the approver, the agent, the model version, and the policy version. Every action is attributable and reversible.
</a:t>
            </a:r>
          </a:p>
          <a:p>
            <a:r>
              <a:rPr lang="en-US" dirty="0"/>
              <a:t>
</a:t>
            </a:r>
          </a:p>
          <a:p>
            <a:r>
              <a:rPr lang="en-US" dirty="0"/>
              <a:t>Now change the customer. EchoLeak: one crafted email, and Microsoft's office copilot exfiltrated data with no click. ForcedLeak: one web form, and Salesforce's agent exfiltrated through an expired domain bought for five dollars. The untrusted content is now a customer's email. Now imagine it holding your customers' data.
</a:t>
            </a:r>
          </a:p>
          <a:p>
            <a:r>
              <a:rPr lang="en-US" dirty="0"/>
              <a:t>
</a:t>
            </a:r>
          </a:p>
          <a:p>
            <a:r>
              <a:rPr lang="en-US" dirty="0"/>
              <a:t>CUT IF RUNNING LONG
</a:t>
            </a:r>
          </a:p>
          <a:p>
            <a:r>
              <a:rPr lang="en-US" dirty="0"/>
              <a:t>The governance paragraph, except "Every action is attributable and reversible." Saves about 8 seconds. This is the outline's third cut candidate; the EU high-risk date lives in the Q&amp;A.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The map, filled
</a:t>
            </a:r>
          </a:p>
          <a:p>
            <a:r>
              <a:rPr lang="en-US" dirty="0"/>
              <a:t>Time 0:30, about 75 words. Cues: [BUILD] is a click; [POINT] is where to gesture.
</a:t>
            </a:r>
          </a:p>
          <a:p>
            <a:r>
              <a:rPr lang="en-US" dirty="0"/>
              <a:t>
</a:t>
            </a:r>
          </a:p>
          <a:p>
            <a:r>
              <a:rPr lang="en-US" dirty="0"/>
              <a:t>Here is the map again, filled in. [POINT: each in turn] The model: select, measure, replace. Context: context engineering and retrieval. Tools and action tiers: tools, extensibility, and your first guardrail. Verify, the last step inside the loop. The harness around it: orchestration, cost, and latency. On the outer ring: evaluate across runs, then observe, secure, govern. One call. What it sees. One action. That action gated. One run. Many runs. Production. Every responsibility in the session description is on this diagram. That is the discipline. Now, how do you get there from here?
</a:t>
            </a:r>
          </a:p>
          <a:p>
            <a:r>
              <a:rPr lang="en-US" dirty="0"/>
              <a:t>
</a:t>
            </a:r>
          </a:p>
          <a:p>
            <a:r>
              <a:rPr lang="en-US" dirty="0"/>
              <a:t>CUT IF RUNNING LONG
</a:t>
            </a:r>
          </a:p>
          <a:p>
            <a:r>
              <a:rPr lang="en-US" dirty="0"/>
              <a:t>Nothing. Thirty seconds, and it is the section's payoff.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What carries over
</a:t>
            </a:r>
          </a:p>
          <a:p>
            <a:r>
              <a:rPr lang="en-US" dirty="0"/>
              <a:t>Time 0:45, about 110 words. Cues: [BUILD] is a click; [POINT] is where to gesture.
</a:t>
            </a:r>
          </a:p>
          <a:p>
            <a:r>
              <a:rPr lang="en-US" dirty="0"/>
              <a:t>
</a:t>
            </a:r>
          </a:p>
          <a:p>
            <a:r>
              <a:rPr lang="en-US" dirty="0"/>
              <a:t>Now the transition, and I will say this explicitly so the beginners in the room can relax. Nearly everything carries over. Systems design. API and integration work. Testing discipline. Observability. Security. Product sense. And domain knowledge, which matters more than most people expect, because you cannot judge the output without it.
</a:t>
            </a:r>
          </a:p>
          <a:p>
            <a:r>
              <a:rPr lang="en-US" dirty="0"/>
              <a:t>
</a:t>
            </a:r>
          </a:p>
          <a:p>
            <a:r>
              <a:rPr lang="en-US" dirty="0"/>
              <a:t>Chip Huyen: "AI engineering is just software engineering with AI models thrown in the stack." One practitioner's estimate puts the AI-specific part of the job at about 20 percent. The foundation is real, and this room already has it.
</a:t>
            </a:r>
          </a:p>
          <a:p>
            <a:r>
              <a:rPr lang="en-US" dirty="0"/>
              <a:t>
</a:t>
            </a:r>
          </a:p>
          <a:p>
            <a:r>
              <a:rPr lang="en-US" dirty="0"/>
              <a:t>CUT IF RUNNING LONG
</a:t>
            </a:r>
          </a:p>
          <a:p>
            <a:r>
              <a:rPr lang="en-US" dirty="0"/>
              <a:t>The whole slide folds into the top of slide 16 as one sentence: "Nearly everything carries over; here is what to add." Saves about 40 seconds. This is the outline's first cut.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What to add, by area
</a:t>
            </a:r>
          </a:p>
          <a:p>
            <a:r>
              <a:rPr lang="en-US" dirty="0"/>
              <a:t>Time 1:15, about 190 words. Cues: [BUILD] is a click; [POINT] is where to gesture.
</a:t>
            </a:r>
          </a:p>
          <a:p>
            <a:r>
              <a:rPr lang="en-US" dirty="0"/>
              <a:t>
</a:t>
            </a:r>
          </a:p>
          <a:p>
            <a:r>
              <a:rPr lang="en-US" dirty="0"/>
              <a:t>What to add. Six things, one per area of the map, so you can see where each one lives.
</a:t>
            </a:r>
          </a:p>
          <a:p>
            <a:r>
              <a:rPr lang="en-US" dirty="0"/>
              <a:t>
</a:t>
            </a:r>
          </a:p>
          <a:p>
            <a:r>
              <a:rPr lang="en-US" dirty="0"/>
              <a:t>Model intuition: how these models fail, what to ask them for, when to swap them. You get that from shipping and reading traces, not from a math course.
</a:t>
            </a:r>
          </a:p>
          <a:p>
            <a:r>
              <a:rPr lang="en-US" dirty="0"/>
              <a:t>
</a:t>
            </a:r>
          </a:p>
          <a:p>
            <a:r>
              <a:rPr lang="en-US" dirty="0"/>
              <a:t>Context engineering: the token budget, retrieval, provenance, memory.
</a:t>
            </a:r>
          </a:p>
          <a:p>
            <a:r>
              <a:rPr lang="en-US" dirty="0"/>
              <a:t>
</a:t>
            </a:r>
          </a:p>
          <a:p>
            <a:r>
              <a:rPr lang="en-US" dirty="0"/>
              <a:t>Tool design and action tiers: writing interfaces for a caller that reasons.
</a:t>
            </a:r>
          </a:p>
          <a:p>
            <a:r>
              <a:rPr lang="en-US" dirty="0"/>
              <a:t>
</a:t>
            </a:r>
          </a:p>
          <a:p>
            <a:r>
              <a:rPr lang="en-US" dirty="0"/>
              <a:t>Harness and loop control: verifying each action, durable state, and the workflow-versus-agent judgment.
</a:t>
            </a:r>
          </a:p>
          <a:p>
            <a:r>
              <a:rPr lang="en-US" dirty="0"/>
              <a:t>
</a:t>
            </a:r>
          </a:p>
          <a:p>
            <a:r>
              <a:rPr lang="en-US" dirty="0"/>
              <a:t>[BUILD] Error analysis and evals. Every source names this the hardest. So make it the priority. If you learn one thing from this list first, learn this one. Ross McNairn, who built a legal AI team from scratch: "Getting comfortable with evaluations and iterating on non-deterministic outputs is the biggest challenge most devs have."
</a:t>
            </a:r>
          </a:p>
          <a:p>
            <a:r>
              <a:rPr lang="en-US" dirty="0"/>
              <a:t>
</a:t>
            </a:r>
          </a:p>
          <a:p>
            <a:r>
              <a:rPr lang="en-US" dirty="0"/>
              <a:t>And security and operations for probabilistic systems: injection, identity, tracing.
</a:t>
            </a:r>
          </a:p>
          <a:p>
            <a:r>
              <a:rPr lang="en-US" dirty="0"/>
              <a:t>
</a:t>
            </a:r>
          </a:p>
          <a:p>
            <a:r>
              <a:rPr lang="en-US" dirty="0"/>
              <a:t>Notice that none of these is training a model. That is the boundary from the start of the talk, and it is where most of you will stay.
</a:t>
            </a:r>
          </a:p>
          <a:p>
            <a:r>
              <a:rPr lang="en-US" dirty="0"/>
              <a:t>
</a:t>
            </a:r>
          </a:p>
          <a:p>
            <a:r>
              <a:rPr lang="en-US" dirty="0"/>
              <a:t>CUT IF RUNNING LONG
</a:t>
            </a:r>
          </a:p>
          <a:p>
            <a:r>
              <a:rPr lang="en-US" dirty="0"/>
              <a:t>The McNairn quotation. Saves about 10 seconds. The "hardest skill" claim stands on the slide tag without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The mistakes everyone makes first
</a:t>
            </a:r>
          </a:p>
          <a:p>
            <a:r>
              <a:rPr lang="en-US" dirty="0"/>
              <a:t>Time 1:30, about 225 words. Cues: [BUILD] is a click; [POINT] is where to gesture.
</a:t>
            </a:r>
          </a:p>
          <a:p>
            <a:r>
              <a:rPr lang="en-US" dirty="0"/>
              <a:t>
</a:t>
            </a:r>
          </a:p>
          <a:p>
            <a:r>
              <a:rPr lang="en-US" dirty="0"/>
              <a:t>The mistakes everyone makes first. I will go fast, because each one is a line, and you have already seen the antidote somewhere in this talk.
</a:t>
            </a:r>
          </a:p>
          <a:p>
            <a:r>
              <a:rPr lang="en-US" dirty="0"/>
              <a:t>
</a:t>
            </a:r>
          </a:p>
          <a:p>
            <a:r>
              <a:rPr lang="en-US" dirty="0"/>
              <a:t>[BUILD] An agent when a workflow would do. Start with a workflow. You saw the spectrum.
</a:t>
            </a:r>
          </a:p>
          <a:p>
            <a:r>
              <a:rPr lang="en-US" dirty="0"/>
              <a:t>
</a:t>
            </a:r>
          </a:p>
          <a:p>
            <a:r>
              <a:rPr lang="en-US" dirty="0"/>
              <a:t>[BUILD] Prompt and pray. Twenty to fifty eval cases from real examples before you tune the first prompt. Evals get harder to build the longer you wait.
</a:t>
            </a:r>
          </a:p>
          <a:p>
            <a:r>
              <a:rPr lang="en-US" dirty="0"/>
              <a:t>
</a:t>
            </a:r>
          </a:p>
          <a:p>
            <a:r>
              <a:rPr lang="en-US" dirty="0"/>
              <a:t>[BUILD] Frameworks before primitives. Direct API calls first. Then a framework you can read. Own your prompts, your context, and your control flow. Dex Horthy interviewed about a hundred engineers with agents in production, and most had abandoned popular frameworks for pipelines they could read.
</a:t>
            </a:r>
          </a:p>
          <a:p>
            <a:r>
              <a:rPr lang="en-US" dirty="0"/>
              <a:t>
</a:t>
            </a:r>
          </a:p>
          <a:p>
            <a:r>
              <a:rPr lang="en-US" dirty="0"/>
              <a:t>[BUILD] Generic metrics instead of reading traces. Read a hundred.
</a:t>
            </a:r>
          </a:p>
          <a:p>
            <a:r>
              <a:rPr lang="en-US" dirty="0"/>
              <a:t>
</a:t>
            </a:r>
          </a:p>
          <a:p>
            <a:r>
              <a:rPr lang="en-US" dirty="0"/>
              <a:t>[BUILD] Shipping unread output. Horthy again: "Shipping unread code spells disaster within months." He ran that experiment himself and shut it down four months later.
</a:t>
            </a:r>
          </a:p>
          <a:p>
            <a:r>
              <a:rPr lang="en-US" dirty="0"/>
              <a:t>
</a:t>
            </a:r>
          </a:p>
          <a:p>
            <a:r>
              <a:rPr lang="en-US" dirty="0"/>
              <a:t>[BUILD] Treating the demo as done. works.any() is not works.all().
</a:t>
            </a:r>
          </a:p>
          <a:p>
            <a:r>
              <a:rPr lang="en-US" dirty="0"/>
              <a:t>
</a:t>
            </a:r>
          </a:p>
          <a:p>
            <a:r>
              <a:rPr lang="en-US" dirty="0"/>
              <a:t>[BUILD] Ignoring cost and latency until the invoice arrives. Put them on the scorecard from day one, next to correctness.
</a:t>
            </a:r>
          </a:p>
          <a:p>
            <a:r>
              <a:rPr lang="en-US" dirty="0"/>
              <a:t>
</a:t>
            </a:r>
          </a:p>
          <a:p>
            <a:r>
              <a:rPr lang="en-US" dirty="0"/>
              <a:t>Every one of these is a line on the map. That is what the map is for.
</a:t>
            </a:r>
          </a:p>
          <a:p>
            <a:r>
              <a:rPr lang="en-US" dirty="0"/>
              <a:t>
</a:t>
            </a:r>
          </a:p>
          <a:p>
            <a:r>
              <a:rPr lang="en-US" dirty="0"/>
              <a:t>CUT IF RUNNING LONG
</a:t>
            </a:r>
          </a:p>
          <a:p>
            <a:r>
              <a:rPr lang="en-US" dirty="0"/>
              <a:t>The Horthy interview sentence in the frameworks row ("Dex Horthy interviewed ... pipelines they could read."). Saves about 10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Build first, and where to learn
</a:t>
            </a:r>
          </a:p>
          <a:p>
            <a:r>
              <a:rPr lang="en-US" dirty="0"/>
              <a:t>Time 1:30, about 225 words. Cues: [BUILD] is a click; [POINT] is where to gesture.
</a:t>
            </a:r>
          </a:p>
          <a:p>
            <a:r>
              <a:rPr lang="en-US" dirty="0"/>
              <a:t>
</a:t>
            </a:r>
          </a:p>
          <a:p>
            <a:r>
              <a:rPr lang="en-US" dirty="0"/>
              <a:t>Build first. One narrow, real agent for a task you already understand. A read-only agent over a repo you own: a pull-request reviewer, or an issue-triage agent. Retrieval, a recommendation, a human who decides. That is the third stop on the spectrum, and Cognition's review agent is proof it earns its keep. Single agent before multi-agent. Twenty to fifty eval cases from real examples before you tune the first prompt. Direct API calls before a framework. A trace viewer from day one. Then add autonomy one tier at a time, and let the evals tell you when. First-person accounts put this at months, not years, when the first project is small and real.
</a:t>
            </a:r>
          </a:p>
          <a:p>
            <a:r>
              <a:rPr lang="en-US" dirty="0"/>
              <a:t>
</a:t>
            </a:r>
          </a:p>
          <a:p>
            <a:r>
              <a:rPr lang="en-US" dirty="0"/>
              <a:t>Where to learn, chosen because practitioners recommend them rather than because they are marketed. Chip Huyen's book, AI Engineering. Anthropic's three guides: Building Effective Agents, Effective Context Engineering, and Demystifying Evals. OpenAI's Practical Guide to Building Agents. Dex Horthy's 12-Factor Agents. Hamel Husain and Shreya Shankar's evals course, and their book, due next month. Free courses from Google and Kaggle, Hugging Face, Anthropic Academy, and OpenAI Academy. And Latent Space and The Pragmatic Engineer to stay current. The list is on the slide. Photograph it.
</a:t>
            </a:r>
          </a:p>
          <a:p>
            <a:r>
              <a:rPr lang="en-US" dirty="0"/>
              <a:t>
</a:t>
            </a:r>
          </a:p>
          <a:p>
            <a:r>
              <a:rPr lang="en-US" dirty="0"/>
              <a:t>One line on the market. AI engineer is LinkedIn's fastest-growing US role for the second year running. The pay premium outside the frontier labs is modest. And the postings want evidence of shipped production LLM work. Which is what the first project is for.
</a:t>
            </a:r>
          </a:p>
          <a:p>
            <a:r>
              <a:rPr lang="en-US" dirty="0"/>
              <a:t>
</a:t>
            </a:r>
          </a:p>
          <a:p>
            <a:r>
              <a:rPr lang="en-US" dirty="0"/>
              <a:t>CUT IF RUNNING LONG
</a:t>
            </a:r>
          </a:p>
          <a:p>
            <a:r>
              <a:rPr lang="en-US" dirty="0"/>
              <a:t>The market paragraph. Saves about 15 seconds. Its facts return in the Q&amp;A answer to "Is the market saturated?"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The same machine
</a:t>
            </a:r>
          </a:p>
          <a:p>
            <a:r>
              <a:rPr lang="en-US" dirty="0"/>
              <a:t>Time 1:00, about 150 words. Cues: [BUILD] is a click; [POINT] is where to gesture.
</a:t>
            </a:r>
          </a:p>
          <a:p>
            <a:r>
              <a:rPr lang="en-US" dirty="0"/>
              <a:t>
</a:t>
            </a:r>
          </a:p>
          <a:p>
            <a:r>
              <a:rPr lang="en-US" dirty="0"/>
              <a:t>Here is the map one last time. [POINT: map] A model in a loop, inside a harness, inside operations. Six areas. Every one of them is something you touched from the user side of a coding agent, and saw from the inside today: the model picker, the instructions file, the permission prompt, the sandbox, the tests it runs before it says done, the progress file, the subagent, the deprecation email.
</a:t>
            </a:r>
          </a:p>
          <a:p>
            <a:r>
              <a:rPr lang="en-US" dirty="0"/>
              <a:t>
</a:t>
            </a:r>
          </a:p>
          <a:p>
            <a:r>
              <a:rPr lang="en-US" dirty="0"/>
              <a:t>So the thesis, once more. Using AI makes you an AI-enabled software engineer. Engineering systems whose behavior depends on AI makes you an AI engineer.
</a:t>
            </a:r>
          </a:p>
          <a:p>
            <a:r>
              <a:rPr lang="en-US" dirty="0"/>
              <a:t>
</a:t>
            </a:r>
          </a:p>
          <a:p>
            <a:r>
              <a:rPr lang="en-US" dirty="0"/>
              <a:t>[BUILD] The coding agent you used this morning is this machine. Someone engineered every part of it. Go build one where the customer is on the other end.
</a:t>
            </a:r>
          </a:p>
          <a:p>
            <a:r>
              <a:rPr lang="en-US" dirty="0"/>
              <a:t>
</a:t>
            </a:r>
          </a:p>
          <a:p>
            <a:r>
              <a:rPr lang="en-US" dirty="0"/>
              <a:t>[BUILD] Thank you. We have about twenty minutes. Questions.
</a:t>
            </a:r>
          </a:p>
          <a:p>
            <a:r>
              <a:rPr lang="en-US" dirty="0"/>
              <a:t>
</a:t>
            </a:r>
          </a:p>
          <a:p>
            <a:r>
              <a:rPr lang="en-US" dirty="0"/>
              <a:t>CUT IF RUNNING LONG
</a:t>
            </a:r>
          </a:p>
          <a:p>
            <a:r>
              <a:rPr lang="en-US" dirty="0"/>
              <a:t>Nothing. The close is already short; the air is deliberate.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a:t>
            </a:r>
            <a:endParaRPr lang="en-US" sz="1400" dirty="0"/>
          </a:p>
        </p:txBody>
      </p:sp>
      <p:sp>
        <p:nvSpPr>
          <p:cNvPr id="5" name="Shape 2"/>
          <p:cNvSpPr/>
          <p:nvPr/>
        </p:nvSpPr>
        <p:spPr>
          <a:xfrm>
            <a:off x="9966960" y="-1554480"/>
            <a:ext cx="3474720" cy="3474720"/>
          </a:xfrm>
          <a:prstGeom prst="ellipse">
            <a:avLst/>
          </a:prstGeom>
          <a:ln w="279400">
            <a:solidFill>
              <a:srgbClr val="F948BE"/>
            </a:solidFill>
            <a:prstDash val="solid"/>
          </a:ln>
        </p:spPr>
      </p:sp>
      <p:sp>
        <p:nvSpPr>
          <p:cNvPr id="6" name="Text 3"/>
          <p:cNvSpPr txBox="1"/>
          <p:nvPr/>
        </p:nvSpPr>
        <p:spPr>
          <a:xfrm>
            <a:off x="1097280" y="1965960"/>
            <a:ext cx="9966960" cy="2926080"/>
          </a:xfrm>
          <a:prstGeom prst="rect">
            <a:avLst/>
          </a:prstGeom>
          <a:noFill/>
          <a:ln/>
        </p:spPr>
        <p:txBody>
          <a:bodyPr wrap="square" lIns="0" tIns="0" rIns="0" bIns="0" rtlCol="0" anchor="ctr"/>
          <a:lstStyle/>
          <a:p>
            <a:pPr algn="ctr" indent="0" marL="0">
              <a:lnSpc>
                <a:spcPct val="110000"/>
              </a:lnSpc>
              <a:buNone/>
            </a:pPr>
            <a:r>
              <a:rPr lang="en-US" sz="6400" b="1" spc="-200" kern="0" dirty="0">
                <a:solidFill>
                  <a:srgbClr val="FFFCF5"/>
                </a:solidFill>
                <a:latin typeface="Helvetica Neue" pitchFamily="34" charset="0"/>
                <a:ea typeface="Helvetica Neue" pitchFamily="34" charset="-122"/>
                <a:cs typeface="Helvetica Neue" pitchFamily="34" charset="-120"/>
              </a:rPr>
              <a:t>You shipped code this week that you did not read.</a:t>
            </a:r>
            <a:endParaRPr lang="en-US" sz="6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a:t>
            </a:r>
            <a:endParaRPr lang="en-US" sz="1400" dirty="0"/>
          </a:p>
        </p:txBody>
      </p:sp>
      <p:sp>
        <p:nvSpPr>
          <p:cNvPr id="5" name="Shape 2"/>
          <p:cNvSpPr/>
          <p:nvPr/>
        </p:nvSpPr>
        <p:spPr>
          <a:xfrm>
            <a:off x="9966960" y="-1554480"/>
            <a:ext cx="3474720" cy="3474720"/>
          </a:xfrm>
          <a:prstGeom prst="ellipse">
            <a:avLst/>
          </a:prstGeom>
          <a:ln w="279400">
            <a:solidFill>
              <a:srgbClr val="F948BE"/>
            </a:solidFill>
            <a:prstDash val="solid"/>
          </a:ln>
        </p:spPr>
      </p:sp>
      <p:sp>
        <p:nvSpPr>
          <p:cNvPr id="6" name="Text 3"/>
          <p:cNvSpPr txBox="1"/>
          <p:nvPr/>
        </p:nvSpPr>
        <p:spPr>
          <a:xfrm>
            <a:off x="731520" y="457200"/>
            <a:ext cx="8778240"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You shipped code this week that you did not read.</a:t>
            </a:r>
            <a:endParaRPr lang="en-US" sz="3600" dirty="0"/>
          </a:p>
        </p:txBody>
      </p:sp>
      <p:sp>
        <p:nvSpPr>
          <p:cNvPr id="7" name="Text 4"/>
          <p:cNvSpPr txBox="1"/>
          <p:nvPr/>
        </p:nvSpPr>
        <p:spPr>
          <a:xfrm>
            <a:off x="731520" y="2514600"/>
            <a:ext cx="10728655" cy="457200"/>
          </a:xfrm>
          <a:prstGeom prst="rect">
            <a:avLst/>
          </a:prstGeom>
          <a:noFill/>
          <a:ln/>
        </p:spPr>
        <p:txBody>
          <a:bodyPr wrap="square" lIns="0" tIns="0" rIns="0" bIns="0" rtlCol="0" anchor="t"/>
          <a:lstStyle/>
          <a:p>
            <a:pPr algn="l" indent="0" marL="0">
              <a:lnSpc>
                <a:spcPct val="120000"/>
              </a:lnSpc>
              <a:buNone/>
            </a:pPr>
            <a:r>
              <a:rPr lang="en-US" sz="2400" dirty="0">
                <a:solidFill>
                  <a:srgbClr val="FFFCF5"/>
                </a:solidFill>
                <a:latin typeface="Helvetica Neue" pitchFamily="34" charset="0"/>
                <a:ea typeface="Helvetica Neue" pitchFamily="34" charset="-122"/>
                <a:cs typeface="Helvetica Neue" pitchFamily="34" charset="-120"/>
              </a:rPr>
              <a:t>Using AI makes you an </a:t>
            </a:r>
            <a:r>
              <a:rPr lang="en-US" sz="2400" b="1" dirty="0">
                <a:solidFill>
                  <a:srgbClr val="F948BE"/>
                </a:solidFill>
                <a:latin typeface="Helvetica Neue" pitchFamily="34" charset="0"/>
                <a:ea typeface="Helvetica Neue" pitchFamily="34" charset="-122"/>
                <a:cs typeface="Helvetica Neue" pitchFamily="34" charset="-120"/>
              </a:rPr>
              <a:t>AI-enabled software engineer</a:t>
            </a:r>
            <a:r>
              <a:rPr lang="en-US" sz="2400" dirty="0">
                <a:solidFill>
                  <a:srgbClr val="FFFCF5"/>
                </a:solidFill>
                <a:latin typeface="Helvetica Neue" pitchFamily="34" charset="0"/>
                <a:ea typeface="Helvetica Neue" pitchFamily="34" charset="-122"/>
                <a:cs typeface="Helvetica Neue" pitchFamily="34" charset="-120"/>
              </a:rPr>
              <a:t>.</a:t>
            </a:r>
            <a:endParaRPr lang="en-US" sz="2400" dirty="0"/>
          </a:p>
        </p:txBody>
      </p:sp>
      <p:sp>
        <p:nvSpPr>
          <p:cNvPr id="8" name="Text 5"/>
          <p:cNvSpPr txBox="1"/>
          <p:nvPr/>
        </p:nvSpPr>
        <p:spPr>
          <a:xfrm>
            <a:off x="731520" y="3108960"/>
            <a:ext cx="9601200" cy="822960"/>
          </a:xfrm>
          <a:prstGeom prst="rect">
            <a:avLst/>
          </a:prstGeom>
          <a:noFill/>
          <a:ln/>
        </p:spPr>
        <p:txBody>
          <a:bodyPr wrap="square" lIns="0" tIns="0" rIns="0" bIns="0" rtlCol="0" anchor="t"/>
          <a:lstStyle/>
          <a:p>
            <a:pPr algn="l" indent="0" marL="0">
              <a:lnSpc>
                <a:spcPct val="120000"/>
              </a:lnSpc>
              <a:buNone/>
            </a:pPr>
            <a:r>
              <a:rPr lang="en-US" sz="2400" dirty="0">
                <a:solidFill>
                  <a:srgbClr val="FFFCF5"/>
                </a:solidFill>
                <a:latin typeface="Helvetica Neue" pitchFamily="34" charset="0"/>
                <a:ea typeface="Helvetica Neue" pitchFamily="34" charset="-122"/>
                <a:cs typeface="Helvetica Neue" pitchFamily="34" charset="-120"/>
              </a:rPr>
              <a:t>Engineering systems whose behavior depends on AI makes you an </a:t>
            </a:r>
            <a:r>
              <a:rPr lang="en-US" sz="2400" b="1" dirty="0">
                <a:solidFill>
                  <a:srgbClr val="F948BE"/>
                </a:solidFill>
                <a:latin typeface="Helvetica Neue" pitchFamily="34" charset="0"/>
                <a:ea typeface="Helvetica Neue" pitchFamily="34" charset="-122"/>
                <a:cs typeface="Helvetica Neue" pitchFamily="34" charset="-120"/>
              </a:rPr>
              <a:t>AI engineer</a:t>
            </a:r>
            <a:r>
              <a:rPr lang="en-US" sz="2400" dirty="0">
                <a:solidFill>
                  <a:srgbClr val="FFFCF5"/>
                </a:solidFill>
                <a:latin typeface="Helvetica Neue" pitchFamily="34" charset="0"/>
                <a:ea typeface="Helvetica Neue" pitchFamily="34" charset="-122"/>
                <a:cs typeface="Helvetica Neue" pitchFamily="34" charset="-120"/>
              </a:rPr>
              <a: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2</a:t>
            </a:r>
            <a:endParaRPr lang="en-US" sz="1400" dirty="0"/>
          </a:p>
        </p:txBody>
      </p:sp>
      <p:sp>
        <p:nvSpPr>
          <p:cNvPr id="5" name="Text 2"/>
          <p:cNvSpPr txBox="1"/>
          <p:nvPr/>
        </p:nvSpPr>
        <p:spPr>
          <a:xfrm>
            <a:off x="731520" y="457200"/>
            <a:ext cx="10728655" cy="685800"/>
          </a:xfrm>
          <a:prstGeom prst="rect">
            <a:avLst/>
          </a:prstGeom>
          <a:noFill/>
          <a:ln/>
        </p:spPr>
        <p:txBody>
          <a:bodyPr wrap="square" lIns="0" tIns="0" rIns="0" bIns="0" rtlCol="0" anchor="t"/>
          <a:lstStyle/>
          <a:p>
            <a:pPr algn="l" indent="0" marL="0">
              <a:lnSpc>
                <a:spcPct val="110000"/>
              </a:lnSpc>
              <a:buNone/>
            </a:pPr>
            <a:r>
              <a:rPr lang="en-US" sz="4000" b="1" spc="-100" kern="0" dirty="0">
                <a:solidFill>
                  <a:srgbClr val="FFFCF5"/>
                </a:solidFill>
                <a:latin typeface="Helvetica Neue" pitchFamily="34" charset="0"/>
                <a:ea typeface="Helvetica Neue" pitchFamily="34" charset="-122"/>
                <a:cs typeface="Helvetica Neue" pitchFamily="34" charset="-120"/>
              </a:rPr>
              <a:t>Same tools, different deliverable.</a:t>
            </a:r>
            <a:endParaRPr lang="en-US" sz="4000" dirty="0"/>
          </a:p>
        </p:txBody>
      </p:sp>
      <p:sp>
        <p:nvSpPr>
          <p:cNvPr id="6" name="Shape 3"/>
          <p:cNvSpPr/>
          <p:nvPr/>
        </p:nvSpPr>
        <p:spPr>
          <a:xfrm>
            <a:off x="731520" y="1691640"/>
            <a:ext cx="3200400" cy="2286000"/>
          </a:xfrm>
          <a:prstGeom prst="roundRect">
            <a:avLst>
              <a:gd name="adj" fmla="val 2400"/>
            </a:avLst>
          </a:prstGeom>
          <a:solidFill>
            <a:srgbClr val="1C1F27"/>
          </a:solidFill>
          <a:ln w="12700">
            <a:solidFill>
              <a:srgbClr val="303236"/>
            </a:solidFill>
            <a:prstDash val="solid"/>
          </a:ln>
        </p:spPr>
      </p:sp>
      <p:sp>
        <p:nvSpPr>
          <p:cNvPr id="7" name="Text 4"/>
          <p:cNvSpPr txBox="1"/>
          <p:nvPr/>
        </p:nvSpPr>
        <p:spPr>
          <a:xfrm>
            <a:off x="1005840" y="1965960"/>
            <a:ext cx="2651760" cy="1097280"/>
          </a:xfrm>
          <a:prstGeom prst="rect">
            <a:avLst/>
          </a:prstGeom>
          <a:noFill/>
          <a:ln/>
        </p:spPr>
        <p:txBody>
          <a:bodyPr wrap="square" lIns="0" tIns="0" rIns="0" bIns="0" rtlCol="0" anchor="t"/>
          <a:lstStyle/>
          <a:p>
            <a:pPr algn="l" indent="0" marL="0">
              <a:lnSpc>
                <a:spcPct val="115000"/>
              </a:lnSpc>
              <a:buNone/>
            </a:pPr>
            <a:r>
              <a:rPr lang="en-US" sz="2000" b="1" dirty="0">
                <a:solidFill>
                  <a:srgbClr val="FFFCF5"/>
                </a:solidFill>
                <a:latin typeface="Helvetica Neue" pitchFamily="34" charset="0"/>
                <a:ea typeface="Helvetica Neue" pitchFamily="34" charset="-122"/>
                <a:cs typeface="Helvetica Neue" pitchFamily="34" charset="-120"/>
              </a:rPr>
              <a:t>Software engineers enhanced by AI</a:t>
            </a:r>
            <a:endParaRPr lang="en-US" sz="2000" dirty="0"/>
          </a:p>
        </p:txBody>
      </p:sp>
      <p:sp>
        <p:nvSpPr>
          <p:cNvPr id="8" name="Text 5"/>
          <p:cNvSpPr txBox="1"/>
          <p:nvPr/>
        </p:nvSpPr>
        <p:spPr>
          <a:xfrm>
            <a:off x="1005840" y="3154680"/>
            <a:ext cx="2651760" cy="640080"/>
          </a:xfrm>
          <a:prstGeom prst="rect">
            <a:avLst/>
          </a:prstGeom>
          <a:noFill/>
          <a:ln/>
        </p:spPr>
        <p:txBody>
          <a:bodyPr wrap="square" lIns="0" tIns="0" rIns="0" bIns="0" rtlCol="0" anchor="t"/>
          <a:lstStyle/>
          <a:p>
            <a:pPr algn="l" indent="0" marL="0">
              <a:lnSpc>
                <a:spcPct val="125000"/>
              </a:lnSpc>
              <a:buNone/>
            </a:pPr>
            <a:r>
              <a:rPr lang="en-US" sz="1800" dirty="0">
                <a:solidFill>
                  <a:srgbClr val="A1A09E"/>
                </a:solidFill>
                <a:latin typeface="Helvetica Neue" pitchFamily="34" charset="0"/>
                <a:ea typeface="Helvetica Neue" pitchFamily="34" charset="-122"/>
                <a:cs typeface="Helvetica Neue" pitchFamily="34" charset="-120"/>
              </a:rPr>
              <a:t>Same coding agent. Ships software.</a:t>
            </a:r>
            <a:endParaRPr lang="en-US" sz="1800" dirty="0"/>
          </a:p>
        </p:txBody>
      </p:sp>
      <p:sp>
        <p:nvSpPr>
          <p:cNvPr id="9" name="Shape 6"/>
          <p:cNvSpPr/>
          <p:nvPr/>
        </p:nvSpPr>
        <p:spPr>
          <a:xfrm>
            <a:off x="4572000" y="1691640"/>
            <a:ext cx="3200400" cy="2286000"/>
          </a:xfrm>
          <a:prstGeom prst="roundRect">
            <a:avLst>
              <a:gd name="adj" fmla="val 2400"/>
            </a:avLst>
          </a:prstGeom>
          <a:solidFill>
            <a:srgbClr val="1C1F27"/>
          </a:solidFill>
          <a:ln w="12700">
            <a:solidFill>
              <a:srgbClr val="303236"/>
            </a:solidFill>
            <a:prstDash val="solid"/>
          </a:ln>
        </p:spPr>
      </p:sp>
      <p:sp>
        <p:nvSpPr>
          <p:cNvPr id="10" name="Text 7"/>
          <p:cNvSpPr txBox="1"/>
          <p:nvPr/>
        </p:nvSpPr>
        <p:spPr>
          <a:xfrm>
            <a:off x="4846320" y="1965960"/>
            <a:ext cx="2651760" cy="1097280"/>
          </a:xfrm>
          <a:prstGeom prst="rect">
            <a:avLst/>
          </a:prstGeom>
          <a:noFill/>
          <a:ln/>
        </p:spPr>
        <p:txBody>
          <a:bodyPr wrap="square" lIns="0" tIns="0" rIns="0" bIns="0" rtlCol="0" anchor="t"/>
          <a:lstStyle/>
          <a:p>
            <a:pPr algn="l" indent="0" marL="0">
              <a:lnSpc>
                <a:spcPct val="115000"/>
              </a:lnSpc>
              <a:buNone/>
            </a:pPr>
            <a:r>
              <a:rPr lang="en-US" sz="2000" b="1" dirty="0">
                <a:solidFill>
                  <a:srgbClr val="FFFCF5"/>
                </a:solidFill>
                <a:latin typeface="Helvetica Neue" pitchFamily="34" charset="0"/>
                <a:ea typeface="Helvetica Neue" pitchFamily="34" charset="-122"/>
                <a:cs typeface="Helvetica Neue" pitchFamily="34" charset="-120"/>
              </a:rPr>
              <a:t>Software engineers building AI products</a:t>
            </a:r>
            <a:endParaRPr lang="en-US" sz="2000" dirty="0"/>
          </a:p>
        </p:txBody>
      </p:sp>
      <p:sp>
        <p:nvSpPr>
          <p:cNvPr id="11" name="Text 8"/>
          <p:cNvSpPr txBox="1"/>
          <p:nvPr/>
        </p:nvSpPr>
        <p:spPr>
          <a:xfrm>
            <a:off x="4846320" y="3154680"/>
            <a:ext cx="2651760" cy="640080"/>
          </a:xfrm>
          <a:prstGeom prst="rect">
            <a:avLst/>
          </a:prstGeom>
          <a:noFill/>
          <a:ln/>
        </p:spPr>
        <p:txBody>
          <a:bodyPr wrap="square" lIns="0" tIns="0" rIns="0" bIns="0" rtlCol="0" anchor="t"/>
          <a:lstStyle/>
          <a:p>
            <a:pPr algn="l" indent="0" marL="0">
              <a:lnSpc>
                <a:spcPct val="125000"/>
              </a:lnSpc>
              <a:buNone/>
            </a:pPr>
            <a:r>
              <a:rPr lang="en-US" sz="1800" dirty="0">
                <a:solidFill>
                  <a:srgbClr val="A1A09E"/>
                </a:solidFill>
                <a:latin typeface="Helvetica Neue" pitchFamily="34" charset="0"/>
                <a:ea typeface="Helvetica Neue" pitchFamily="34" charset="-122"/>
                <a:cs typeface="Helvetica Neue" pitchFamily="34" charset="-120"/>
              </a:rPr>
              <a:t>Ships a system that calls a model at runtime.</a:t>
            </a:r>
            <a:endParaRPr lang="en-US" sz="1800" dirty="0"/>
          </a:p>
        </p:txBody>
      </p:sp>
      <p:sp>
        <p:nvSpPr>
          <p:cNvPr id="12" name="Shape 9"/>
          <p:cNvSpPr/>
          <p:nvPr/>
        </p:nvSpPr>
        <p:spPr>
          <a:xfrm>
            <a:off x="8092440" y="1691640"/>
            <a:ext cx="3200400" cy="2286000"/>
          </a:xfrm>
          <a:prstGeom prst="roundRect">
            <a:avLst>
              <a:gd name="adj" fmla="val 2400"/>
            </a:avLst>
          </a:prstGeom>
          <a:solidFill>
            <a:srgbClr val="1C1F27"/>
          </a:solidFill>
          <a:ln w="12700">
            <a:solidFill>
              <a:srgbClr val="727273"/>
            </a:solidFill>
            <a:prstDash val="solid"/>
          </a:ln>
        </p:spPr>
      </p:sp>
      <p:sp>
        <p:nvSpPr>
          <p:cNvPr id="13" name="Text 10"/>
          <p:cNvSpPr txBox="1"/>
          <p:nvPr/>
        </p:nvSpPr>
        <p:spPr>
          <a:xfrm>
            <a:off x="8366760" y="1965960"/>
            <a:ext cx="2651760" cy="1097280"/>
          </a:xfrm>
          <a:prstGeom prst="rect">
            <a:avLst/>
          </a:prstGeom>
          <a:noFill/>
          <a:ln/>
        </p:spPr>
        <p:txBody>
          <a:bodyPr wrap="square" lIns="0" tIns="0" rIns="0" bIns="0" rtlCol="0" anchor="t"/>
          <a:lstStyle/>
          <a:p>
            <a:pPr algn="l" indent="0" marL="0">
              <a:lnSpc>
                <a:spcPct val="115000"/>
              </a:lnSpc>
              <a:buNone/>
            </a:pPr>
            <a:r>
              <a:rPr lang="en-US" sz="2000" b="1" dirty="0">
                <a:solidFill>
                  <a:srgbClr val="727273"/>
                </a:solidFill>
                <a:latin typeface="Helvetica Neue" pitchFamily="34" charset="0"/>
                <a:ea typeface="Helvetica Neue" pitchFamily="34" charset="-122"/>
                <a:cs typeface="Helvetica Neue" pitchFamily="34" charset="-120"/>
              </a:rPr>
              <a:t>Non-human software engineers</a:t>
            </a:r>
            <a:endParaRPr lang="en-US" sz="2000" dirty="0"/>
          </a:p>
        </p:txBody>
      </p:sp>
      <p:sp>
        <p:nvSpPr>
          <p:cNvPr id="14" name="Text 11"/>
          <p:cNvSpPr txBox="1"/>
          <p:nvPr/>
        </p:nvSpPr>
        <p:spPr>
          <a:xfrm>
            <a:off x="8366760" y="3154680"/>
            <a:ext cx="2651760" cy="640080"/>
          </a:xfrm>
          <a:prstGeom prst="rect">
            <a:avLst/>
          </a:prstGeom>
          <a:noFill/>
          <a:ln/>
        </p:spPr>
        <p:txBody>
          <a:bodyPr wrap="square" lIns="0" tIns="0" rIns="0" bIns="0" rtlCol="0" anchor="t"/>
          <a:lstStyle/>
          <a:p>
            <a:pPr algn="l" indent="0" marL="0">
              <a:lnSpc>
                <a:spcPct val="125000"/>
              </a:lnSpc>
              <a:buNone/>
            </a:pPr>
            <a:r>
              <a:rPr lang="en-US" sz="1800" dirty="0">
                <a:solidFill>
                  <a:srgbClr val="727273"/>
                </a:solidFill>
                <a:latin typeface="Helvetica Neue" pitchFamily="34" charset="0"/>
                <a:ea typeface="Helvetica Neue" pitchFamily="34" charset="-122"/>
                <a:cs typeface="Helvetica Neue" pitchFamily="34" charset="-120"/>
              </a:rPr>
              <a:t>The agents themselves.</a:t>
            </a:r>
            <a:endParaRPr lang="en-US" sz="1800" dirty="0"/>
          </a:p>
        </p:txBody>
      </p:sp>
      <p:sp>
        <p:nvSpPr>
          <p:cNvPr id="15" name="Shape 12"/>
          <p:cNvSpPr/>
          <p:nvPr/>
        </p:nvSpPr>
        <p:spPr>
          <a:xfrm>
            <a:off x="4023360" y="2606040"/>
            <a:ext cx="457200" cy="0"/>
          </a:xfrm>
          <a:prstGeom prst="line">
            <a:avLst/>
          </a:prstGeom>
          <a:noFill/>
          <a:ln w="38100">
            <a:solidFill>
              <a:srgbClr val="F948BE"/>
            </a:solidFill>
            <a:prstDash val="solid"/>
            <a:tailEnd type="triangle"/>
          </a:ln>
        </p:spPr>
      </p:sp>
      <p:sp>
        <p:nvSpPr>
          <p:cNvPr id="16" name="Text 13"/>
          <p:cNvSpPr txBox="1"/>
          <p:nvPr/>
        </p:nvSpPr>
        <p:spPr>
          <a:xfrm>
            <a:off x="3794760" y="2697480"/>
            <a:ext cx="914400" cy="274320"/>
          </a:xfrm>
          <a:prstGeom prst="rect">
            <a:avLst/>
          </a:prstGeom>
          <a:noFill/>
          <a:ln/>
        </p:spPr>
        <p:txBody>
          <a:bodyPr wrap="square" lIns="0" tIns="0" rIns="0" bIns="0" rtlCol="0" anchor="t"/>
          <a:lstStyle/>
          <a:p>
            <a:pPr algn="ctr" indent="0" marL="0">
              <a:lnSpc>
                <a:spcPct val="120000"/>
              </a:lnSpc>
              <a:buNone/>
            </a:pPr>
            <a:r>
              <a:rPr lang="en-US" sz="1600" b="1" dirty="0">
                <a:solidFill>
                  <a:srgbClr val="F948BE"/>
                </a:solidFill>
                <a:latin typeface="Helvetica Neue" pitchFamily="34" charset="0"/>
                <a:ea typeface="Helvetica Neue" pitchFamily="34" charset="-122"/>
                <a:cs typeface="Helvetica Neue" pitchFamily="34" charset="-120"/>
              </a:rPr>
              <a:t>this talk</a:t>
            </a:r>
            <a:endParaRPr lang="en-US" sz="1600" dirty="0"/>
          </a:p>
        </p:txBody>
      </p:sp>
      <p:sp>
        <p:nvSpPr>
          <p:cNvPr id="17" name="Text 14"/>
          <p:cNvSpPr txBox="1"/>
          <p:nvPr/>
        </p:nvSpPr>
        <p:spPr>
          <a:xfrm>
            <a:off x="731520" y="4114800"/>
            <a:ext cx="5486400"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swyx, 2023, restated 2025</a:t>
            </a:r>
            <a:endParaRPr lang="en-US" sz="1600" dirty="0"/>
          </a:p>
        </p:txBody>
      </p:sp>
      <p:sp>
        <p:nvSpPr>
          <p:cNvPr id="18" name="Text 15"/>
          <p:cNvSpPr txBox="1"/>
          <p:nvPr/>
        </p:nvSpPr>
        <p:spPr>
          <a:xfrm>
            <a:off x="731520" y="4846320"/>
            <a:ext cx="10728655" cy="822960"/>
          </a:xfrm>
          <a:prstGeom prst="rect">
            <a:avLst/>
          </a:prstGeom>
          <a:noFill/>
          <a:ln/>
        </p:spPr>
        <p:txBody>
          <a:bodyPr wrap="square" lIns="0" tIns="0" rIns="0" bIns="0" rtlCol="0" anchor="t"/>
          <a:lstStyle/>
          <a:p>
            <a:pPr algn="l" indent="0" marL="0">
              <a:lnSpc>
                <a:spcPct val="130000"/>
              </a:lnSpc>
              <a:buNone/>
            </a:pPr>
            <a:r>
              <a:rPr lang="en-US" sz="2400" b="1" dirty="0">
                <a:solidFill>
                  <a:srgbClr val="FFFCF5"/>
                </a:solidFill>
                <a:latin typeface="Helvetica Neue" pitchFamily="34" charset="0"/>
                <a:ea typeface="Helvetica Neue" pitchFamily="34" charset="-122"/>
                <a:cs typeface="Helvetica Neue" pitchFamily="34" charset="-120"/>
              </a:rPr>
              <a:t>The deliverable is the test. </a:t>
            </a:r>
            <a:r>
              <a:rPr lang="en-US" sz="2400" dirty="0">
                <a:solidFill>
                  <a:srgbClr val="FFFCF5"/>
                </a:solidFill>
                <a:latin typeface="Helvetica Neue" pitchFamily="34" charset="0"/>
                <a:ea typeface="Helvetica Neue" pitchFamily="34" charset="-122"/>
                <a:cs typeface="Helvetica Neue" pitchFamily="34" charset="-120"/>
              </a:rPr>
              <a:t>Does the shipped system call a model at runtime?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3</a:t>
            </a:r>
            <a:endParaRPr lang="en-US" sz="1400" dirty="0"/>
          </a:p>
        </p:txBody>
      </p:sp>
      <p:sp>
        <p:nvSpPr>
          <p:cNvPr id="5" name="Text 2"/>
          <p:cNvSpPr txBox="1"/>
          <p:nvPr/>
        </p:nvSpPr>
        <p:spPr>
          <a:xfrm>
            <a:off x="731520" y="457200"/>
            <a:ext cx="10728655" cy="640080"/>
          </a:xfrm>
          <a:prstGeom prst="rect">
            <a:avLst/>
          </a:prstGeom>
          <a:noFill/>
          <a:ln/>
        </p:spPr>
        <p:txBody>
          <a:bodyPr wrap="square" lIns="0" tIns="0" rIns="0" bIns="0" rtlCol="0" anchor="ctr"/>
          <a:lstStyle/>
          <a:p>
            <a:pPr algn="l" indent="0" marL="0">
              <a:lnSpc>
                <a:spcPct val="120000"/>
              </a:lnSpc>
              <a:buNone/>
            </a:pPr>
            <a:r>
              <a:rPr lang="en-US" sz="3000" dirty="0">
                <a:solidFill>
                  <a:srgbClr val="FFFCF5"/>
                </a:solidFill>
                <a:latin typeface="Menlo" pitchFamily="34" charset="0"/>
                <a:ea typeface="Menlo" pitchFamily="34" charset="-122"/>
                <a:cs typeface="Menlo" pitchFamily="34" charset="-120"/>
              </a:rPr>
              <a:t>Demo is works.any(). Product is works.all().</a:t>
            </a:r>
            <a:endParaRPr lang="en-US" sz="3000" dirty="0"/>
          </a:p>
        </p:txBody>
      </p:sp>
      <p:sp>
        <p:nvSpPr>
          <p:cNvPr id="6" name="Text 3"/>
          <p:cNvSpPr txBox="1"/>
          <p:nvPr/>
        </p:nvSpPr>
        <p:spPr>
          <a:xfrm>
            <a:off x="731520" y="1115568"/>
            <a:ext cx="10728655"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Andrej Karpathy, June 2025</a:t>
            </a:r>
            <a:endParaRPr lang="en-US" sz="1600" dirty="0"/>
          </a:p>
        </p:txBody>
      </p:sp>
      <p:sp>
        <p:nvSpPr>
          <p:cNvPr id="7" name="Text 4"/>
          <p:cNvSpPr txBox="1"/>
          <p:nvPr/>
        </p:nvSpPr>
        <p:spPr>
          <a:xfrm>
            <a:off x="731520" y="1645920"/>
            <a:ext cx="10728655" cy="411480"/>
          </a:xfrm>
          <a:prstGeom prst="rect">
            <a:avLst/>
          </a:prstGeom>
          <a:noFill/>
          <a:ln/>
        </p:spPr>
        <p:txBody>
          <a:bodyPr wrap="square" lIns="0" tIns="0" rIns="0" bIns="0" rtlCol="0" anchor="t"/>
          <a:lstStyle/>
          <a:p>
            <a:pPr algn="l" indent="0" marL="0">
              <a:lnSpc>
                <a:spcPct val="120000"/>
              </a:lnSpc>
              <a:buNone/>
            </a:pPr>
            <a:r>
              <a:rPr lang="en-US" sz="2000" dirty="0">
                <a:solidFill>
                  <a:srgbClr val="FFFCF5"/>
                </a:solidFill>
                <a:latin typeface="Helvetica Neue" pitchFamily="34" charset="0"/>
                <a:ea typeface="Helvetica Neue" pitchFamily="34" charset="-122"/>
                <a:cs typeface="Helvetica Neue" pitchFamily="34" charset="-120"/>
              </a:rPr>
              <a:t>Jagged. Non-deterministic. Amnesiac at every context boundary.</a:t>
            </a:r>
            <a:endParaRPr lang="en-US" sz="2000" dirty="0"/>
          </a:p>
        </p:txBody>
      </p:sp>
      <p:sp>
        <p:nvSpPr>
          <p:cNvPr id="8" name="b1:box0"/>
          <p:cNvSpPr/>
          <p:nvPr/>
        </p:nvSpPr>
        <p:spPr>
          <a:xfrm>
            <a:off x="731520" y="2377440"/>
            <a:ext cx="1737360" cy="1463040"/>
          </a:xfrm>
          <a:prstGeom prst="roundRect">
            <a:avLst>
              <a:gd name="adj" fmla="val 3750"/>
            </a:avLst>
          </a:prstGeom>
          <a:solidFill>
            <a:srgbClr val="1C1F27"/>
          </a:solidFill>
          <a:ln w="12700">
            <a:solidFill>
              <a:srgbClr val="303236"/>
            </a:solidFill>
            <a:prstDash val="solid"/>
          </a:ln>
        </p:spPr>
      </p:sp>
      <p:sp>
        <p:nvSpPr>
          <p:cNvPr id="9" name="b1:num0"/>
          <p:cNvSpPr txBox="1"/>
          <p:nvPr/>
        </p:nvSpPr>
        <p:spPr>
          <a:xfrm>
            <a:off x="731520" y="2377440"/>
            <a:ext cx="1737360" cy="1463040"/>
          </a:xfrm>
          <a:prstGeom prst="rect">
            <a:avLst/>
          </a:prstGeom>
          <a:noFill/>
          <a:ln/>
        </p:spPr>
        <p:txBody>
          <a:bodyPr wrap="square" lIns="0" tIns="0" rIns="0" bIns="0" rtlCol="0" anchor="ctr"/>
          <a:lstStyle/>
          <a:p>
            <a:pPr algn="ctr" indent="0" marL="0">
              <a:lnSpc>
                <a:spcPct val="120000"/>
              </a:lnSpc>
              <a:buNone/>
            </a:pPr>
            <a:r>
              <a:rPr lang="en-US" sz="6000" b="1" dirty="0">
                <a:solidFill>
                  <a:srgbClr val="F948BE"/>
                </a:solidFill>
                <a:latin typeface="Helvetica Neue" pitchFamily="34" charset="0"/>
                <a:ea typeface="Helvetica Neue" pitchFamily="34" charset="-122"/>
                <a:cs typeface="Helvetica Neue" pitchFamily="34" charset="-120"/>
              </a:rPr>
              <a:t>75%</a:t>
            </a:r>
            <a:endParaRPr lang="en-US" sz="6000" dirty="0"/>
          </a:p>
        </p:txBody>
      </p:sp>
      <p:sp>
        <p:nvSpPr>
          <p:cNvPr id="10" name="b2:box1"/>
          <p:cNvSpPr/>
          <p:nvPr/>
        </p:nvSpPr>
        <p:spPr>
          <a:xfrm>
            <a:off x="3017520" y="2377440"/>
            <a:ext cx="1737360" cy="1463040"/>
          </a:xfrm>
          <a:prstGeom prst="roundRect">
            <a:avLst>
              <a:gd name="adj" fmla="val 3750"/>
            </a:avLst>
          </a:prstGeom>
          <a:solidFill>
            <a:srgbClr val="1C1F27"/>
          </a:solidFill>
          <a:ln w="12700">
            <a:solidFill>
              <a:srgbClr val="303236"/>
            </a:solidFill>
            <a:prstDash val="solid"/>
          </a:ln>
        </p:spPr>
      </p:sp>
      <p:sp>
        <p:nvSpPr>
          <p:cNvPr id="11" name="b2:num1"/>
          <p:cNvSpPr txBox="1"/>
          <p:nvPr/>
        </p:nvSpPr>
        <p:spPr>
          <a:xfrm>
            <a:off x="3017520" y="2377440"/>
            <a:ext cx="1737360" cy="1463040"/>
          </a:xfrm>
          <a:prstGeom prst="rect">
            <a:avLst/>
          </a:prstGeom>
          <a:noFill/>
          <a:ln/>
        </p:spPr>
        <p:txBody>
          <a:bodyPr wrap="square" lIns="0" tIns="0" rIns="0" bIns="0" rtlCol="0" anchor="ctr"/>
          <a:lstStyle/>
          <a:p>
            <a:pPr algn="ctr" indent="0" marL="0">
              <a:lnSpc>
                <a:spcPct val="120000"/>
              </a:lnSpc>
              <a:buNone/>
            </a:pPr>
            <a:r>
              <a:rPr lang="en-US" sz="6000" b="1" dirty="0">
                <a:solidFill>
                  <a:srgbClr val="F948BE"/>
                </a:solidFill>
                <a:latin typeface="Helvetica Neue" pitchFamily="34" charset="0"/>
                <a:ea typeface="Helvetica Neue" pitchFamily="34" charset="-122"/>
                <a:cs typeface="Helvetica Neue" pitchFamily="34" charset="-120"/>
              </a:rPr>
              <a:t>75%</a:t>
            </a:r>
            <a:endParaRPr lang="en-US" sz="6000" dirty="0"/>
          </a:p>
        </p:txBody>
      </p:sp>
      <p:sp>
        <p:nvSpPr>
          <p:cNvPr id="12" name="b2:times1"/>
          <p:cNvSpPr txBox="1"/>
          <p:nvPr/>
        </p:nvSpPr>
        <p:spPr>
          <a:xfrm>
            <a:off x="2468880" y="2377440"/>
            <a:ext cx="548640" cy="1463040"/>
          </a:xfrm>
          <a:prstGeom prst="rect">
            <a:avLst/>
          </a:prstGeom>
          <a:noFill/>
          <a:ln/>
        </p:spPr>
        <p:txBody>
          <a:bodyPr wrap="square" lIns="0" tIns="0" rIns="0" bIns="0" rtlCol="0" anchor="ctr"/>
          <a:lstStyle/>
          <a:p>
            <a:pPr algn="ctr" indent="0" marL="0">
              <a:lnSpc>
                <a:spcPct val="120000"/>
              </a:lnSpc>
              <a:buNone/>
            </a:pPr>
            <a:r>
              <a:rPr lang="en-US" sz="4000" dirty="0">
                <a:solidFill>
                  <a:srgbClr val="FFFCF5"/>
                </a:solidFill>
                <a:latin typeface="Helvetica Neue" pitchFamily="34" charset="0"/>
                <a:ea typeface="Helvetica Neue" pitchFamily="34" charset="-122"/>
                <a:cs typeface="Helvetica Neue" pitchFamily="34" charset="-120"/>
              </a:rPr>
              <a:t>×</a:t>
            </a:r>
            <a:endParaRPr lang="en-US" sz="4000" dirty="0"/>
          </a:p>
        </p:txBody>
      </p:sp>
      <p:sp>
        <p:nvSpPr>
          <p:cNvPr id="13" name="b2:box2"/>
          <p:cNvSpPr/>
          <p:nvPr/>
        </p:nvSpPr>
        <p:spPr>
          <a:xfrm>
            <a:off x="5303520" y="2377440"/>
            <a:ext cx="1737360" cy="1463040"/>
          </a:xfrm>
          <a:prstGeom prst="roundRect">
            <a:avLst>
              <a:gd name="adj" fmla="val 3750"/>
            </a:avLst>
          </a:prstGeom>
          <a:solidFill>
            <a:srgbClr val="1C1F27"/>
          </a:solidFill>
          <a:ln w="12700">
            <a:solidFill>
              <a:srgbClr val="303236"/>
            </a:solidFill>
            <a:prstDash val="solid"/>
          </a:ln>
        </p:spPr>
      </p:sp>
      <p:sp>
        <p:nvSpPr>
          <p:cNvPr id="14" name="b2:num2"/>
          <p:cNvSpPr txBox="1"/>
          <p:nvPr/>
        </p:nvSpPr>
        <p:spPr>
          <a:xfrm>
            <a:off x="5303520" y="2377440"/>
            <a:ext cx="1737360" cy="1463040"/>
          </a:xfrm>
          <a:prstGeom prst="rect">
            <a:avLst/>
          </a:prstGeom>
          <a:noFill/>
          <a:ln/>
        </p:spPr>
        <p:txBody>
          <a:bodyPr wrap="square" lIns="0" tIns="0" rIns="0" bIns="0" rtlCol="0" anchor="ctr"/>
          <a:lstStyle/>
          <a:p>
            <a:pPr algn="ctr" indent="0" marL="0">
              <a:lnSpc>
                <a:spcPct val="120000"/>
              </a:lnSpc>
              <a:buNone/>
            </a:pPr>
            <a:r>
              <a:rPr lang="en-US" sz="6000" b="1" dirty="0">
                <a:solidFill>
                  <a:srgbClr val="F948BE"/>
                </a:solidFill>
                <a:latin typeface="Helvetica Neue" pitchFamily="34" charset="0"/>
                <a:ea typeface="Helvetica Neue" pitchFamily="34" charset="-122"/>
                <a:cs typeface="Helvetica Neue" pitchFamily="34" charset="-120"/>
              </a:rPr>
              <a:t>75%</a:t>
            </a:r>
            <a:endParaRPr lang="en-US" sz="6000" dirty="0"/>
          </a:p>
        </p:txBody>
      </p:sp>
      <p:sp>
        <p:nvSpPr>
          <p:cNvPr id="15" name="b2:times2"/>
          <p:cNvSpPr txBox="1"/>
          <p:nvPr/>
        </p:nvSpPr>
        <p:spPr>
          <a:xfrm>
            <a:off x="4754880" y="2377440"/>
            <a:ext cx="548640" cy="1463040"/>
          </a:xfrm>
          <a:prstGeom prst="rect">
            <a:avLst/>
          </a:prstGeom>
          <a:noFill/>
          <a:ln/>
        </p:spPr>
        <p:txBody>
          <a:bodyPr wrap="square" lIns="0" tIns="0" rIns="0" bIns="0" rtlCol="0" anchor="ctr"/>
          <a:lstStyle/>
          <a:p>
            <a:pPr algn="ctr" indent="0" marL="0">
              <a:lnSpc>
                <a:spcPct val="120000"/>
              </a:lnSpc>
              <a:buNone/>
            </a:pPr>
            <a:r>
              <a:rPr lang="en-US" sz="4000" dirty="0">
                <a:solidFill>
                  <a:srgbClr val="FFFCF5"/>
                </a:solidFill>
                <a:latin typeface="Helvetica Neue" pitchFamily="34" charset="0"/>
                <a:ea typeface="Helvetica Neue" pitchFamily="34" charset="-122"/>
                <a:cs typeface="Helvetica Neue" pitchFamily="34" charset="-120"/>
              </a:rPr>
              <a:t>×</a:t>
            </a:r>
            <a:endParaRPr lang="en-US" sz="4000" dirty="0"/>
          </a:p>
        </p:txBody>
      </p:sp>
      <p:sp>
        <p:nvSpPr>
          <p:cNvPr id="16" name="b3:eq"/>
          <p:cNvSpPr txBox="1"/>
          <p:nvPr/>
        </p:nvSpPr>
        <p:spPr>
          <a:xfrm>
            <a:off x="7086600" y="2377440"/>
            <a:ext cx="640080" cy="1463040"/>
          </a:xfrm>
          <a:prstGeom prst="rect">
            <a:avLst/>
          </a:prstGeom>
          <a:noFill/>
          <a:ln/>
        </p:spPr>
        <p:txBody>
          <a:bodyPr wrap="square" lIns="0" tIns="0" rIns="0" bIns="0" rtlCol="0" anchor="ctr"/>
          <a:lstStyle/>
          <a:p>
            <a:pPr algn="ctr" indent="0" marL="0">
              <a:lnSpc>
                <a:spcPct val="120000"/>
              </a:lnSpc>
              <a:buNone/>
            </a:pPr>
            <a:r>
              <a:rPr lang="en-US" sz="4800" dirty="0">
                <a:solidFill>
                  <a:srgbClr val="FFFCF5"/>
                </a:solidFill>
                <a:latin typeface="Helvetica Neue" pitchFamily="34" charset="0"/>
                <a:ea typeface="Helvetica Neue" pitchFamily="34" charset="-122"/>
                <a:cs typeface="Helvetica Neue" pitchFamily="34" charset="-120"/>
              </a:rPr>
              <a:t>=</a:t>
            </a:r>
            <a:endParaRPr lang="en-US" sz="4800" dirty="0"/>
          </a:p>
        </p:txBody>
      </p:sp>
      <p:sp>
        <p:nvSpPr>
          <p:cNvPr id="17" name="b3:answer"/>
          <p:cNvSpPr txBox="1"/>
          <p:nvPr/>
        </p:nvSpPr>
        <p:spPr>
          <a:xfrm>
            <a:off x="7726680" y="2194560"/>
            <a:ext cx="3749040" cy="1828800"/>
          </a:xfrm>
          <a:prstGeom prst="rect">
            <a:avLst/>
          </a:prstGeom>
          <a:noFill/>
          <a:ln/>
        </p:spPr>
        <p:txBody>
          <a:bodyPr wrap="square" lIns="0" tIns="0" rIns="0" bIns="0" rtlCol="0" anchor="ctr"/>
          <a:lstStyle/>
          <a:p>
            <a:pPr algn="l" indent="0" marL="0">
              <a:lnSpc>
                <a:spcPct val="120000"/>
              </a:lnSpc>
              <a:buNone/>
            </a:pPr>
            <a:r>
              <a:rPr lang="en-US" sz="11000" b="1" spc="-300" kern="0" dirty="0">
                <a:solidFill>
                  <a:srgbClr val="F948BE"/>
                </a:solidFill>
                <a:latin typeface="Helvetica Neue" pitchFamily="34" charset="0"/>
                <a:ea typeface="Helvetica Neue" pitchFamily="34" charset="-122"/>
                <a:cs typeface="Helvetica Neue" pitchFamily="34" charset="-120"/>
              </a:rPr>
              <a:t>42%</a:t>
            </a:r>
            <a:endParaRPr lang="en-US" sz="11000" dirty="0"/>
          </a:p>
        </p:txBody>
      </p:sp>
      <p:sp>
        <p:nvSpPr>
          <p:cNvPr id="18" name="Text 15"/>
          <p:cNvSpPr txBox="1"/>
          <p:nvPr/>
        </p:nvSpPr>
        <p:spPr>
          <a:xfrm>
            <a:off x="731520" y="3977640"/>
            <a:ext cx="5486400"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Anthropic, January 2026</a:t>
            </a:r>
            <a:endParaRPr lang="en-US" sz="1600" dirty="0"/>
          </a:p>
        </p:txBody>
      </p:sp>
      <p:sp>
        <p:nvSpPr>
          <p:cNvPr id="19" name="Text 16"/>
          <p:cNvSpPr txBox="1"/>
          <p:nvPr/>
        </p:nvSpPr>
        <p:spPr>
          <a:xfrm>
            <a:off x="731520" y="5029200"/>
            <a:ext cx="10728655" cy="457200"/>
          </a:xfrm>
          <a:prstGeom prst="rect">
            <a:avLst/>
          </a:prstGeom>
          <a:noFill/>
          <a:ln/>
        </p:spPr>
        <p:txBody>
          <a:bodyPr wrap="square" lIns="0" tIns="0" rIns="0" bIns="0" rtlCol="0" anchor="t"/>
          <a:lstStyle/>
          <a:p>
            <a:pPr algn="l" indent="0" marL="0">
              <a:lnSpc>
                <a:spcPct val="120000"/>
              </a:lnSpc>
              <a:buNone/>
            </a:pPr>
            <a:r>
              <a:rPr lang="en-US" sz="2400" i="1" dirty="0">
                <a:solidFill>
                  <a:srgbClr val="FFFCF5"/>
                </a:solidFill>
                <a:latin typeface="Helvetica Neue" pitchFamily="34" charset="0"/>
                <a:ea typeface="Helvetica Neue" pitchFamily="34" charset="-122"/>
                <a:cs typeface="Helvetica Neue" pitchFamily="34" charset="-120"/>
              </a:rPr>
              <a:t>Retaining principles, relinquishing patterns.</a:t>
            </a:r>
            <a:endParaRPr lang="en-US" sz="2400" dirty="0"/>
          </a:p>
        </p:txBody>
      </p:sp>
      <p:sp>
        <p:nvSpPr>
          <p:cNvPr id="20" name="Text 17"/>
          <p:cNvSpPr txBox="1"/>
          <p:nvPr/>
        </p:nvSpPr>
        <p:spPr>
          <a:xfrm>
            <a:off x="731520" y="5486400"/>
            <a:ext cx="10728655"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Thoughtworks Technology Radar, April 2026</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4</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400" b="1" spc="-100" kern="0" dirty="0">
                <a:solidFill>
                  <a:srgbClr val="FFFCF5"/>
                </a:solidFill>
                <a:latin typeface="Helvetica Neue" pitchFamily="34" charset="0"/>
                <a:ea typeface="Helvetica Neue" pitchFamily="34" charset="-122"/>
                <a:cs typeface="Helvetica Neue" pitchFamily="34" charset="-120"/>
              </a:rPr>
              <a:t>Start with a workflow. Add autonomy when it demonstrably improves outcomes.</a:t>
            </a:r>
            <a:endParaRPr lang="en-US" sz="3400" dirty="0"/>
          </a:p>
        </p:txBody>
      </p:sp>
      <p:sp>
        <p:nvSpPr>
          <p:cNvPr id="6" name="Text 3"/>
          <p:cNvSpPr txBox="1"/>
          <p:nvPr/>
        </p:nvSpPr>
        <p:spPr>
          <a:xfrm>
            <a:off x="731520" y="1645920"/>
            <a:ext cx="10728655" cy="365760"/>
          </a:xfrm>
          <a:prstGeom prst="rect">
            <a:avLst/>
          </a:prstGeom>
          <a:noFill/>
          <a:ln/>
        </p:spPr>
        <p:txBody>
          <a:bodyPr wrap="square" lIns="0" tIns="0" rIns="0" bIns="0" rtlCol="0" anchor="t"/>
          <a:lstStyle/>
          <a:p>
            <a:pPr algn="l" indent="0" marL="0">
              <a:lnSpc>
                <a:spcPct val="120000"/>
              </a:lnSpc>
              <a:buNone/>
            </a:pPr>
            <a:r>
              <a:rPr lang="en-US" sz="2000" b="1" dirty="0">
                <a:solidFill>
                  <a:srgbClr val="FFFCF5"/>
                </a:solidFill>
                <a:latin typeface="Helvetica Neue" pitchFamily="34" charset="0"/>
                <a:ea typeface="Helvetica Neue" pitchFamily="34" charset="-122"/>
                <a:cs typeface="Helvetica Neue" pitchFamily="34" charset="-120"/>
              </a:rPr>
              <a:t>Workflow: </a:t>
            </a:r>
            <a:r>
              <a:rPr lang="en-US" sz="2000" dirty="0">
                <a:solidFill>
                  <a:srgbClr val="FFFCF5"/>
                </a:solidFill>
                <a:latin typeface="Helvetica Neue" pitchFamily="34" charset="0"/>
                <a:ea typeface="Helvetica Neue" pitchFamily="34" charset="-122"/>
                <a:cs typeface="Helvetica Neue" pitchFamily="34" charset="-120"/>
              </a:rPr>
              <a:t>LLMs and tools orchestrated through predefined code paths.</a:t>
            </a:r>
            <a:endParaRPr lang="en-US" sz="2000" dirty="0"/>
          </a:p>
        </p:txBody>
      </p:sp>
      <p:sp>
        <p:nvSpPr>
          <p:cNvPr id="7" name="Text 4"/>
          <p:cNvSpPr txBox="1"/>
          <p:nvPr/>
        </p:nvSpPr>
        <p:spPr>
          <a:xfrm>
            <a:off x="731520" y="2011680"/>
            <a:ext cx="10728655" cy="365760"/>
          </a:xfrm>
          <a:prstGeom prst="rect">
            <a:avLst/>
          </a:prstGeom>
          <a:noFill/>
          <a:ln/>
        </p:spPr>
        <p:txBody>
          <a:bodyPr wrap="square" lIns="0" tIns="0" rIns="0" bIns="0" rtlCol="0" anchor="t"/>
          <a:lstStyle/>
          <a:p>
            <a:pPr algn="l" indent="0" marL="0">
              <a:lnSpc>
                <a:spcPct val="120000"/>
              </a:lnSpc>
              <a:buNone/>
            </a:pPr>
            <a:r>
              <a:rPr lang="en-US" sz="2000" b="1" dirty="0">
                <a:solidFill>
                  <a:srgbClr val="FFFCF5"/>
                </a:solidFill>
                <a:latin typeface="Helvetica Neue" pitchFamily="34" charset="0"/>
                <a:ea typeface="Helvetica Neue" pitchFamily="34" charset="-122"/>
                <a:cs typeface="Helvetica Neue" pitchFamily="34" charset="-120"/>
              </a:rPr>
              <a:t>Agent: </a:t>
            </a:r>
            <a:r>
              <a:rPr lang="en-US" sz="2000" dirty="0">
                <a:solidFill>
                  <a:srgbClr val="FFFCF5"/>
                </a:solidFill>
                <a:latin typeface="Helvetica Neue" pitchFamily="34" charset="0"/>
                <a:ea typeface="Helvetica Neue" pitchFamily="34" charset="-122"/>
                <a:cs typeface="Helvetica Neue" pitchFamily="34" charset="-120"/>
              </a:rPr>
              <a:t>LLMs dynamically direct their own processes and tool usage.</a:t>
            </a:r>
            <a:endParaRPr lang="en-US" sz="2000" dirty="0"/>
          </a:p>
        </p:txBody>
      </p:sp>
      <p:sp>
        <p:nvSpPr>
          <p:cNvPr id="8" name="Text 5"/>
          <p:cNvSpPr txBox="1"/>
          <p:nvPr/>
        </p:nvSpPr>
        <p:spPr>
          <a:xfrm>
            <a:off x="731520" y="2395728"/>
            <a:ext cx="10728655"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Anthropic, December 2024</a:t>
            </a:r>
            <a:endParaRPr lang="en-US" sz="1600" dirty="0"/>
          </a:p>
        </p:txBody>
      </p:sp>
      <p:sp>
        <p:nvSpPr>
          <p:cNvPr id="9" name="Shape 6"/>
          <p:cNvSpPr/>
          <p:nvPr/>
        </p:nvSpPr>
        <p:spPr>
          <a:xfrm>
            <a:off x="1645920" y="2880360"/>
            <a:ext cx="9006840" cy="0"/>
          </a:xfrm>
          <a:prstGeom prst="line">
            <a:avLst/>
          </a:prstGeom>
          <a:noFill/>
          <a:ln w="25400">
            <a:solidFill>
              <a:srgbClr val="A1A09E"/>
            </a:solidFill>
            <a:prstDash val="solid"/>
          </a:ln>
        </p:spPr>
      </p:sp>
      <p:sp>
        <p:nvSpPr>
          <p:cNvPr id="10" name="Text 7"/>
          <p:cNvSpPr txBox="1"/>
          <p:nvPr/>
        </p:nvSpPr>
        <p:spPr>
          <a:xfrm>
            <a:off x="457200" y="2743200"/>
            <a:ext cx="1097280" cy="274320"/>
          </a:xfrm>
          <a:prstGeom prst="rect">
            <a:avLst/>
          </a:prstGeom>
          <a:noFill/>
          <a:ln/>
        </p:spPr>
        <p:txBody>
          <a:bodyPr wrap="square" lIns="0" tIns="0" rIns="0" bIns="0" rtlCol="0" anchor="ctr"/>
          <a:lstStyle/>
          <a:p>
            <a:pPr algn="r"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workflow</a:t>
            </a:r>
            <a:endParaRPr lang="en-US" sz="1600" dirty="0"/>
          </a:p>
        </p:txBody>
      </p:sp>
      <p:sp>
        <p:nvSpPr>
          <p:cNvPr id="11" name="Text 8"/>
          <p:cNvSpPr txBox="1"/>
          <p:nvPr/>
        </p:nvSpPr>
        <p:spPr>
          <a:xfrm>
            <a:off x="10744200" y="2743200"/>
            <a:ext cx="73152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agent</a:t>
            </a:r>
            <a:endParaRPr lang="en-US" sz="1600" dirty="0"/>
          </a:p>
        </p:txBody>
      </p:sp>
      <p:sp>
        <p:nvSpPr>
          <p:cNvPr id="12" name="b1:stop0"/>
          <p:cNvSpPr/>
          <p:nvPr/>
        </p:nvSpPr>
        <p:spPr>
          <a:xfrm>
            <a:off x="1879092" y="2788920"/>
            <a:ext cx="182880" cy="182880"/>
          </a:xfrm>
          <a:prstGeom prst="ellipse">
            <a:avLst/>
          </a:prstGeom>
          <a:solidFill>
            <a:srgbClr val="A1A09E"/>
          </a:solidFill>
          <a:ln/>
        </p:spPr>
      </p:sp>
      <p:sp>
        <p:nvSpPr>
          <p:cNvPr id="13" name="b1:tick0"/>
          <p:cNvSpPr/>
          <p:nvPr/>
        </p:nvSpPr>
        <p:spPr>
          <a:xfrm>
            <a:off x="1970532" y="2971800"/>
            <a:ext cx="0" cy="137160"/>
          </a:xfrm>
          <a:prstGeom prst="line">
            <a:avLst/>
          </a:prstGeom>
          <a:noFill/>
          <a:ln w="12700">
            <a:solidFill>
              <a:srgbClr val="A1A09E"/>
            </a:solidFill>
            <a:prstDash val="solid"/>
          </a:ln>
        </p:spPr>
      </p:sp>
      <p:sp>
        <p:nvSpPr>
          <p:cNvPr id="14" name="b1:card0"/>
          <p:cNvSpPr/>
          <p:nvPr/>
        </p:nvSpPr>
        <p:spPr>
          <a:xfrm>
            <a:off x="731520" y="3108960"/>
            <a:ext cx="2478024" cy="3017520"/>
          </a:xfrm>
          <a:prstGeom prst="roundRect">
            <a:avLst>
              <a:gd name="adj" fmla="val 2214"/>
            </a:avLst>
          </a:prstGeom>
          <a:solidFill>
            <a:srgbClr val="1C1F27"/>
          </a:solidFill>
          <a:ln w="12700">
            <a:solidFill>
              <a:srgbClr val="303236"/>
            </a:solidFill>
            <a:prstDash val="solid"/>
          </a:ln>
        </p:spPr>
      </p:sp>
      <p:sp>
        <p:nvSpPr>
          <p:cNvPr id="15" name="b1:t0"/>
          <p:cNvSpPr txBox="1"/>
          <p:nvPr/>
        </p:nvSpPr>
        <p:spPr>
          <a:xfrm>
            <a:off x="960120" y="3291840"/>
            <a:ext cx="2020824" cy="685800"/>
          </a:xfrm>
          <a:prstGeom prst="rect">
            <a:avLst/>
          </a:prstGeom>
          <a:noFill/>
          <a:ln/>
        </p:spPr>
        <p:txBody>
          <a:bodyPr wrap="square" lIns="0" tIns="0" rIns="0" bIns="0" rtlCol="0" anchor="t"/>
          <a:lstStyle/>
          <a:p>
            <a:pPr algn="l" indent="0" marL="0">
              <a:lnSpc>
                <a:spcPct val="115000"/>
              </a:lnSpc>
              <a:buNone/>
            </a:pPr>
            <a:r>
              <a:rPr lang="en-US" sz="1800" b="1" dirty="0">
                <a:solidFill>
                  <a:srgbClr val="FFFCF5"/>
                </a:solidFill>
                <a:latin typeface="Helvetica Neue" pitchFamily="34" charset="0"/>
                <a:ea typeface="Helvetica Neue" pitchFamily="34" charset="-122"/>
                <a:cs typeface="Helvetica Neue" pitchFamily="34" charset="-120"/>
              </a:rPr>
              <a:t>One call</a:t>
            </a:r>
            <a:endParaRPr lang="en-US" sz="1800" dirty="0"/>
          </a:p>
        </p:txBody>
      </p:sp>
      <p:sp>
        <p:nvSpPr>
          <p:cNvPr id="16" name="b1:w0"/>
          <p:cNvSpPr txBox="1"/>
          <p:nvPr/>
        </p:nvSpPr>
        <p:spPr>
          <a:xfrm>
            <a:off x="960120" y="4023360"/>
            <a:ext cx="2020824" cy="13716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A completion, or one prompt that returns a snippet</a:t>
            </a:r>
            <a:endParaRPr lang="en-US" sz="1600" dirty="0"/>
          </a:p>
        </p:txBody>
      </p:sp>
      <p:sp>
        <p:nvSpPr>
          <p:cNvPr id="17" name="b1:who0"/>
          <p:cNvSpPr txBox="1"/>
          <p:nvPr/>
        </p:nvSpPr>
        <p:spPr>
          <a:xfrm>
            <a:off x="960120" y="5394960"/>
            <a:ext cx="2020824" cy="548640"/>
          </a:xfrm>
          <a:prstGeom prst="rect">
            <a:avLst/>
          </a:prstGeom>
          <a:noFill/>
          <a:ln/>
        </p:spPr>
        <p:txBody>
          <a:bodyPr wrap="square" lIns="0" tIns="0" rIns="0" bIns="0" rtlCol="0" anchor="b"/>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You paste it</a:t>
            </a:r>
            <a:endParaRPr lang="en-US" sz="1600" dirty="0"/>
          </a:p>
        </p:txBody>
      </p:sp>
      <p:sp>
        <p:nvSpPr>
          <p:cNvPr id="18" name="b4:dim0"/>
          <p:cNvSpPr/>
          <p:nvPr/>
        </p:nvSpPr>
        <p:spPr>
          <a:xfrm>
            <a:off x="713232" y="3090672"/>
            <a:ext cx="2514600" cy="3054096"/>
          </a:xfrm>
          <a:prstGeom prst="roundRect">
            <a:avLst>
              <a:gd name="adj" fmla="val 2182"/>
            </a:avLst>
          </a:prstGeom>
          <a:solidFill>
            <a:srgbClr val="14161C">
              <a:alpha val="55000"/>
            </a:srgbClr>
          </a:solidFill>
          <a:ln/>
        </p:spPr>
      </p:sp>
      <p:sp>
        <p:nvSpPr>
          <p:cNvPr id="19" name="b2:stop1"/>
          <p:cNvSpPr/>
          <p:nvPr/>
        </p:nvSpPr>
        <p:spPr>
          <a:xfrm>
            <a:off x="4631436" y="2788920"/>
            <a:ext cx="182880" cy="182880"/>
          </a:xfrm>
          <a:prstGeom prst="ellipse">
            <a:avLst/>
          </a:prstGeom>
          <a:solidFill>
            <a:srgbClr val="A1A09E"/>
          </a:solidFill>
          <a:ln/>
        </p:spPr>
      </p:sp>
      <p:sp>
        <p:nvSpPr>
          <p:cNvPr id="20" name="b2:tick1"/>
          <p:cNvSpPr/>
          <p:nvPr/>
        </p:nvSpPr>
        <p:spPr>
          <a:xfrm>
            <a:off x="4722876" y="2971800"/>
            <a:ext cx="0" cy="137160"/>
          </a:xfrm>
          <a:prstGeom prst="line">
            <a:avLst/>
          </a:prstGeom>
          <a:noFill/>
          <a:ln w="12700">
            <a:solidFill>
              <a:srgbClr val="A1A09E"/>
            </a:solidFill>
            <a:prstDash val="solid"/>
          </a:ln>
        </p:spPr>
      </p:sp>
      <p:sp>
        <p:nvSpPr>
          <p:cNvPr id="21" name="b2:card1"/>
          <p:cNvSpPr/>
          <p:nvPr/>
        </p:nvSpPr>
        <p:spPr>
          <a:xfrm>
            <a:off x="3483864" y="3108960"/>
            <a:ext cx="2478024" cy="3017520"/>
          </a:xfrm>
          <a:prstGeom prst="roundRect">
            <a:avLst>
              <a:gd name="adj" fmla="val 2214"/>
            </a:avLst>
          </a:prstGeom>
          <a:solidFill>
            <a:srgbClr val="1C1F27"/>
          </a:solidFill>
          <a:ln w="12700">
            <a:solidFill>
              <a:srgbClr val="303236"/>
            </a:solidFill>
            <a:prstDash val="solid"/>
          </a:ln>
        </p:spPr>
      </p:sp>
      <p:sp>
        <p:nvSpPr>
          <p:cNvPr id="22" name="b2:t1"/>
          <p:cNvSpPr txBox="1"/>
          <p:nvPr/>
        </p:nvSpPr>
        <p:spPr>
          <a:xfrm>
            <a:off x="3712464" y="3291840"/>
            <a:ext cx="2020824" cy="685800"/>
          </a:xfrm>
          <a:prstGeom prst="rect">
            <a:avLst/>
          </a:prstGeom>
          <a:noFill/>
          <a:ln/>
        </p:spPr>
        <p:txBody>
          <a:bodyPr wrap="square" lIns="0" tIns="0" rIns="0" bIns="0" rtlCol="0" anchor="t"/>
          <a:lstStyle/>
          <a:p>
            <a:pPr algn="l" indent="0" marL="0">
              <a:lnSpc>
                <a:spcPct val="115000"/>
              </a:lnSpc>
              <a:buNone/>
            </a:pPr>
            <a:r>
              <a:rPr lang="en-US" sz="1800" b="1" dirty="0">
                <a:solidFill>
                  <a:srgbClr val="FFFCF5"/>
                </a:solidFill>
                <a:latin typeface="Helvetica Neue" pitchFamily="34" charset="0"/>
                <a:ea typeface="Helvetica Neue" pitchFamily="34" charset="-122"/>
                <a:cs typeface="Helvetica Neue" pitchFamily="34" charset="-120"/>
              </a:rPr>
              <a:t>A workflow</a:t>
            </a:r>
            <a:endParaRPr lang="en-US" sz="1800" dirty="0"/>
          </a:p>
        </p:txBody>
      </p:sp>
      <p:sp>
        <p:nvSpPr>
          <p:cNvPr id="23" name="b2:w1"/>
          <p:cNvSpPr txBox="1"/>
          <p:nvPr/>
        </p:nvSpPr>
        <p:spPr>
          <a:xfrm>
            <a:off x="3712464" y="4023360"/>
            <a:ext cx="2020824" cy="13716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Chat over your codebase: retrieve the relevant files, answer, on a fixed path</a:t>
            </a:r>
            <a:endParaRPr lang="en-US" sz="1600" dirty="0"/>
          </a:p>
        </p:txBody>
      </p:sp>
      <p:sp>
        <p:nvSpPr>
          <p:cNvPr id="24" name="b2:who1"/>
          <p:cNvSpPr txBox="1"/>
          <p:nvPr/>
        </p:nvSpPr>
        <p:spPr>
          <a:xfrm>
            <a:off x="3712464" y="5394960"/>
            <a:ext cx="2020824" cy="548640"/>
          </a:xfrm>
          <a:prstGeom prst="rect">
            <a:avLst/>
          </a:prstGeom>
          <a:noFill/>
          <a:ln/>
        </p:spPr>
        <p:txBody>
          <a:bodyPr wrap="square" lIns="0" tIns="0" rIns="0" bIns="0" rtlCol="0" anchor="b"/>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You decide and edit</a:t>
            </a:r>
            <a:endParaRPr lang="en-US" sz="1600" dirty="0"/>
          </a:p>
        </p:txBody>
      </p:sp>
      <p:sp>
        <p:nvSpPr>
          <p:cNvPr id="25" name="b4:dim1"/>
          <p:cNvSpPr/>
          <p:nvPr/>
        </p:nvSpPr>
        <p:spPr>
          <a:xfrm>
            <a:off x="3465576" y="3090672"/>
            <a:ext cx="2514600" cy="3054096"/>
          </a:xfrm>
          <a:prstGeom prst="roundRect">
            <a:avLst>
              <a:gd name="adj" fmla="val 2182"/>
            </a:avLst>
          </a:prstGeom>
          <a:solidFill>
            <a:srgbClr val="14161C">
              <a:alpha val="55000"/>
            </a:srgbClr>
          </a:solidFill>
          <a:ln/>
        </p:spPr>
      </p:sp>
      <p:sp>
        <p:nvSpPr>
          <p:cNvPr id="26" name="b3:stop2"/>
          <p:cNvSpPr/>
          <p:nvPr/>
        </p:nvSpPr>
        <p:spPr>
          <a:xfrm>
            <a:off x="7383780" y="2788920"/>
            <a:ext cx="182880" cy="182880"/>
          </a:xfrm>
          <a:prstGeom prst="ellipse">
            <a:avLst/>
          </a:prstGeom>
          <a:solidFill>
            <a:srgbClr val="A1A09E"/>
          </a:solidFill>
          <a:ln/>
        </p:spPr>
      </p:sp>
      <p:sp>
        <p:nvSpPr>
          <p:cNvPr id="27" name="b3:tick2"/>
          <p:cNvSpPr/>
          <p:nvPr/>
        </p:nvSpPr>
        <p:spPr>
          <a:xfrm>
            <a:off x="7475220" y="2971800"/>
            <a:ext cx="0" cy="137160"/>
          </a:xfrm>
          <a:prstGeom prst="line">
            <a:avLst/>
          </a:prstGeom>
          <a:noFill/>
          <a:ln w="12700">
            <a:solidFill>
              <a:srgbClr val="A1A09E"/>
            </a:solidFill>
            <a:prstDash val="solid"/>
          </a:ln>
        </p:spPr>
      </p:sp>
      <p:sp>
        <p:nvSpPr>
          <p:cNvPr id="28" name="b3:card2"/>
          <p:cNvSpPr/>
          <p:nvPr/>
        </p:nvSpPr>
        <p:spPr>
          <a:xfrm>
            <a:off x="6236208" y="3108960"/>
            <a:ext cx="2478024" cy="3017520"/>
          </a:xfrm>
          <a:prstGeom prst="roundRect">
            <a:avLst>
              <a:gd name="adj" fmla="val 2214"/>
            </a:avLst>
          </a:prstGeom>
          <a:solidFill>
            <a:srgbClr val="1C1F27"/>
          </a:solidFill>
          <a:ln w="12700">
            <a:solidFill>
              <a:srgbClr val="303236"/>
            </a:solidFill>
            <a:prstDash val="solid"/>
          </a:ln>
        </p:spPr>
      </p:sp>
      <p:sp>
        <p:nvSpPr>
          <p:cNvPr id="29" name="b3:t2"/>
          <p:cNvSpPr txBox="1"/>
          <p:nvPr/>
        </p:nvSpPr>
        <p:spPr>
          <a:xfrm>
            <a:off x="6464808" y="3291840"/>
            <a:ext cx="2020824" cy="685800"/>
          </a:xfrm>
          <a:prstGeom prst="rect">
            <a:avLst/>
          </a:prstGeom>
          <a:noFill/>
          <a:ln/>
        </p:spPr>
        <p:txBody>
          <a:bodyPr wrap="square" lIns="0" tIns="0" rIns="0" bIns="0" rtlCol="0" anchor="t"/>
          <a:lstStyle/>
          <a:p>
            <a:pPr algn="l" indent="0" marL="0">
              <a:lnSpc>
                <a:spcPct val="115000"/>
              </a:lnSpc>
              <a:buNone/>
            </a:pPr>
            <a:r>
              <a:rPr lang="en-US" sz="1800" b="1" dirty="0">
                <a:solidFill>
                  <a:srgbClr val="FFFCF5"/>
                </a:solidFill>
                <a:latin typeface="Helvetica Neue" pitchFamily="34" charset="0"/>
                <a:ea typeface="Helvetica Neue" pitchFamily="34" charset="-122"/>
                <a:cs typeface="Helvetica Neue" pitchFamily="34" charset="-120"/>
              </a:rPr>
              <a:t>Agent, read-only tools</a:t>
            </a:r>
            <a:endParaRPr lang="en-US" sz="1800" dirty="0"/>
          </a:p>
        </p:txBody>
      </p:sp>
      <p:sp>
        <p:nvSpPr>
          <p:cNvPr id="30" name="b3:w2"/>
          <p:cNvSpPr txBox="1"/>
          <p:nvPr/>
        </p:nvSpPr>
        <p:spPr>
          <a:xfrm>
            <a:off x="6464808" y="4023360"/>
            <a:ext cx="2020824" cy="13716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Explore or plan mode: the model chooses which files to read and proposes a patch</a:t>
            </a:r>
            <a:endParaRPr lang="en-US" sz="1600" dirty="0"/>
          </a:p>
        </p:txBody>
      </p:sp>
      <p:sp>
        <p:nvSpPr>
          <p:cNvPr id="31" name="b3:who2"/>
          <p:cNvSpPr txBox="1"/>
          <p:nvPr/>
        </p:nvSpPr>
        <p:spPr>
          <a:xfrm>
            <a:off x="6464808" y="5394960"/>
            <a:ext cx="2020824" cy="548640"/>
          </a:xfrm>
          <a:prstGeom prst="rect">
            <a:avLst/>
          </a:prstGeom>
          <a:noFill/>
          <a:ln/>
        </p:spPr>
        <p:txBody>
          <a:bodyPr wrap="square" lIns="0" tIns="0" rIns="0" bIns="0" rtlCol="0" anchor="b"/>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You approve and apply</a:t>
            </a:r>
            <a:endParaRPr lang="en-US" sz="1600" dirty="0"/>
          </a:p>
        </p:txBody>
      </p:sp>
      <p:sp>
        <p:nvSpPr>
          <p:cNvPr id="32" name="b4:dim2"/>
          <p:cNvSpPr/>
          <p:nvPr/>
        </p:nvSpPr>
        <p:spPr>
          <a:xfrm>
            <a:off x="6217920" y="3090672"/>
            <a:ext cx="2514600" cy="3054096"/>
          </a:xfrm>
          <a:prstGeom prst="roundRect">
            <a:avLst>
              <a:gd name="adj" fmla="val 2182"/>
            </a:avLst>
          </a:prstGeom>
          <a:solidFill>
            <a:srgbClr val="14161C">
              <a:alpha val="55000"/>
            </a:srgbClr>
          </a:solidFill>
          <a:ln/>
        </p:spPr>
      </p:sp>
      <p:sp>
        <p:nvSpPr>
          <p:cNvPr id="33" name="b4:stop3"/>
          <p:cNvSpPr/>
          <p:nvPr/>
        </p:nvSpPr>
        <p:spPr>
          <a:xfrm>
            <a:off x="10136124" y="2788920"/>
            <a:ext cx="182880" cy="182880"/>
          </a:xfrm>
          <a:prstGeom prst="ellipse">
            <a:avLst/>
          </a:prstGeom>
          <a:solidFill>
            <a:srgbClr val="F948BE"/>
          </a:solidFill>
          <a:ln/>
        </p:spPr>
      </p:sp>
      <p:sp>
        <p:nvSpPr>
          <p:cNvPr id="34" name="b4:tick3"/>
          <p:cNvSpPr/>
          <p:nvPr/>
        </p:nvSpPr>
        <p:spPr>
          <a:xfrm>
            <a:off x="10227564" y="2971800"/>
            <a:ext cx="0" cy="137160"/>
          </a:xfrm>
          <a:prstGeom prst="line">
            <a:avLst/>
          </a:prstGeom>
          <a:noFill/>
          <a:ln w="12700">
            <a:solidFill>
              <a:srgbClr val="A1A09E"/>
            </a:solidFill>
            <a:prstDash val="solid"/>
          </a:ln>
        </p:spPr>
      </p:sp>
      <p:sp>
        <p:nvSpPr>
          <p:cNvPr id="35" name="b4:card3"/>
          <p:cNvSpPr/>
          <p:nvPr/>
        </p:nvSpPr>
        <p:spPr>
          <a:xfrm>
            <a:off x="8988552" y="3108960"/>
            <a:ext cx="2478024" cy="3017520"/>
          </a:xfrm>
          <a:prstGeom prst="roundRect">
            <a:avLst>
              <a:gd name="adj" fmla="val 2214"/>
            </a:avLst>
          </a:prstGeom>
          <a:solidFill>
            <a:srgbClr val="1C1F27"/>
          </a:solidFill>
          <a:ln w="38100">
            <a:solidFill>
              <a:srgbClr val="F948BE"/>
            </a:solidFill>
            <a:prstDash val="solid"/>
          </a:ln>
        </p:spPr>
      </p:sp>
      <p:sp>
        <p:nvSpPr>
          <p:cNvPr id="36" name="b4:t3"/>
          <p:cNvSpPr txBox="1"/>
          <p:nvPr/>
        </p:nvSpPr>
        <p:spPr>
          <a:xfrm>
            <a:off x="9217152" y="3291840"/>
            <a:ext cx="2020824" cy="685800"/>
          </a:xfrm>
          <a:prstGeom prst="rect">
            <a:avLst/>
          </a:prstGeom>
          <a:noFill/>
          <a:ln/>
        </p:spPr>
        <p:txBody>
          <a:bodyPr wrap="square" lIns="0" tIns="0" rIns="0" bIns="0" rtlCol="0" anchor="t"/>
          <a:lstStyle/>
          <a:p>
            <a:pPr algn="l" indent="0" marL="0">
              <a:lnSpc>
                <a:spcPct val="115000"/>
              </a:lnSpc>
              <a:buNone/>
            </a:pPr>
            <a:r>
              <a:rPr lang="en-US" sz="1800" b="1" dirty="0">
                <a:solidFill>
                  <a:srgbClr val="F948BE"/>
                </a:solidFill>
                <a:latin typeface="Helvetica Neue" pitchFamily="34" charset="0"/>
                <a:ea typeface="Helvetica Neue" pitchFamily="34" charset="-122"/>
                <a:cs typeface="Helvetica Neue" pitchFamily="34" charset="-120"/>
              </a:rPr>
              <a:t>Agent, tiered actions</a:t>
            </a:r>
            <a:endParaRPr lang="en-US" sz="1800" dirty="0"/>
          </a:p>
        </p:txBody>
      </p:sp>
      <p:sp>
        <p:nvSpPr>
          <p:cNvPr id="37" name="b4:w3"/>
          <p:cNvSpPr txBox="1"/>
          <p:nvPr/>
        </p:nvSpPr>
        <p:spPr>
          <a:xfrm>
            <a:off x="9217152" y="4023360"/>
            <a:ext cx="2020824" cy="13716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Edits files, runs commands behind a permission prompt, pushes when allowed</a:t>
            </a:r>
            <a:endParaRPr lang="en-US" sz="1600" dirty="0"/>
          </a:p>
        </p:txBody>
      </p:sp>
      <p:sp>
        <p:nvSpPr>
          <p:cNvPr id="38" name="b4:who3"/>
          <p:cNvSpPr txBox="1"/>
          <p:nvPr/>
        </p:nvSpPr>
        <p:spPr>
          <a:xfrm>
            <a:off x="9217152" y="5394960"/>
            <a:ext cx="2020824" cy="548640"/>
          </a:xfrm>
          <a:prstGeom prst="rect">
            <a:avLst/>
          </a:prstGeom>
          <a:noFill/>
          <a:ln/>
        </p:spPr>
        <p:txBody>
          <a:bodyPr wrap="square" lIns="0" tIns="0" rIns="0" bIns="0" rtlCol="0" anchor="b"/>
          <a:lstStyle/>
          <a:p>
            <a:pPr algn="l" indent="0" marL="0">
              <a:lnSpc>
                <a:spcPct val="120000"/>
              </a:lnSpc>
              <a:buNone/>
            </a:pPr>
            <a:r>
              <a:rPr lang="en-US" sz="1600" b="1" dirty="0">
                <a:solidFill>
                  <a:srgbClr val="F948BE"/>
                </a:solidFill>
                <a:latin typeface="Helvetica Neue" pitchFamily="34" charset="0"/>
                <a:ea typeface="Helvetica Neue" pitchFamily="34" charset="-122"/>
                <a:cs typeface="Helvetica Neue" pitchFamily="34" charset="-120"/>
              </a:rPr>
              <a:t>The agent, within tiers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18" grpId="0" animBg="1"/>
      <p:bldP spid="25" grpId="0" animBg="1"/>
      <p:bldP spid="32" grpId="0" animBg="1"/>
      <p:bldP spid="33" grpId="0" animBg="1"/>
      <p:bldP spid="34" grpId="0" animBg="1"/>
      <p:bldP spid="35" grpId="0" animBg="1"/>
      <p:bldP spid="36" grpId="0" animBg="1"/>
      <p:bldP spid="37"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5</a:t>
            </a:r>
            <a:endParaRPr lang="en-US" sz="1400" dirty="0"/>
          </a:p>
        </p:txBody>
      </p:sp>
      <p:sp>
        <p:nvSpPr>
          <p:cNvPr id="5" name="Text 2"/>
          <p:cNvSpPr txBox="1"/>
          <p:nvPr/>
        </p:nvSpPr>
        <p:spPr>
          <a:xfrm>
            <a:off x="731520" y="457200"/>
            <a:ext cx="4334256" cy="1920240"/>
          </a:xfrm>
          <a:prstGeom prst="rect">
            <a:avLst/>
          </a:prstGeom>
          <a:noFill/>
          <a:ln/>
        </p:spPr>
        <p:txBody>
          <a:bodyPr wrap="square" lIns="0" tIns="0" rIns="0" bIns="0" rtlCol="0" anchor="t"/>
          <a:lstStyle/>
          <a:p>
            <a:pPr algn="l" indent="0" marL="0">
              <a:lnSpc>
                <a:spcPct val="110000"/>
              </a:lnSpc>
              <a:buNone/>
            </a:pPr>
            <a:r>
              <a:rPr lang="en-US" sz="3000" b="1" spc="-100" kern="0" dirty="0">
                <a:solidFill>
                  <a:srgbClr val="F948BE"/>
                </a:solidFill>
                <a:latin typeface="Helvetica Neue" pitchFamily="34" charset="0"/>
                <a:ea typeface="Helvetica Neue" pitchFamily="34" charset="-122"/>
                <a:cs typeface="Helvetica Neue" pitchFamily="34" charset="-120"/>
              </a:rPr>
              <a:t>"Agent = Model + Harness. If you're not the model, you're the harness."</a:t>
            </a:r>
            <a:endParaRPr lang="en-US" sz="3000" dirty="0"/>
          </a:p>
        </p:txBody>
      </p:sp>
      <p:sp>
        <p:nvSpPr>
          <p:cNvPr id="6" name="Text 3"/>
          <p:cNvSpPr txBox="1"/>
          <p:nvPr/>
        </p:nvSpPr>
        <p:spPr>
          <a:xfrm>
            <a:off x="731520" y="2423160"/>
            <a:ext cx="4334256"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Addy Osmani, April 2026</a:t>
            </a:r>
            <a:endParaRPr lang="en-US" sz="1600" dirty="0"/>
          </a:p>
        </p:txBody>
      </p:sp>
      <p:sp>
        <p:nvSpPr>
          <p:cNvPr id="7" name="Shape 4"/>
          <p:cNvSpPr/>
          <p:nvPr/>
        </p:nvSpPr>
        <p:spPr>
          <a:xfrm>
            <a:off x="768096" y="2926080"/>
            <a:ext cx="201168" cy="201168"/>
          </a:xfrm>
          <a:prstGeom prst="ellipse">
            <a:avLst/>
          </a:prstGeom>
          <a:solidFill>
            <a:srgbClr val="FDAD00"/>
          </a:solidFill>
          <a:ln/>
        </p:spPr>
      </p:sp>
      <p:sp>
        <p:nvSpPr>
          <p:cNvPr id="8" name="Text 5"/>
          <p:cNvSpPr txBox="1"/>
          <p:nvPr/>
        </p:nvSpPr>
        <p:spPr>
          <a:xfrm>
            <a:off x="1143000" y="2880360"/>
            <a:ext cx="3931920" cy="365760"/>
          </a:xfrm>
          <a:prstGeom prst="rect">
            <a:avLst/>
          </a:prstGeom>
          <a:noFill/>
          <a:ln/>
        </p:spPr>
        <p:txBody>
          <a:bodyPr wrap="square" lIns="0" tIns="0" rIns="0" bIns="0" rtlCol="0" anchor="t"/>
          <a:lstStyle/>
          <a:p>
            <a:pPr algn="l" indent="0" marL="0">
              <a:lnSpc>
                <a:spcPct val="130000"/>
              </a:lnSpc>
              <a:buNone/>
            </a:pPr>
            <a:r>
              <a:rPr lang="en-US" sz="1800" dirty="0">
                <a:solidFill>
                  <a:srgbClr val="FFFCF5"/>
                </a:solidFill>
                <a:latin typeface="Helvetica Neue" pitchFamily="34" charset="0"/>
                <a:ea typeface="Helvetica Neue" pitchFamily="34" charset="-122"/>
                <a:cs typeface="Helvetica Neue" pitchFamily="34" charset="-120"/>
              </a:rPr>
              <a:t>The model. It answers one call.</a:t>
            </a:r>
            <a:endParaRPr lang="en-US" sz="1800" dirty="0"/>
          </a:p>
        </p:txBody>
      </p:sp>
      <p:sp>
        <p:nvSpPr>
          <p:cNvPr id="9" name="Shape 6"/>
          <p:cNvSpPr/>
          <p:nvPr/>
        </p:nvSpPr>
        <p:spPr>
          <a:xfrm>
            <a:off x="768096" y="3456432"/>
            <a:ext cx="201168" cy="201168"/>
          </a:xfrm>
          <a:prstGeom prst="ellipse">
            <a:avLst/>
          </a:prstGeom>
          <a:solidFill>
            <a:srgbClr val="1064F8"/>
          </a:solidFill>
          <a:ln/>
        </p:spPr>
      </p:sp>
      <p:sp>
        <p:nvSpPr>
          <p:cNvPr id="10" name="Text 7"/>
          <p:cNvSpPr txBox="1"/>
          <p:nvPr/>
        </p:nvSpPr>
        <p:spPr>
          <a:xfrm>
            <a:off x="1143000" y="3410712"/>
            <a:ext cx="3931920" cy="640080"/>
          </a:xfrm>
          <a:prstGeom prst="rect">
            <a:avLst/>
          </a:prstGeom>
          <a:noFill/>
          <a:ln/>
        </p:spPr>
        <p:txBody>
          <a:bodyPr wrap="square" lIns="0" tIns="0" rIns="0" bIns="0" rtlCol="0" anchor="t"/>
          <a:lstStyle/>
          <a:p>
            <a:pPr algn="l" indent="0" marL="0">
              <a:lnSpc>
                <a:spcPct val="130000"/>
              </a:lnSpc>
              <a:buNone/>
            </a:pPr>
            <a:r>
              <a:rPr lang="en-US" sz="1800" dirty="0">
                <a:solidFill>
                  <a:srgbClr val="FFFCF5"/>
                </a:solidFill>
                <a:latin typeface="Helvetica Neue" pitchFamily="34" charset="0"/>
                <a:ea typeface="Helvetica Neue" pitchFamily="34" charset="-122"/>
                <a:cs typeface="Helvetica Neue" pitchFamily="34" charset="-120"/>
              </a:rPr>
              <a:t>The loop: gather context, act through a tool, verify, repeat.</a:t>
            </a:r>
            <a:endParaRPr lang="en-US" sz="1800" dirty="0"/>
          </a:p>
        </p:txBody>
      </p:sp>
      <p:sp>
        <p:nvSpPr>
          <p:cNvPr id="11" name="b1:legend2-dot"/>
          <p:cNvSpPr/>
          <p:nvPr/>
        </p:nvSpPr>
        <p:spPr>
          <a:xfrm>
            <a:off x="768096" y="4261104"/>
            <a:ext cx="201168" cy="201168"/>
          </a:xfrm>
          <a:prstGeom prst="ellipse">
            <a:avLst/>
          </a:prstGeom>
          <a:solidFill>
            <a:srgbClr val="01B66D"/>
          </a:solidFill>
          <a:ln/>
        </p:spPr>
      </p:sp>
      <p:sp>
        <p:nvSpPr>
          <p:cNvPr id="12" name="b1:legend2"/>
          <p:cNvSpPr txBox="1"/>
          <p:nvPr/>
        </p:nvSpPr>
        <p:spPr>
          <a:xfrm>
            <a:off x="1143000" y="4215384"/>
            <a:ext cx="3931920" cy="640080"/>
          </a:xfrm>
          <a:prstGeom prst="rect">
            <a:avLst/>
          </a:prstGeom>
          <a:noFill/>
          <a:ln/>
        </p:spPr>
        <p:txBody>
          <a:bodyPr wrap="square" lIns="0" tIns="0" rIns="0" bIns="0" rtlCol="0" anchor="t"/>
          <a:lstStyle/>
          <a:p>
            <a:pPr algn="l" indent="0" marL="0">
              <a:lnSpc>
                <a:spcPct val="130000"/>
              </a:lnSpc>
              <a:buNone/>
            </a:pPr>
            <a:r>
              <a:rPr lang="en-US" sz="1800" dirty="0">
                <a:solidFill>
                  <a:srgbClr val="FFFCF5"/>
                </a:solidFill>
                <a:latin typeface="Helvetica Neue" pitchFamily="34" charset="0"/>
                <a:ea typeface="Helvetica Neue" pitchFamily="34" charset="-122"/>
                <a:cs typeface="Helvetica Neue" pitchFamily="34" charset="-120"/>
              </a:rPr>
              <a:t>The harness: state, budgets, boundaries.</a:t>
            </a:r>
            <a:endParaRPr lang="en-US" sz="1800" dirty="0"/>
          </a:p>
        </p:txBody>
      </p:sp>
      <p:sp>
        <p:nvSpPr>
          <p:cNvPr id="13" name="b2:legend3-dot"/>
          <p:cNvSpPr/>
          <p:nvPr/>
        </p:nvSpPr>
        <p:spPr>
          <a:xfrm>
            <a:off x="768096" y="5065776"/>
            <a:ext cx="201168" cy="201168"/>
          </a:xfrm>
          <a:prstGeom prst="ellipse">
            <a:avLst/>
          </a:prstGeom>
          <a:solidFill>
            <a:srgbClr val="A1A09E"/>
          </a:solidFill>
          <a:ln/>
        </p:spPr>
      </p:sp>
      <p:sp>
        <p:nvSpPr>
          <p:cNvPr id="14" name="b2:legend3"/>
          <p:cNvSpPr txBox="1"/>
          <p:nvPr/>
        </p:nvSpPr>
        <p:spPr>
          <a:xfrm>
            <a:off x="1143000" y="5020056"/>
            <a:ext cx="3931920" cy="640080"/>
          </a:xfrm>
          <a:prstGeom prst="rect">
            <a:avLst/>
          </a:prstGeom>
          <a:noFill/>
          <a:ln/>
        </p:spPr>
        <p:txBody>
          <a:bodyPr wrap="square" lIns="0" tIns="0" rIns="0" bIns="0" rtlCol="0" anchor="t"/>
          <a:lstStyle/>
          <a:p>
            <a:pPr algn="l" indent="0" marL="0">
              <a:lnSpc>
                <a:spcPct val="130000"/>
              </a:lnSpc>
              <a:buNone/>
            </a:pPr>
            <a:r>
              <a:rPr lang="en-US" sz="1800" dirty="0">
                <a:solidFill>
                  <a:srgbClr val="FFFCF5"/>
                </a:solidFill>
                <a:latin typeface="Helvetica Neue" pitchFamily="34" charset="0"/>
                <a:ea typeface="Helvetica Neue" pitchFamily="34" charset="-122"/>
                <a:cs typeface="Helvetica Neue" pitchFamily="34" charset="-120"/>
              </a:rPr>
              <a:t>Across runs and in production: evaluate, observe, secure, govern.</a:t>
            </a:r>
            <a:endParaRPr lang="en-US" sz="1800" dirty="0"/>
          </a:p>
        </p:txBody>
      </p:sp>
      <p:sp>
        <p:nvSpPr>
          <p:cNvPr id="15" name="b2:ring-ops"/>
          <p:cNvSpPr/>
          <p:nvPr/>
        </p:nvSpPr>
        <p:spPr>
          <a:xfrm>
            <a:off x="5586984" y="594360"/>
            <a:ext cx="5577840" cy="5577840"/>
          </a:xfrm>
          <a:prstGeom prst="ellipse">
            <a:avLst/>
          </a:prstGeom>
          <a:ln w="165100">
            <a:solidFill>
              <a:srgbClr val="A1A09E"/>
            </a:solidFill>
            <a:prstDash val="solid"/>
          </a:ln>
        </p:spPr>
      </p:sp>
      <p:sp>
        <p:nvSpPr>
          <p:cNvPr id="16" name="b1:ring-harness"/>
          <p:cNvSpPr/>
          <p:nvPr/>
        </p:nvSpPr>
        <p:spPr>
          <a:xfrm>
            <a:off x="6227064" y="1234440"/>
            <a:ext cx="4297680" cy="4297680"/>
          </a:xfrm>
          <a:prstGeom prst="ellipse">
            <a:avLst/>
          </a:prstGeom>
          <a:ln w="165100">
            <a:solidFill>
              <a:srgbClr val="01B66D"/>
            </a:solidFill>
            <a:prstDash val="solid"/>
          </a:ln>
        </p:spPr>
      </p:sp>
      <p:sp>
        <p:nvSpPr>
          <p:cNvPr id="17" name="ring-loop"/>
          <p:cNvSpPr/>
          <p:nvPr/>
        </p:nvSpPr>
        <p:spPr>
          <a:xfrm>
            <a:off x="7004304" y="2011680"/>
            <a:ext cx="2743200" cy="2743200"/>
          </a:xfrm>
          <a:prstGeom prst="ellipse">
            <a:avLst/>
          </a:prstGeom>
          <a:ln w="165100">
            <a:solidFill>
              <a:srgbClr val="1064F8"/>
            </a:solidFill>
            <a:prstDash val="solid"/>
          </a:ln>
        </p:spPr>
      </p:sp>
      <p:sp>
        <p:nvSpPr>
          <p:cNvPr id="18" name="disc-model"/>
          <p:cNvSpPr/>
          <p:nvPr/>
        </p:nvSpPr>
        <p:spPr>
          <a:xfrm>
            <a:off x="7644384" y="2651760"/>
            <a:ext cx="1463040" cy="1463040"/>
          </a:xfrm>
          <a:prstGeom prst="ellipse">
            <a:avLst/>
          </a:prstGeom>
          <a:solidFill>
            <a:srgbClr val="FDAD00"/>
          </a:solidFill>
          <a:ln/>
        </p:spPr>
      </p:sp>
      <p:sp>
        <p:nvSpPr>
          <p:cNvPr id="19" name="tri-0"/>
          <p:cNvSpPr/>
          <p:nvPr/>
        </p:nvSpPr>
        <p:spPr>
          <a:xfrm rot="9000000">
            <a:off x="9454016" y="2587752"/>
            <a:ext cx="219456" cy="219456"/>
          </a:xfrm>
          <a:prstGeom prst="triangle">
            <a:avLst/>
          </a:prstGeom>
          <a:solidFill>
            <a:srgbClr val="FFFCF5"/>
          </a:solidFill>
          <a:ln/>
        </p:spPr>
      </p:sp>
      <p:sp>
        <p:nvSpPr>
          <p:cNvPr id="20" name="tri-1"/>
          <p:cNvSpPr/>
          <p:nvPr/>
        </p:nvSpPr>
        <p:spPr>
          <a:xfrm rot="16200000">
            <a:off x="8266176" y="4645152"/>
            <a:ext cx="219456" cy="219456"/>
          </a:xfrm>
          <a:prstGeom prst="triangle">
            <a:avLst/>
          </a:prstGeom>
          <a:solidFill>
            <a:srgbClr val="FFFCF5"/>
          </a:solidFill>
          <a:ln/>
        </p:spPr>
      </p:sp>
      <p:sp>
        <p:nvSpPr>
          <p:cNvPr id="21" name="tri-2"/>
          <p:cNvSpPr/>
          <p:nvPr/>
        </p:nvSpPr>
        <p:spPr>
          <a:xfrm rot="1800000">
            <a:off x="7078336" y="2587752"/>
            <a:ext cx="219456" cy="219456"/>
          </a:xfrm>
          <a:prstGeom prst="triangle">
            <a:avLst/>
          </a:prstGeom>
          <a:solidFill>
            <a:srgbClr val="FFFCF5"/>
          </a:solidFill>
          <a:ln/>
        </p:spPr>
      </p:sp>
      <p:sp>
        <p:nvSpPr>
          <p:cNvPr id="22" name="Text 19"/>
          <p:cNvSpPr txBox="1"/>
          <p:nvPr/>
        </p:nvSpPr>
        <p:spPr>
          <a:xfrm>
            <a:off x="7644384" y="2651760"/>
            <a:ext cx="1463040" cy="1463040"/>
          </a:xfrm>
          <a:prstGeom prst="rect">
            <a:avLst/>
          </a:prstGeom>
          <a:noFill/>
          <a:ln/>
        </p:spPr>
        <p:txBody>
          <a:bodyPr wrap="square" lIns="0" tIns="0" rIns="0" bIns="0" rtlCol="0" anchor="ctr"/>
          <a:lstStyle/>
          <a:p>
            <a:pPr algn="ctr" indent="0" marL="0">
              <a:lnSpc>
                <a:spcPct val="110000"/>
              </a:lnSpc>
              <a:buNone/>
            </a:pPr>
            <a:r>
              <a:rPr lang="en-US" sz="2200" b="1" dirty="0">
                <a:solidFill>
                  <a:srgbClr val="14161C"/>
                </a:solidFill>
                <a:latin typeface="Helvetica Neue" pitchFamily="34" charset="0"/>
                <a:ea typeface="Helvetica Neue" pitchFamily="34" charset="-122"/>
                <a:cs typeface="Helvetica Neue" pitchFamily="34" charset="-120"/>
              </a:rPr>
              <a:t>Model</a:t>
            </a:r>
            <a:endParaRPr lang="en-US" sz="2200" dirty="0"/>
          </a:p>
        </p:txBody>
      </p:sp>
      <p:sp>
        <p:nvSpPr>
          <p:cNvPr id="23" name="step-gather"/>
          <p:cNvSpPr txBox="1"/>
          <p:nvPr/>
        </p:nvSpPr>
        <p:spPr>
          <a:xfrm>
            <a:off x="7644384" y="1819656"/>
            <a:ext cx="1463040" cy="384048"/>
          </a:xfrm>
          <a:prstGeom prst="roundRect">
            <a:avLst>
              <a:gd name="adj" fmla="val 14286"/>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Gather context</a:t>
            </a:r>
            <a:endParaRPr lang="en-US" sz="1600" dirty="0"/>
          </a:p>
        </p:txBody>
      </p:sp>
      <p:sp>
        <p:nvSpPr>
          <p:cNvPr id="24" name="step-act"/>
          <p:cNvSpPr txBox="1"/>
          <p:nvPr/>
        </p:nvSpPr>
        <p:spPr>
          <a:xfrm>
            <a:off x="9106544" y="3685032"/>
            <a:ext cx="914400" cy="768096"/>
          </a:xfrm>
          <a:prstGeom prst="roundRect">
            <a:avLst>
              <a:gd name="adj" fmla="val 7143"/>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Act</a:t>
            </a:r>
            <a:endParaRPr lang="en-US" sz="1600" dirty="0"/>
          </a:p>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through</a:t>
            </a:r>
            <a:endParaRPr lang="en-US" sz="1600" dirty="0"/>
          </a:p>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a tool</a:t>
            </a:r>
            <a:endParaRPr lang="en-US" sz="1600" dirty="0"/>
          </a:p>
        </p:txBody>
      </p:sp>
      <p:sp>
        <p:nvSpPr>
          <p:cNvPr id="25" name="step-verify"/>
          <p:cNvSpPr txBox="1"/>
          <p:nvPr/>
        </p:nvSpPr>
        <p:spPr>
          <a:xfrm>
            <a:off x="6753724" y="3877056"/>
            <a:ext cx="868680" cy="384048"/>
          </a:xfrm>
          <a:prstGeom prst="roundRect">
            <a:avLst>
              <a:gd name="adj" fmla="val 14286"/>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Verify</a:t>
            </a:r>
            <a:endParaRPr lang="en-US" sz="1600" dirty="0"/>
          </a:p>
        </p:txBody>
      </p:sp>
      <p:sp>
        <p:nvSpPr>
          <p:cNvPr id="26" name="Text 23"/>
          <p:cNvSpPr txBox="1"/>
          <p:nvPr/>
        </p:nvSpPr>
        <p:spPr>
          <a:xfrm>
            <a:off x="6443988" y="2377440"/>
            <a:ext cx="731520" cy="256032"/>
          </a:xfrm>
          <a:prstGeom prst="rect">
            <a:avLst/>
          </a:prstGeom>
          <a:noFill/>
          <a:ln/>
        </p:spPr>
        <p:txBody>
          <a:bodyPr wrap="square" lIns="0" tIns="0" rIns="0" bIns="0" rtlCol="0" anchor="ctr"/>
          <a:lstStyle/>
          <a:p>
            <a:pPr algn="ctr"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repeat</a:t>
            </a:r>
            <a:endParaRPr lang="en-US" sz="1600" dirty="0"/>
          </a:p>
        </p:txBody>
      </p:sp>
      <p:sp>
        <p:nvSpPr>
          <p:cNvPr id="27" name="b1:lab-harness"/>
          <p:cNvSpPr txBox="1"/>
          <p:nvPr/>
        </p:nvSpPr>
        <p:spPr>
          <a:xfrm>
            <a:off x="7872984" y="5340096"/>
            <a:ext cx="1005840" cy="384048"/>
          </a:xfrm>
          <a:prstGeom prst="roundRect">
            <a:avLst>
              <a:gd name="adj" fmla="val 14286"/>
            </a:avLst>
          </a:prstGeom>
          <a:solidFill>
            <a:srgbClr val="01B66D"/>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Harness</a:t>
            </a:r>
            <a:endParaRPr lang="en-US" sz="1600" dirty="0"/>
          </a:p>
        </p:txBody>
      </p:sp>
      <p:sp>
        <p:nvSpPr>
          <p:cNvPr id="28" name="b2:lab-ops-0"/>
          <p:cNvSpPr txBox="1"/>
          <p:nvPr/>
        </p:nvSpPr>
        <p:spPr>
          <a:xfrm>
            <a:off x="9822188" y="1219192"/>
            <a:ext cx="10515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Evaluate</a:t>
            </a:r>
            <a:endParaRPr lang="en-US" sz="1600" dirty="0"/>
          </a:p>
        </p:txBody>
      </p:sp>
      <p:sp>
        <p:nvSpPr>
          <p:cNvPr id="29" name="b2:lab-ops-1"/>
          <p:cNvSpPr txBox="1"/>
          <p:nvPr/>
        </p:nvSpPr>
        <p:spPr>
          <a:xfrm>
            <a:off x="9822188" y="5163320"/>
            <a:ext cx="10515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Observe</a:t>
            </a:r>
            <a:endParaRPr lang="en-US" sz="1600" dirty="0"/>
          </a:p>
        </p:txBody>
      </p:sp>
      <p:sp>
        <p:nvSpPr>
          <p:cNvPr id="30" name="b2:lab-ops-2"/>
          <p:cNvSpPr txBox="1"/>
          <p:nvPr/>
        </p:nvSpPr>
        <p:spPr>
          <a:xfrm>
            <a:off x="5878060" y="5163320"/>
            <a:ext cx="10515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Secure</a:t>
            </a:r>
            <a:endParaRPr lang="en-US" sz="1600" dirty="0"/>
          </a:p>
        </p:txBody>
      </p:sp>
      <p:sp>
        <p:nvSpPr>
          <p:cNvPr id="31" name="b2:lab-ops-3"/>
          <p:cNvSpPr txBox="1"/>
          <p:nvPr/>
        </p:nvSpPr>
        <p:spPr>
          <a:xfrm>
            <a:off x="5878060" y="1219192"/>
            <a:ext cx="10515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Govern</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P spid="27" grpId="0" animBg="1"/>
      <p:bldP spid="13" grpId="0" animBg="1"/>
      <p:bldP spid="14" grpId="0" animBg="1"/>
      <p:bldP spid="15" grpId="0" animBg="1"/>
      <p:bldP spid="28" grpId="0" animBg="1"/>
      <p:bldP spid="29" grpId="0" animBg="1"/>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6</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The model is a component you select, measure, and replace.</a:t>
            </a:r>
            <a:endParaRPr lang="en-US" sz="3600" dirty="0"/>
          </a:p>
        </p:txBody>
      </p:sp>
      <p:sp>
        <p:nvSpPr>
          <p:cNvPr id="6" name="Text 3"/>
          <p:cNvSpPr txBox="1"/>
          <p:nvPr/>
        </p:nvSpPr>
        <p:spPr>
          <a:xfrm>
            <a:off x="731520" y="1874520"/>
            <a:ext cx="1737360" cy="548640"/>
          </a:xfrm>
          <a:prstGeom prst="roundRect">
            <a:avLst>
              <a:gd name="adj" fmla="val 10000"/>
            </a:avLst>
          </a:prstGeom>
          <a:solidFill>
            <a:srgbClr val="1064F8"/>
          </a:solidFill>
          <a:ln/>
        </p:spPr>
        <p:txBody>
          <a:bodyPr wrap="square" lIns="508" tIns="508" rIns="508" bIns="508" rtlCol="0" anchor="ctr"/>
          <a:lstStyle/>
          <a:p>
            <a:pPr algn="ctr" indent="0" marL="0">
              <a:lnSpc>
                <a:spcPct val="110000"/>
              </a:lnSpc>
              <a:buNone/>
            </a:pPr>
            <a:r>
              <a:rPr lang="en-US" sz="2200" b="1" spc="200" kern="0" dirty="0">
                <a:solidFill>
                  <a:srgbClr val="FFFCF5"/>
                </a:solidFill>
                <a:latin typeface="Helvetica Neue" pitchFamily="34" charset="0"/>
                <a:ea typeface="Helvetica Neue" pitchFamily="34" charset="-122"/>
                <a:cs typeface="Helvetica Neue" pitchFamily="34" charset="-120"/>
              </a:rPr>
              <a:t>SELECT</a:t>
            </a:r>
            <a:endParaRPr lang="en-US" sz="2200" dirty="0"/>
          </a:p>
        </p:txBody>
      </p:sp>
      <p:sp>
        <p:nvSpPr>
          <p:cNvPr id="7" name="Text 4"/>
          <p:cNvSpPr txBox="1"/>
          <p:nvPr/>
        </p:nvSpPr>
        <p:spPr>
          <a:xfrm>
            <a:off x="3200400" y="1874520"/>
            <a:ext cx="1737360" cy="548640"/>
          </a:xfrm>
          <a:prstGeom prst="roundRect">
            <a:avLst>
              <a:gd name="adj" fmla="val 10000"/>
            </a:avLst>
          </a:prstGeom>
          <a:solidFill>
            <a:srgbClr val="1064F8"/>
          </a:solidFill>
          <a:ln/>
        </p:spPr>
        <p:txBody>
          <a:bodyPr wrap="square" lIns="508" tIns="508" rIns="508" bIns="508" rtlCol="0" anchor="ctr"/>
          <a:lstStyle/>
          <a:p>
            <a:pPr algn="ctr" indent="0" marL="0">
              <a:lnSpc>
                <a:spcPct val="110000"/>
              </a:lnSpc>
              <a:buNone/>
            </a:pPr>
            <a:r>
              <a:rPr lang="en-US" sz="2200" b="1" spc="200" kern="0" dirty="0">
                <a:solidFill>
                  <a:srgbClr val="FFFCF5"/>
                </a:solidFill>
                <a:latin typeface="Helvetica Neue" pitchFamily="34" charset="0"/>
                <a:ea typeface="Helvetica Neue" pitchFamily="34" charset="-122"/>
                <a:cs typeface="Helvetica Neue" pitchFamily="34" charset="-120"/>
              </a:rPr>
              <a:t>MEASURE</a:t>
            </a:r>
            <a:endParaRPr lang="en-US" sz="2200" dirty="0"/>
          </a:p>
        </p:txBody>
      </p:sp>
      <p:sp>
        <p:nvSpPr>
          <p:cNvPr id="8" name="Text 5"/>
          <p:cNvSpPr txBox="1"/>
          <p:nvPr/>
        </p:nvSpPr>
        <p:spPr>
          <a:xfrm>
            <a:off x="5669280" y="1874520"/>
            <a:ext cx="1737360" cy="548640"/>
          </a:xfrm>
          <a:prstGeom prst="roundRect">
            <a:avLst>
              <a:gd name="adj" fmla="val 10000"/>
            </a:avLst>
          </a:prstGeom>
          <a:solidFill>
            <a:srgbClr val="1064F8"/>
          </a:solidFill>
          <a:ln/>
        </p:spPr>
        <p:txBody>
          <a:bodyPr wrap="square" lIns="508" tIns="508" rIns="508" bIns="508" rtlCol="0" anchor="ctr"/>
          <a:lstStyle/>
          <a:p>
            <a:pPr algn="ctr" indent="0" marL="0">
              <a:lnSpc>
                <a:spcPct val="110000"/>
              </a:lnSpc>
              <a:buNone/>
            </a:pPr>
            <a:r>
              <a:rPr lang="en-US" sz="2200" b="1" spc="200" kern="0" dirty="0">
                <a:solidFill>
                  <a:srgbClr val="FFFCF5"/>
                </a:solidFill>
                <a:latin typeface="Helvetica Neue" pitchFamily="34" charset="0"/>
                <a:ea typeface="Helvetica Neue" pitchFamily="34" charset="-122"/>
                <a:cs typeface="Helvetica Neue" pitchFamily="34" charset="-120"/>
              </a:rPr>
              <a:t>REPLACE</a:t>
            </a:r>
            <a:endParaRPr lang="en-US" sz="2200" dirty="0"/>
          </a:p>
        </p:txBody>
      </p:sp>
      <p:sp>
        <p:nvSpPr>
          <p:cNvPr id="9" name="Shape 6"/>
          <p:cNvSpPr/>
          <p:nvPr/>
        </p:nvSpPr>
        <p:spPr>
          <a:xfrm>
            <a:off x="2542032" y="2148840"/>
            <a:ext cx="585216" cy="0"/>
          </a:xfrm>
          <a:prstGeom prst="line">
            <a:avLst/>
          </a:prstGeom>
          <a:noFill/>
          <a:ln w="25400">
            <a:solidFill>
              <a:srgbClr val="A1A09E"/>
            </a:solidFill>
            <a:prstDash val="solid"/>
            <a:tailEnd type="triangle"/>
          </a:ln>
        </p:spPr>
      </p:sp>
      <p:sp>
        <p:nvSpPr>
          <p:cNvPr id="10" name="Shape 7"/>
          <p:cNvSpPr/>
          <p:nvPr/>
        </p:nvSpPr>
        <p:spPr>
          <a:xfrm>
            <a:off x="5010912" y="2148840"/>
            <a:ext cx="585216" cy="0"/>
          </a:xfrm>
          <a:prstGeom prst="line">
            <a:avLst/>
          </a:prstGeom>
          <a:noFill/>
          <a:ln w="25400">
            <a:solidFill>
              <a:srgbClr val="A1A09E"/>
            </a:solidFill>
            <a:prstDash val="solid"/>
            <a:tailEnd type="triangle"/>
          </a:ln>
        </p:spPr>
      </p:sp>
      <p:sp>
        <p:nvSpPr>
          <p:cNvPr id="11" name="Shape 8"/>
          <p:cNvSpPr/>
          <p:nvPr/>
        </p:nvSpPr>
        <p:spPr>
          <a:xfrm>
            <a:off x="6537960" y="2496312"/>
            <a:ext cx="0" cy="795528"/>
          </a:xfrm>
          <a:prstGeom prst="line">
            <a:avLst/>
          </a:prstGeom>
          <a:noFill/>
          <a:ln w="31750">
            <a:solidFill>
              <a:srgbClr val="F948BE"/>
            </a:solidFill>
            <a:prstDash val="solid"/>
          </a:ln>
        </p:spPr>
      </p:sp>
      <p:sp>
        <p:nvSpPr>
          <p:cNvPr id="12" name="Shape 9"/>
          <p:cNvSpPr/>
          <p:nvPr/>
        </p:nvSpPr>
        <p:spPr>
          <a:xfrm flipH="1">
            <a:off x="1600200" y="3291840"/>
            <a:ext cx="4937760" cy="0"/>
          </a:xfrm>
          <a:prstGeom prst="line">
            <a:avLst/>
          </a:prstGeom>
          <a:noFill/>
          <a:ln w="31750">
            <a:solidFill>
              <a:srgbClr val="F948BE"/>
            </a:solidFill>
            <a:prstDash val="solid"/>
          </a:ln>
        </p:spPr>
      </p:sp>
      <p:sp>
        <p:nvSpPr>
          <p:cNvPr id="13" name="Shape 10"/>
          <p:cNvSpPr/>
          <p:nvPr/>
        </p:nvSpPr>
        <p:spPr>
          <a:xfrm flipV="1">
            <a:off x="1600200" y="2496312"/>
            <a:ext cx="0" cy="795528"/>
          </a:xfrm>
          <a:prstGeom prst="line">
            <a:avLst/>
          </a:prstGeom>
          <a:noFill/>
          <a:ln w="31750">
            <a:solidFill>
              <a:srgbClr val="F948BE"/>
            </a:solidFill>
            <a:prstDash val="solid"/>
            <a:tailEnd type="triangle"/>
          </a:ln>
        </p:spPr>
      </p:sp>
      <p:sp>
        <p:nvSpPr>
          <p:cNvPr id="14" name="Shape 11"/>
          <p:cNvSpPr/>
          <p:nvPr/>
        </p:nvSpPr>
        <p:spPr>
          <a:xfrm>
            <a:off x="3154680" y="2962656"/>
            <a:ext cx="1828800" cy="658368"/>
          </a:xfrm>
          <a:prstGeom prst="roundRect">
            <a:avLst>
              <a:gd name="adj" fmla="val 8333"/>
            </a:avLst>
          </a:prstGeom>
          <a:solidFill>
            <a:srgbClr val="1C1F27"/>
          </a:solidFill>
          <a:ln w="25400">
            <a:solidFill>
              <a:srgbClr val="01B66D"/>
            </a:solidFill>
            <a:prstDash val="solid"/>
          </a:ln>
        </p:spPr>
      </p:sp>
      <p:sp>
        <p:nvSpPr>
          <p:cNvPr id="15" name="Text 12"/>
          <p:cNvSpPr txBox="1"/>
          <p:nvPr/>
        </p:nvSpPr>
        <p:spPr>
          <a:xfrm>
            <a:off x="3154680" y="2962656"/>
            <a:ext cx="1828800" cy="658368"/>
          </a:xfrm>
          <a:prstGeom prst="rect">
            <a:avLst/>
          </a:prstGeom>
          <a:noFill/>
          <a:ln/>
        </p:spPr>
        <p:txBody>
          <a:bodyPr wrap="square" lIns="0" tIns="0" rIns="0" bIns="0" rtlCol="0" anchor="ctr"/>
          <a:lstStyle/>
          <a:p>
            <a:pPr algn="ctr" indent="0" marL="0">
              <a:lnSpc>
                <a:spcPct val="120000"/>
              </a:lnSpc>
              <a:buNone/>
            </a:pPr>
            <a:r>
              <a:rPr lang="en-US" sz="1800" b="1" dirty="0">
                <a:solidFill>
                  <a:srgbClr val="01B66D"/>
                </a:solidFill>
                <a:latin typeface="Helvetica Neue" pitchFamily="34" charset="0"/>
                <a:ea typeface="Helvetica Neue" pitchFamily="34" charset="-122"/>
                <a:cs typeface="Helvetica Neue" pitchFamily="34" charset="-120"/>
              </a:rPr>
              <a:t>eval suite</a:t>
            </a:r>
            <a:endParaRPr lang="en-US" sz="1800" dirty="0"/>
          </a:p>
        </p:txBody>
      </p:sp>
      <p:sp>
        <p:nvSpPr>
          <p:cNvPr id="16" name="Text 13"/>
          <p:cNvSpPr txBox="1"/>
          <p:nvPr/>
        </p:nvSpPr>
        <p:spPr>
          <a:xfrm>
            <a:off x="731520" y="3703320"/>
            <a:ext cx="6675120" cy="274320"/>
          </a:xfrm>
          <a:prstGeom prst="rect">
            <a:avLst/>
          </a:prstGeom>
          <a:noFill/>
          <a:ln/>
        </p:spPr>
        <p:txBody>
          <a:bodyPr wrap="square" lIns="0" tIns="0" rIns="0" bIns="0" rtlCol="0" anchor="t"/>
          <a:lstStyle/>
          <a:p>
            <a:pPr algn="ctr"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every model change passes through the gate on its way to production</a:t>
            </a:r>
            <a:endParaRPr lang="en-US" sz="1600" dirty="0"/>
          </a:p>
        </p:txBody>
      </p:sp>
      <p:sp>
        <p:nvSpPr>
          <p:cNvPr id="17" name="b1:notice"/>
          <p:cNvSpPr/>
          <p:nvPr/>
        </p:nvSpPr>
        <p:spPr>
          <a:xfrm>
            <a:off x="8458200" y="1737360"/>
            <a:ext cx="2999232" cy="2240280"/>
          </a:xfrm>
          <a:prstGeom prst="roundRect">
            <a:avLst>
              <a:gd name="adj" fmla="val 1224"/>
            </a:avLst>
          </a:prstGeom>
          <a:solidFill>
            <a:srgbClr val="1C1F27"/>
          </a:solidFill>
          <a:ln w="12700">
            <a:solidFill>
              <a:srgbClr val="303236"/>
            </a:solidFill>
            <a:prstDash val="solid"/>
          </a:ln>
        </p:spPr>
      </p:sp>
      <p:sp>
        <p:nvSpPr>
          <p:cNvPr id="18" name="b1:notice-h"/>
          <p:cNvSpPr txBox="1"/>
          <p:nvPr/>
        </p:nvSpPr>
        <p:spPr>
          <a:xfrm>
            <a:off x="8686800" y="1920240"/>
            <a:ext cx="2542032"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Deprecation notice</a:t>
            </a:r>
            <a:endParaRPr lang="en-US" sz="1600" dirty="0"/>
          </a:p>
        </p:txBody>
      </p:sp>
      <p:sp>
        <p:nvSpPr>
          <p:cNvPr id="19" name="b1:notice-t"/>
          <p:cNvSpPr txBox="1"/>
          <p:nvPr/>
        </p:nvSpPr>
        <p:spPr>
          <a:xfrm>
            <a:off x="8686800" y="2286000"/>
            <a:ext cx="2542032" cy="777240"/>
          </a:xfrm>
          <a:prstGeom prst="rect">
            <a:avLst/>
          </a:prstGeom>
          <a:noFill/>
          <a:ln/>
        </p:spPr>
        <p:txBody>
          <a:bodyPr wrap="square" lIns="0" tIns="0" rIns="0" bIns="0" rtlCol="0" anchor="t"/>
          <a:lstStyle/>
          <a:p>
            <a:pPr algn="l" indent="0" marL="0">
              <a:lnSpc>
                <a:spcPct val="125000"/>
              </a:lnSpc>
              <a:buNone/>
            </a:pPr>
            <a:r>
              <a:rPr lang="en-US" sz="2000" dirty="0">
                <a:solidFill>
                  <a:srgbClr val="FFFCF5"/>
                </a:solidFill>
                <a:latin typeface="Menlo" pitchFamily="34" charset="0"/>
                <a:ea typeface="Menlo" pitchFamily="34" charset="-122"/>
                <a:cs typeface="Menlo" pitchFamily="34" charset="-120"/>
              </a:rPr>
              <a:t>Retirement date:</a:t>
            </a:r>
            <a:endParaRPr lang="en-US" sz="2000" dirty="0"/>
          </a:p>
          <a:p>
            <a:pPr algn="l" indent="0" marL="0">
              <a:lnSpc>
                <a:spcPct val="125000"/>
              </a:lnSpc>
              <a:buNone/>
            </a:pPr>
            <a:r>
              <a:rPr lang="en-US" sz="2000" dirty="0">
                <a:solidFill>
                  <a:srgbClr val="FFFCF5"/>
                </a:solidFill>
                <a:latin typeface="Menlo" pitchFamily="34" charset="0"/>
                <a:ea typeface="Menlo" pitchFamily="34" charset="-122"/>
                <a:cs typeface="Menlo" pitchFamily="34" charset="-120"/>
              </a:rPr>
              <a:t>2026-07-23</a:t>
            </a:r>
            <a:endParaRPr lang="en-US" sz="2000" dirty="0"/>
          </a:p>
        </p:txBody>
      </p:sp>
      <p:sp>
        <p:nvSpPr>
          <p:cNvPr id="20" name="b1:notice-a"/>
          <p:cNvSpPr txBox="1"/>
          <p:nvPr/>
        </p:nvSpPr>
        <p:spPr>
          <a:xfrm>
            <a:off x="8686800" y="3566160"/>
            <a:ext cx="2542032"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OpenAI deprecations page</a:t>
            </a:r>
            <a:endParaRPr lang="en-US" sz="1600" dirty="0"/>
          </a:p>
        </p:txBody>
      </p:sp>
      <p:sp>
        <p:nvSpPr>
          <p:cNvPr id="21" name="b1:notice-stamp"/>
          <p:cNvSpPr txBox="1"/>
          <p:nvPr/>
        </p:nvSpPr>
        <p:spPr>
          <a:xfrm rot="-720000">
            <a:off x="10058400" y="3108960"/>
            <a:ext cx="1188720" cy="411480"/>
          </a:xfrm>
          <a:prstGeom prst="roundRect">
            <a:avLst>
              <a:gd name="adj" fmla="val 8889"/>
            </a:avLst>
          </a:prstGeom>
          <a:noFill/>
          <a:ln w="25400">
            <a:solidFill>
              <a:srgbClr val="FDAD00"/>
            </a:solidFill>
          </a:ln>
        </p:spPr>
        <p:txBody>
          <a:bodyPr wrap="square" lIns="0" tIns="0" rIns="0" bIns="0" rtlCol="0" anchor="ctr"/>
          <a:lstStyle/>
          <a:p>
            <a:pPr algn="ctr" indent="0" marL="0">
              <a:lnSpc>
                <a:spcPct val="120000"/>
              </a:lnSpc>
              <a:buNone/>
            </a:pPr>
            <a:r>
              <a:rPr lang="en-US" sz="1800" b="1" spc="200" kern="0" dirty="0">
                <a:solidFill>
                  <a:srgbClr val="FDAD00"/>
                </a:solidFill>
                <a:latin typeface="Helvetica Neue" pitchFamily="34" charset="0"/>
                <a:ea typeface="Helvetica Neue" pitchFamily="34" charset="-122"/>
                <a:cs typeface="Helvetica Neue" pitchFamily="34" charset="-120"/>
              </a:rPr>
              <a:t>RETIRED</a:t>
            </a:r>
            <a:endParaRPr lang="en-US" sz="1800" dirty="0"/>
          </a:p>
        </p:txBody>
      </p:sp>
      <p:sp>
        <p:nvSpPr>
          <p:cNvPr id="22" name="Text 19"/>
          <p:cNvSpPr txBox="1"/>
          <p:nvPr/>
        </p:nvSpPr>
        <p:spPr>
          <a:xfrm>
            <a:off x="731520" y="4160520"/>
            <a:ext cx="10728655" cy="2011680"/>
          </a:xfrm>
          <a:prstGeom prst="rect">
            <a:avLst/>
          </a:prstGeom>
          <a:noFill/>
          <a:ln/>
        </p:spPr>
        <p:txBody>
          <a:bodyPr wrap="square" lIns="0" tIns="0" rIns="0" bIns="0" rtlCol="0" anchor="t"/>
          <a:lstStyle/>
          <a:p>
            <a:pPr marL="279400" indent="-279400">
              <a:lnSpc>
                <a:spcPct val="130000"/>
              </a:lnSpc>
              <a:spcAft>
                <a:spcPts val="1000"/>
              </a:spcAft>
              <a:buSzPct val="100000"/>
              <a:buChar char="•"/>
            </a:pPr>
            <a:r>
              <a:rPr lang="en-US" sz="2000" dirty="0">
                <a:solidFill>
                  <a:srgbClr val="FFFCF5"/>
                </a:solidFill>
                <a:latin typeface="Helvetica Neue" pitchFamily="34" charset="0"/>
                <a:ea typeface="Helvetica Neue" pitchFamily="34" charset="-122"/>
                <a:cs typeface="Helvetica Neue" pitchFamily="34" charset="-120"/>
              </a:rPr>
              <a:t>Baseline with the most capable model. Downgrade with evals. Route by task.</a:t>
            </a:r>
            <a:endParaRPr lang="en-US" sz="2000" dirty="0"/>
          </a:p>
          <a:p>
            <a:pPr marL="279400" indent="-279400">
              <a:lnSpc>
                <a:spcPct val="130000"/>
              </a:lnSpc>
              <a:spcAft>
                <a:spcPts val="1000"/>
              </a:spcAft>
              <a:buSzPct val="100000"/>
              <a:buChar char="•"/>
            </a:pPr>
            <a:r>
              <a:rPr lang="en-US" sz="2000" dirty="0">
                <a:solidFill>
                  <a:srgbClr val="FFFCF5"/>
                </a:solidFill>
                <a:latin typeface="Helvetica Neue" pitchFamily="34" charset="0"/>
                <a:ea typeface="Helvetica Neue" pitchFamily="34" charset="-122"/>
                <a:cs typeface="Helvetica Neue" pitchFamily="34" charset="-120"/>
              </a:rPr>
              <a:t>Whenever code consumes the answer, ask for a schema, not prose.</a:t>
            </a:r>
            <a:endParaRPr lang="en-US" sz="2000" dirty="0"/>
          </a:p>
          <a:p>
            <a:pPr marL="279400" indent="-279400">
              <a:lnSpc>
                <a:spcPct val="130000"/>
              </a:lnSpc>
              <a:buSzPct val="100000"/>
              <a:buChar char="•"/>
            </a:pPr>
            <a:r>
              <a:rPr lang="en-US" sz="2000" dirty="0">
                <a:solidFill>
                  <a:srgbClr val="FFFCF5"/>
                </a:solidFill>
                <a:latin typeface="Helvetica Neue" pitchFamily="34" charset="0"/>
                <a:ea typeface="Helvetica Neue" pitchFamily="34" charset="-122"/>
                <a:cs typeface="Helvetica Neue" pitchFamily="34" charset="-120"/>
              </a:rPr>
              <a:t>One migration every six to twelve months. Never change model and prompt in the same commit.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7</a:t>
            </a:r>
            <a:endParaRPr lang="en-US" sz="1400" dirty="0"/>
          </a:p>
        </p:txBody>
      </p:sp>
      <p:sp>
        <p:nvSpPr>
          <p:cNvPr id="5" name="Text 2"/>
          <p:cNvSpPr txBox="1"/>
          <p:nvPr/>
        </p:nvSpPr>
        <p:spPr>
          <a:xfrm>
            <a:off x="731520" y="457200"/>
            <a:ext cx="10728655" cy="685800"/>
          </a:xfrm>
          <a:prstGeom prst="rect">
            <a:avLst/>
          </a:prstGeom>
          <a:noFill/>
          <a:ln/>
        </p:spPr>
        <p:txBody>
          <a:bodyPr wrap="square" lIns="0" tIns="0" rIns="0" bIns="0" rtlCol="0" anchor="t"/>
          <a:lstStyle/>
          <a:p>
            <a:pPr algn="l" indent="0" marL="0">
              <a:lnSpc>
                <a:spcPct val="110000"/>
              </a:lnSpc>
              <a:buNone/>
            </a:pPr>
            <a:r>
              <a:rPr lang="en-US" sz="4000" b="1" spc="-100" kern="0" dirty="0">
                <a:solidFill>
                  <a:srgbClr val="FFFCF5"/>
                </a:solidFill>
                <a:latin typeface="Helvetica Neue" pitchFamily="34" charset="0"/>
                <a:ea typeface="Helvetica Neue" pitchFamily="34" charset="-122"/>
                <a:cs typeface="Helvetica Neue" pitchFamily="34" charset="-120"/>
              </a:rPr>
              <a:t>Context is a budget, not a bucket.</a:t>
            </a:r>
            <a:endParaRPr lang="en-US" sz="4000" dirty="0"/>
          </a:p>
        </p:txBody>
      </p:sp>
      <p:sp>
        <p:nvSpPr>
          <p:cNvPr id="6" name="Shape 3"/>
          <p:cNvSpPr/>
          <p:nvPr/>
        </p:nvSpPr>
        <p:spPr>
          <a:xfrm>
            <a:off x="731520" y="1645920"/>
            <a:ext cx="1673352" cy="731520"/>
          </a:xfrm>
          <a:prstGeom prst="rect">
            <a:avLst/>
          </a:prstGeom>
          <a:solidFill>
            <a:srgbClr val="1C1F27"/>
          </a:solidFill>
          <a:ln w="12700">
            <a:solidFill>
              <a:srgbClr val="303236"/>
            </a:solidFill>
            <a:prstDash val="solid"/>
          </a:ln>
        </p:spPr>
      </p:sp>
      <p:sp>
        <p:nvSpPr>
          <p:cNvPr id="7" name="Text 4"/>
          <p:cNvSpPr txBox="1"/>
          <p:nvPr/>
        </p:nvSpPr>
        <p:spPr>
          <a:xfrm>
            <a:off x="731520" y="1645920"/>
            <a:ext cx="1673352"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system</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instructions</a:t>
            </a:r>
            <a:endParaRPr lang="en-US" sz="1600" dirty="0"/>
          </a:p>
        </p:txBody>
      </p:sp>
      <p:sp>
        <p:nvSpPr>
          <p:cNvPr id="8" name="Shape 5"/>
          <p:cNvSpPr/>
          <p:nvPr/>
        </p:nvSpPr>
        <p:spPr>
          <a:xfrm>
            <a:off x="2404872" y="1645920"/>
            <a:ext cx="1234440" cy="731520"/>
          </a:xfrm>
          <a:prstGeom prst="rect">
            <a:avLst/>
          </a:prstGeom>
          <a:solidFill>
            <a:srgbClr val="1C1F27"/>
          </a:solidFill>
          <a:ln w="12700">
            <a:solidFill>
              <a:srgbClr val="303236"/>
            </a:solidFill>
            <a:prstDash val="solid"/>
          </a:ln>
        </p:spPr>
      </p:sp>
      <p:sp>
        <p:nvSpPr>
          <p:cNvPr id="9" name="Text 6"/>
          <p:cNvSpPr txBox="1"/>
          <p:nvPr/>
        </p:nvSpPr>
        <p:spPr>
          <a:xfrm>
            <a:off x="2404872" y="1645920"/>
            <a:ext cx="123444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the task</a:t>
            </a:r>
            <a:endParaRPr lang="en-US" sz="1600" dirty="0"/>
          </a:p>
        </p:txBody>
      </p:sp>
      <p:sp>
        <p:nvSpPr>
          <p:cNvPr id="10" name="Shape 7"/>
          <p:cNvSpPr/>
          <p:nvPr/>
        </p:nvSpPr>
        <p:spPr>
          <a:xfrm>
            <a:off x="3639312" y="1645920"/>
            <a:ext cx="1737360" cy="731520"/>
          </a:xfrm>
          <a:prstGeom prst="rect">
            <a:avLst/>
          </a:prstGeom>
          <a:solidFill>
            <a:srgbClr val="1C1F27"/>
          </a:solidFill>
          <a:ln w="12700">
            <a:solidFill>
              <a:srgbClr val="303236"/>
            </a:solidFill>
            <a:prstDash val="solid"/>
          </a:ln>
        </p:spPr>
      </p:sp>
      <p:sp>
        <p:nvSpPr>
          <p:cNvPr id="11" name="Text 8"/>
          <p:cNvSpPr txBox="1"/>
          <p:nvPr/>
        </p:nvSpPr>
        <p:spPr>
          <a:xfrm>
            <a:off x="3639312" y="1645920"/>
            <a:ext cx="173736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conversation</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state</a:t>
            </a:r>
            <a:endParaRPr lang="en-US" sz="1600" dirty="0"/>
          </a:p>
        </p:txBody>
      </p:sp>
      <p:sp>
        <p:nvSpPr>
          <p:cNvPr id="12" name="Shape 9"/>
          <p:cNvSpPr/>
          <p:nvPr/>
        </p:nvSpPr>
        <p:spPr>
          <a:xfrm>
            <a:off x="5376672" y="1645920"/>
            <a:ext cx="1828800" cy="731520"/>
          </a:xfrm>
          <a:prstGeom prst="rect">
            <a:avLst/>
          </a:prstGeom>
          <a:solidFill>
            <a:srgbClr val="1C1F27"/>
          </a:solidFill>
          <a:ln w="12700">
            <a:solidFill>
              <a:srgbClr val="303236"/>
            </a:solidFill>
            <a:prstDash val="solid"/>
          </a:ln>
        </p:spPr>
      </p:sp>
      <p:sp>
        <p:nvSpPr>
          <p:cNvPr id="13" name="Text 10"/>
          <p:cNvSpPr txBox="1"/>
          <p:nvPr/>
        </p:nvSpPr>
        <p:spPr>
          <a:xfrm>
            <a:off x="5376672" y="1645920"/>
            <a:ext cx="182880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retrieved</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knowledge</a:t>
            </a:r>
            <a:endParaRPr lang="en-US" sz="1600" dirty="0"/>
          </a:p>
        </p:txBody>
      </p:sp>
      <p:sp>
        <p:nvSpPr>
          <p:cNvPr id="14" name="Shape 11"/>
          <p:cNvSpPr/>
          <p:nvPr/>
        </p:nvSpPr>
        <p:spPr>
          <a:xfrm>
            <a:off x="7205472" y="1645920"/>
            <a:ext cx="1097280" cy="731520"/>
          </a:xfrm>
          <a:prstGeom prst="rect">
            <a:avLst/>
          </a:prstGeom>
          <a:solidFill>
            <a:srgbClr val="1C1F27"/>
          </a:solidFill>
          <a:ln w="12700">
            <a:solidFill>
              <a:srgbClr val="303236"/>
            </a:solidFill>
            <a:prstDash val="solid"/>
          </a:ln>
        </p:spPr>
      </p:sp>
      <p:sp>
        <p:nvSpPr>
          <p:cNvPr id="15" name="Text 12"/>
          <p:cNvSpPr txBox="1"/>
          <p:nvPr/>
        </p:nvSpPr>
        <p:spPr>
          <a:xfrm>
            <a:off x="7205472" y="1645920"/>
            <a:ext cx="109728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memory</a:t>
            </a:r>
            <a:endParaRPr lang="en-US" sz="1600" dirty="0"/>
          </a:p>
        </p:txBody>
      </p:sp>
      <p:sp>
        <p:nvSpPr>
          <p:cNvPr id="16" name="Shape 13"/>
          <p:cNvSpPr/>
          <p:nvPr/>
        </p:nvSpPr>
        <p:spPr>
          <a:xfrm>
            <a:off x="8302752" y="1645920"/>
            <a:ext cx="1691640" cy="731520"/>
          </a:xfrm>
          <a:prstGeom prst="rect">
            <a:avLst/>
          </a:prstGeom>
          <a:solidFill>
            <a:srgbClr val="1C1F27"/>
          </a:solidFill>
          <a:ln w="12700">
            <a:solidFill>
              <a:srgbClr val="303236"/>
            </a:solidFill>
            <a:prstDash val="solid"/>
          </a:ln>
        </p:spPr>
      </p:sp>
      <p:sp>
        <p:nvSpPr>
          <p:cNvPr id="17" name="Text 14"/>
          <p:cNvSpPr txBox="1"/>
          <p:nvPr/>
        </p:nvSpPr>
        <p:spPr>
          <a:xfrm>
            <a:off x="8302752" y="1645920"/>
            <a:ext cx="169164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tool</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definitions</a:t>
            </a:r>
            <a:endParaRPr lang="en-US" sz="1600" dirty="0"/>
          </a:p>
        </p:txBody>
      </p:sp>
      <p:sp>
        <p:nvSpPr>
          <p:cNvPr id="18" name="Shape 15"/>
          <p:cNvSpPr/>
          <p:nvPr/>
        </p:nvSpPr>
        <p:spPr>
          <a:xfrm>
            <a:off x="9994392" y="1645920"/>
            <a:ext cx="1463040" cy="731520"/>
          </a:xfrm>
          <a:prstGeom prst="rect">
            <a:avLst/>
          </a:prstGeom>
          <a:solidFill>
            <a:srgbClr val="1C1F27"/>
          </a:solidFill>
          <a:ln w="12700">
            <a:solidFill>
              <a:srgbClr val="303236"/>
            </a:solidFill>
            <a:prstDash val="solid"/>
          </a:ln>
        </p:spPr>
      </p:sp>
      <p:sp>
        <p:nvSpPr>
          <p:cNvPr id="19" name="Text 16"/>
          <p:cNvSpPr txBox="1"/>
          <p:nvPr/>
        </p:nvSpPr>
        <p:spPr>
          <a:xfrm>
            <a:off x="9994392" y="1645920"/>
            <a:ext cx="1463040" cy="731520"/>
          </a:xfrm>
          <a:prstGeom prst="rect">
            <a:avLst/>
          </a:prstGeom>
          <a:noFill/>
          <a:ln/>
        </p:spPr>
        <p:txBody>
          <a:bodyPr wrap="square" lIns="0" tIns="0" rIns="0" bIns="0"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tool results</a:t>
            </a:r>
            <a:endParaRPr lang="en-US" sz="1600" dirty="0"/>
          </a:p>
        </p:txBody>
      </p:sp>
      <p:sp>
        <p:nvSpPr>
          <p:cNvPr id="20" name="Shape 17"/>
          <p:cNvSpPr/>
          <p:nvPr/>
        </p:nvSpPr>
        <p:spPr>
          <a:xfrm>
            <a:off x="9636304" y="1371600"/>
            <a:ext cx="0" cy="1005840"/>
          </a:xfrm>
          <a:prstGeom prst="line">
            <a:avLst/>
          </a:prstGeom>
          <a:noFill/>
          <a:ln w="25400">
            <a:solidFill>
              <a:srgbClr val="F948BE"/>
            </a:solidFill>
            <a:prstDash val="solid"/>
          </a:ln>
        </p:spPr>
      </p:sp>
      <p:sp>
        <p:nvSpPr>
          <p:cNvPr id="21" name="Text 18"/>
          <p:cNvSpPr txBox="1"/>
          <p:nvPr/>
        </p:nvSpPr>
        <p:spPr>
          <a:xfrm>
            <a:off x="7258864" y="1325880"/>
            <a:ext cx="2286000" cy="274320"/>
          </a:xfrm>
          <a:prstGeom prst="rect">
            <a:avLst/>
          </a:prstGeom>
          <a:noFill/>
          <a:ln/>
        </p:spPr>
        <p:txBody>
          <a:bodyPr wrap="square" lIns="0" tIns="0" rIns="0" bIns="0" rtlCol="0" anchor="ctr"/>
          <a:lstStyle/>
          <a:p>
            <a:pPr algn="r" indent="0" marL="0">
              <a:lnSpc>
                <a:spcPct val="120000"/>
              </a:lnSpc>
              <a:buNone/>
            </a:pPr>
            <a:r>
              <a:rPr lang="en-US" sz="1600" dirty="0">
                <a:solidFill>
                  <a:srgbClr val="F948BE"/>
                </a:solidFill>
                <a:latin typeface="Helvetica Neue" pitchFamily="34" charset="0"/>
                <a:ea typeface="Helvetica Neue" pitchFamily="34" charset="-122"/>
                <a:cs typeface="Helvetica Neue" pitchFamily="34" charset="-120"/>
              </a:rPr>
              <a:t>attention degrades here</a:t>
            </a:r>
            <a:endParaRPr lang="en-US" sz="1600" dirty="0"/>
          </a:p>
        </p:txBody>
      </p:sp>
      <p:sp>
        <p:nvSpPr>
          <p:cNvPr id="22" name="b1:hatch-task"/>
          <p:cNvSpPr/>
          <p:nvPr/>
        </p:nvSpPr>
        <p:spPr>
          <a:xfrm>
            <a:off x="2862072" y="2121408"/>
            <a:ext cx="777240" cy="256032"/>
          </a:xfrm>
          <a:prstGeom prst="rect">
            <a:avLst/>
          </a:prstGeom>
          <a:pattFill prst="wdUpDiag">
            <a:fgClr>
              <a:srgbClr val="FDAD00">
                <a:alpha val="70000"/>
              </a:srgbClr>
            </a:fgClr>
            <a:bgClr>
              <a:srgbClr val="1C1F27"/>
            </a:bgClr>
          </a:pattFill>
          <a:ln w="12700">
            <a:solidFill>
              <a:srgbClr val="FDAD00"/>
            </a:solidFill>
            <a:prstDash val="solid"/>
          </a:ln>
        </p:spPr>
      </p:sp>
      <p:sp>
        <p:nvSpPr>
          <p:cNvPr id="23" name="b1:outline-task"/>
          <p:cNvSpPr/>
          <p:nvPr/>
        </p:nvSpPr>
        <p:spPr>
          <a:xfrm>
            <a:off x="2862072" y="1645920"/>
            <a:ext cx="777240" cy="731520"/>
          </a:xfrm>
          <a:prstGeom prst="rect">
            <a:avLst/>
          </a:prstGeom>
          <a:ln w="25400">
            <a:solidFill>
              <a:srgbClr val="FDAD00"/>
            </a:solidFill>
            <a:prstDash val="solid"/>
          </a:ln>
        </p:spPr>
      </p:sp>
      <p:sp>
        <p:nvSpPr>
          <p:cNvPr id="24" name="b1:hatch-results"/>
          <p:cNvSpPr/>
          <p:nvPr/>
        </p:nvSpPr>
        <p:spPr>
          <a:xfrm>
            <a:off x="9994392" y="2121408"/>
            <a:ext cx="1463040" cy="256032"/>
          </a:xfrm>
          <a:prstGeom prst="rect">
            <a:avLst/>
          </a:prstGeom>
          <a:pattFill prst="wdUpDiag">
            <a:fgClr>
              <a:srgbClr val="FDAD00">
                <a:alpha val="70000"/>
              </a:srgbClr>
            </a:fgClr>
            <a:bgClr>
              <a:srgbClr val="1C1F27"/>
            </a:bgClr>
          </a:pattFill>
          <a:ln w="12700">
            <a:solidFill>
              <a:srgbClr val="FDAD00"/>
            </a:solidFill>
            <a:prstDash val="solid"/>
          </a:ln>
        </p:spPr>
      </p:sp>
      <p:sp>
        <p:nvSpPr>
          <p:cNvPr id="25" name="b1:outline-results"/>
          <p:cNvSpPr/>
          <p:nvPr/>
        </p:nvSpPr>
        <p:spPr>
          <a:xfrm>
            <a:off x="9994392" y="1645920"/>
            <a:ext cx="1463040" cy="731520"/>
          </a:xfrm>
          <a:prstGeom prst="rect">
            <a:avLst/>
          </a:prstGeom>
          <a:ln w="25400">
            <a:solidFill>
              <a:srgbClr val="FDAD00"/>
            </a:solidFill>
            <a:prstDash val="solid"/>
          </a:ln>
        </p:spPr>
      </p:sp>
      <p:sp>
        <p:nvSpPr>
          <p:cNvPr id="26" name="b1:u1"/>
          <p:cNvSpPr txBox="1"/>
          <p:nvPr/>
        </p:nvSpPr>
        <p:spPr>
          <a:xfrm>
            <a:off x="2404872" y="2423160"/>
            <a:ext cx="1234440" cy="274320"/>
          </a:xfrm>
          <a:prstGeom prst="rect">
            <a:avLst/>
          </a:prstGeom>
          <a:noFill/>
          <a:ln/>
        </p:spPr>
        <p:txBody>
          <a:bodyPr wrap="square" lIns="0" tIns="0" rIns="0" bIns="0" rtlCol="0" anchor="t"/>
          <a:lstStyle/>
          <a:p>
            <a:pPr algn="ctr" indent="0" marL="0">
              <a:lnSpc>
                <a:spcPct val="120000"/>
              </a:lnSpc>
              <a:buNone/>
            </a:pPr>
            <a:r>
              <a:rPr lang="en-US" sz="1600" b="1" dirty="0">
                <a:solidFill>
                  <a:srgbClr val="FDAD00"/>
                </a:solidFill>
                <a:latin typeface="Helvetica Neue" pitchFamily="34" charset="0"/>
                <a:ea typeface="Helvetica Neue" pitchFamily="34" charset="-122"/>
                <a:cs typeface="Helvetica Neue" pitchFamily="34" charset="-120"/>
              </a:rPr>
              <a:t>untrusted</a:t>
            </a:r>
            <a:endParaRPr lang="en-US" sz="1600" dirty="0"/>
          </a:p>
        </p:txBody>
      </p:sp>
      <p:sp>
        <p:nvSpPr>
          <p:cNvPr id="27" name="b1:u2"/>
          <p:cNvSpPr txBox="1"/>
          <p:nvPr/>
        </p:nvSpPr>
        <p:spPr>
          <a:xfrm>
            <a:off x="9994392" y="2423160"/>
            <a:ext cx="1463040" cy="274320"/>
          </a:xfrm>
          <a:prstGeom prst="rect">
            <a:avLst/>
          </a:prstGeom>
          <a:noFill/>
          <a:ln/>
        </p:spPr>
        <p:txBody>
          <a:bodyPr wrap="square" lIns="0" tIns="0" rIns="0" bIns="0" rtlCol="0" anchor="t"/>
          <a:lstStyle/>
          <a:p>
            <a:pPr algn="ctr" indent="0" marL="0">
              <a:lnSpc>
                <a:spcPct val="120000"/>
              </a:lnSpc>
              <a:buNone/>
            </a:pPr>
            <a:r>
              <a:rPr lang="en-US" sz="1600" b="1" dirty="0">
                <a:solidFill>
                  <a:srgbClr val="FDAD00"/>
                </a:solidFill>
                <a:latin typeface="Helvetica Neue" pitchFamily="34" charset="0"/>
                <a:ea typeface="Helvetica Neue" pitchFamily="34" charset="-122"/>
                <a:cs typeface="Helvetica Neue" pitchFamily="34" charset="-120"/>
              </a:rPr>
              <a:t>untrusted</a:t>
            </a:r>
            <a:endParaRPr lang="en-US" sz="1600" dirty="0"/>
          </a:p>
        </p:txBody>
      </p:sp>
      <p:sp>
        <p:nvSpPr>
          <p:cNvPr id="28" name="b1:stamp"/>
          <p:cNvSpPr txBox="1"/>
          <p:nvPr/>
        </p:nvSpPr>
        <p:spPr>
          <a:xfrm>
            <a:off x="5239512" y="2468880"/>
            <a:ext cx="2103120" cy="566928"/>
          </a:xfrm>
          <a:prstGeom prst="roundRect">
            <a:avLst>
              <a:gd name="adj" fmla="val 6452"/>
            </a:avLst>
          </a:prstGeom>
          <a:noFill/>
          <a:ln w="25400">
            <a:solidFill>
              <a:srgbClr val="FDAD00"/>
            </a:solidFill>
          </a:ln>
        </p:spPr>
        <p:txBody>
          <a:bodyPr wrap="square" lIns="0" tIns="0" rIns="0" bIns="0" rtlCol="0" anchor="ctr"/>
          <a:lstStyle/>
          <a:p>
            <a:pPr algn="ctr" indent="0" marL="0">
              <a:lnSpc>
                <a:spcPct val="110000"/>
              </a:lnSpc>
              <a:buNone/>
            </a:pPr>
            <a:r>
              <a:rPr lang="en-US" sz="1600" dirty="0">
                <a:solidFill>
                  <a:srgbClr val="FDAD00"/>
                </a:solidFill>
                <a:latin typeface="Menlo" pitchFamily="34" charset="0"/>
                <a:ea typeface="Menlo" pitchFamily="34" charset="-122"/>
                <a:cs typeface="Menlo" pitchFamily="34" charset="-120"/>
              </a:rPr>
              <a:t>last reviewed:</a:t>
            </a:r>
            <a:endParaRPr lang="en-US" sz="1600" dirty="0"/>
          </a:p>
          <a:p>
            <a:pPr algn="ctr" indent="0" marL="0">
              <a:lnSpc>
                <a:spcPct val="110000"/>
              </a:lnSpc>
              <a:buNone/>
            </a:pPr>
            <a:r>
              <a:rPr lang="en-US" sz="1600" dirty="0">
                <a:solidFill>
                  <a:srgbClr val="FDAD00"/>
                </a:solidFill>
                <a:latin typeface="Menlo" pitchFamily="34" charset="0"/>
                <a:ea typeface="Menlo" pitchFamily="34" charset="-122"/>
                <a:cs typeface="Menlo" pitchFamily="34" charset="-120"/>
              </a:rPr>
              <a:t>[date]</a:t>
            </a:r>
            <a:endParaRPr lang="en-US" sz="1600" dirty="0"/>
          </a:p>
        </p:txBody>
      </p:sp>
      <p:sp>
        <p:nvSpPr>
          <p:cNvPr id="29" name="Text 26"/>
          <p:cNvSpPr txBox="1"/>
          <p:nvPr/>
        </p:nvSpPr>
        <p:spPr>
          <a:xfrm>
            <a:off x="731520" y="3291840"/>
            <a:ext cx="10728655" cy="2377440"/>
          </a:xfrm>
          <a:prstGeom prst="rect">
            <a:avLst/>
          </a:prstGeom>
          <a:noFill/>
          <a:ln/>
        </p:spPr>
        <p:txBody>
          <a:bodyPr wrap="square" lIns="0" tIns="0" rIns="0" bIns="0" rtlCol="0" anchor="t"/>
          <a:lstStyle/>
          <a:p>
            <a:pPr marL="279400" indent="-279400">
              <a:lnSpc>
                <a:spcPct val="130000"/>
              </a:lnSpc>
              <a:spcAft>
                <a:spcPts val="1000"/>
              </a:spcAft>
              <a:buSzPct val="100000"/>
              <a:buChar char="•"/>
            </a:pPr>
            <a:r>
              <a:rPr lang="en-US" sz="2000" i="1" dirty="0">
                <a:solidFill>
                  <a:srgbClr val="FFFCF5"/>
                </a:solidFill>
                <a:latin typeface="Helvetica Neue" pitchFamily="34" charset="0"/>
                <a:ea typeface="Helvetica Neue" pitchFamily="34" charset="-122"/>
                <a:cs typeface="Helvetica Neue" pitchFamily="34" charset="-120"/>
              </a:rPr>
              <a:t>"Find the smallest set of high-signal tokens that maximize the likelihood of your desired outcome." </a:t>
            </a:r>
            <a:r>
              <a:rPr lang="en-US" sz="2000" dirty="0">
                <a:solidFill>
                  <a:srgbClr val="A1A09E"/>
                </a:solidFill>
                <a:latin typeface="Helvetica Neue" pitchFamily="34" charset="0"/>
                <a:ea typeface="Helvetica Neue" pitchFamily="34" charset="-122"/>
                <a:cs typeface="Helvetica Neue" pitchFamily="34" charset="-120"/>
              </a:rPr>
              <a:t>Anthropic, 2025</a:t>
            </a:r>
            <a:endParaRPr lang="en-US" sz="2000" dirty="0"/>
          </a:p>
          <a:p>
            <a:pPr marL="279400" indent="-279400">
              <a:lnSpc>
                <a:spcPct val="130000"/>
              </a:lnSpc>
              <a:spcAft>
                <a:spcPts val="1000"/>
              </a:spcAft>
              <a:buSzPct val="100000"/>
              <a:buChar char="•"/>
            </a:pPr>
            <a:r>
              <a:rPr lang="en-US" sz="2000" dirty="0">
                <a:solidFill>
                  <a:srgbClr val="FFFCF5"/>
                </a:solidFill>
                <a:latin typeface="Helvetica Neue" pitchFamily="34" charset="0"/>
                <a:ea typeface="Helvetica Neue" pitchFamily="34" charset="-122"/>
                <a:cs typeface="Helvetica Neue" pitchFamily="34" charset="-120"/>
              </a:rPr>
              <a:t>Provenance and freshness are engineering properties.</a:t>
            </a:r>
            <a:endParaRPr lang="en-US" sz="2000" dirty="0"/>
          </a:p>
          <a:p>
            <a:pPr marL="279400" indent="-279400">
              <a:lnSpc>
                <a:spcPct val="130000"/>
              </a:lnSpc>
              <a:buSzPct val="100000"/>
              <a:buChar char="•"/>
            </a:pPr>
            <a:r>
              <a:rPr lang="en-US" sz="2000" dirty="0">
                <a:solidFill>
                  <a:srgbClr val="FFFCF5"/>
                </a:solidFill>
                <a:latin typeface="Helvetica Neue" pitchFamily="34" charset="0"/>
                <a:ea typeface="Helvetica Neue" pitchFamily="34" charset="-122"/>
                <a:cs typeface="Helvetica Neue" pitchFamily="34" charset="-120"/>
              </a:rPr>
              <a:t>Tool results and retrieved documents enter with the same authority as your instructions. Label them.</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8</a:t>
            </a:r>
            <a:endParaRPr lang="en-US" sz="1400" dirty="0"/>
          </a:p>
        </p:txBody>
      </p:sp>
      <p:sp>
        <p:nvSpPr>
          <p:cNvPr id="5" name="Text 2"/>
          <p:cNvSpPr txBox="1"/>
          <p:nvPr/>
        </p:nvSpPr>
        <p:spPr>
          <a:xfrm>
            <a:off x="731520" y="457200"/>
            <a:ext cx="10728655" cy="6400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Tiers are enforced outside the model.</a:t>
            </a:r>
            <a:endParaRPr lang="en-US" sz="3600" dirty="0"/>
          </a:p>
        </p:txBody>
      </p:sp>
      <p:sp>
        <p:nvSpPr>
          <p:cNvPr id="6" name="Text 3"/>
          <p:cNvSpPr txBox="1"/>
          <p:nvPr/>
        </p:nvSpPr>
        <p:spPr>
          <a:xfrm>
            <a:off x="731520" y="1170432"/>
            <a:ext cx="2468880" cy="256032"/>
          </a:xfrm>
          <a:prstGeom prst="rect">
            <a:avLst/>
          </a:prstGeom>
          <a:noFill/>
          <a:ln/>
        </p:spPr>
        <p:txBody>
          <a:bodyPr wrap="square" lIns="0" tIns="0" rIns="0" bIns="0" rtlCol="0" anchor="ctr"/>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Tool</a:t>
            </a:r>
            <a:endParaRPr lang="en-US" sz="1600" dirty="0"/>
          </a:p>
        </p:txBody>
      </p:sp>
      <p:sp>
        <p:nvSpPr>
          <p:cNvPr id="7" name="b1:tier-h"/>
          <p:cNvSpPr txBox="1"/>
          <p:nvPr/>
        </p:nvSpPr>
        <p:spPr>
          <a:xfrm>
            <a:off x="3200400" y="1170432"/>
            <a:ext cx="1691640" cy="256032"/>
          </a:xfrm>
          <a:prstGeom prst="rect">
            <a:avLst/>
          </a:prstGeom>
          <a:noFill/>
          <a:ln/>
        </p:spPr>
        <p:txBody>
          <a:bodyPr wrap="square" lIns="0" tIns="0" rIns="0" bIns="0" rtlCol="0" anchor="ctr"/>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Tier</a:t>
            </a:r>
            <a:endParaRPr lang="en-US" sz="1600" dirty="0"/>
          </a:p>
        </p:txBody>
      </p:sp>
      <p:sp>
        <p:nvSpPr>
          <p:cNvPr id="8" name="Text 5"/>
          <p:cNvSpPr txBox="1"/>
          <p:nvPr/>
        </p:nvSpPr>
        <p:spPr>
          <a:xfrm>
            <a:off x="4892040" y="1170432"/>
            <a:ext cx="2915717" cy="256032"/>
          </a:xfrm>
          <a:prstGeom prst="rect">
            <a:avLst/>
          </a:prstGeom>
          <a:noFill/>
          <a:ln/>
        </p:spPr>
        <p:txBody>
          <a:bodyPr wrap="square" lIns="0" tIns="0" rIns="0" bIns="0" rtlCol="0" anchor="ctr"/>
          <a:lstStyle/>
          <a:p>
            <a:pPr algn="l" indent="0" marL="0">
              <a:lnSpc>
                <a:spcPct val="120000"/>
              </a:lnSpc>
              <a:buNone/>
            </a:pPr>
            <a:r>
              <a:rPr lang="en-US" sz="1600" b="1" dirty="0">
                <a:solidFill>
                  <a:srgbClr val="A1A09E"/>
                </a:solidFill>
                <a:latin typeface="Helvetica Neue" pitchFamily="34" charset="0"/>
                <a:ea typeface="Helvetica Neue" pitchFamily="34" charset="-122"/>
                <a:cs typeface="Helvetica Neue" pitchFamily="34" charset="-120"/>
              </a:rPr>
              <a:t>Note</a:t>
            </a:r>
            <a:endParaRPr lang="en-US" sz="1600" dirty="0"/>
          </a:p>
        </p:txBody>
      </p:sp>
      <p:sp>
        <p:nvSpPr>
          <p:cNvPr id="9" name="Shape 6"/>
          <p:cNvSpPr/>
          <p:nvPr/>
        </p:nvSpPr>
        <p:spPr>
          <a:xfrm>
            <a:off x="731520" y="1426464"/>
            <a:ext cx="7076237" cy="0"/>
          </a:xfrm>
          <a:prstGeom prst="line">
            <a:avLst/>
          </a:prstGeom>
          <a:noFill/>
          <a:ln w="12700">
            <a:solidFill>
              <a:srgbClr val="303236"/>
            </a:solidFill>
            <a:prstDash val="solid"/>
          </a:ln>
        </p:spPr>
      </p:sp>
      <p:sp>
        <p:nvSpPr>
          <p:cNvPr id="10" name="Text 7"/>
          <p:cNvSpPr txBox="1"/>
          <p:nvPr/>
        </p:nvSpPr>
        <p:spPr>
          <a:xfrm>
            <a:off x="731520" y="1426464"/>
            <a:ext cx="2468880" cy="292608"/>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Read file</a:t>
            </a:r>
            <a:endParaRPr lang="en-US" sz="1600" dirty="0"/>
          </a:p>
        </p:txBody>
      </p:sp>
      <p:sp>
        <p:nvSpPr>
          <p:cNvPr id="11" name="b1:tier0"/>
          <p:cNvSpPr txBox="1"/>
          <p:nvPr/>
        </p:nvSpPr>
        <p:spPr>
          <a:xfrm>
            <a:off x="3200400" y="1444752"/>
            <a:ext cx="1554480" cy="256032"/>
          </a:xfrm>
          <a:prstGeom prst="roundRect">
            <a:avLst>
              <a:gd name="adj" fmla="val 21429"/>
            </a:avLst>
          </a:prstGeom>
          <a:solidFill>
            <a:srgbClr val="1064F8"/>
          </a:solidFill>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Read-only</a:t>
            </a:r>
            <a:endParaRPr lang="en-US" sz="1600" dirty="0"/>
          </a:p>
        </p:txBody>
      </p:sp>
      <p:sp>
        <p:nvSpPr>
          <p:cNvPr id="12" name="Shape 9"/>
          <p:cNvSpPr/>
          <p:nvPr/>
        </p:nvSpPr>
        <p:spPr>
          <a:xfrm>
            <a:off x="731520" y="1719072"/>
            <a:ext cx="7076237" cy="0"/>
          </a:xfrm>
          <a:prstGeom prst="line">
            <a:avLst/>
          </a:prstGeom>
          <a:noFill/>
          <a:ln w="12700">
            <a:solidFill>
              <a:srgbClr val="303236"/>
            </a:solidFill>
            <a:prstDash val="solid"/>
          </a:ln>
        </p:spPr>
      </p:sp>
      <p:sp>
        <p:nvSpPr>
          <p:cNvPr id="13" name="Text 10"/>
          <p:cNvSpPr txBox="1"/>
          <p:nvPr/>
        </p:nvSpPr>
        <p:spPr>
          <a:xfrm>
            <a:off x="731520" y="1719072"/>
            <a:ext cx="2468880" cy="292608"/>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Search the codebase</a:t>
            </a:r>
            <a:endParaRPr lang="en-US" sz="1600" dirty="0"/>
          </a:p>
        </p:txBody>
      </p:sp>
      <p:sp>
        <p:nvSpPr>
          <p:cNvPr id="14" name="b1:tier1"/>
          <p:cNvSpPr txBox="1"/>
          <p:nvPr/>
        </p:nvSpPr>
        <p:spPr>
          <a:xfrm>
            <a:off x="3200400" y="1737360"/>
            <a:ext cx="1554480" cy="256032"/>
          </a:xfrm>
          <a:prstGeom prst="roundRect">
            <a:avLst>
              <a:gd name="adj" fmla="val 21429"/>
            </a:avLst>
          </a:prstGeom>
          <a:solidFill>
            <a:srgbClr val="1064F8"/>
          </a:solidFill>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Read-only</a:t>
            </a:r>
            <a:endParaRPr lang="en-US" sz="1600" dirty="0"/>
          </a:p>
        </p:txBody>
      </p:sp>
      <p:sp>
        <p:nvSpPr>
          <p:cNvPr id="15" name="Shape 12"/>
          <p:cNvSpPr/>
          <p:nvPr/>
        </p:nvSpPr>
        <p:spPr>
          <a:xfrm>
            <a:off x="731520" y="2011680"/>
            <a:ext cx="7076237" cy="0"/>
          </a:xfrm>
          <a:prstGeom prst="line">
            <a:avLst/>
          </a:prstGeom>
          <a:noFill/>
          <a:ln w="12700">
            <a:solidFill>
              <a:srgbClr val="303236"/>
            </a:solidFill>
            <a:prstDash val="solid"/>
          </a:ln>
        </p:spPr>
      </p:sp>
      <p:sp>
        <p:nvSpPr>
          <p:cNvPr id="16" name="Text 13"/>
          <p:cNvSpPr txBox="1"/>
          <p:nvPr/>
        </p:nvSpPr>
        <p:spPr>
          <a:xfrm>
            <a:off x="731520" y="2011680"/>
            <a:ext cx="2468880" cy="292608"/>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List files</a:t>
            </a:r>
            <a:endParaRPr lang="en-US" sz="1600" dirty="0"/>
          </a:p>
        </p:txBody>
      </p:sp>
      <p:sp>
        <p:nvSpPr>
          <p:cNvPr id="17" name="b1:tier2"/>
          <p:cNvSpPr txBox="1"/>
          <p:nvPr/>
        </p:nvSpPr>
        <p:spPr>
          <a:xfrm>
            <a:off x="3200400" y="2029968"/>
            <a:ext cx="1554480" cy="256032"/>
          </a:xfrm>
          <a:prstGeom prst="roundRect">
            <a:avLst>
              <a:gd name="adj" fmla="val 21429"/>
            </a:avLst>
          </a:prstGeom>
          <a:solidFill>
            <a:srgbClr val="1064F8"/>
          </a:solidFill>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Read-only</a:t>
            </a:r>
            <a:endParaRPr lang="en-US" sz="1600" dirty="0"/>
          </a:p>
        </p:txBody>
      </p:sp>
      <p:sp>
        <p:nvSpPr>
          <p:cNvPr id="18" name="Shape 15"/>
          <p:cNvSpPr/>
          <p:nvPr/>
        </p:nvSpPr>
        <p:spPr>
          <a:xfrm>
            <a:off x="731520" y="2304288"/>
            <a:ext cx="7076237" cy="0"/>
          </a:xfrm>
          <a:prstGeom prst="line">
            <a:avLst/>
          </a:prstGeom>
          <a:noFill/>
          <a:ln w="12700">
            <a:solidFill>
              <a:srgbClr val="303236"/>
            </a:solidFill>
            <a:prstDash val="solid"/>
          </a:ln>
        </p:spPr>
      </p:sp>
      <p:sp>
        <p:nvSpPr>
          <p:cNvPr id="19" name="Text 16"/>
          <p:cNvSpPr txBox="1"/>
          <p:nvPr/>
        </p:nvSpPr>
        <p:spPr>
          <a:xfrm>
            <a:off x="731520" y="2304288"/>
            <a:ext cx="2468880" cy="310896"/>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Edit file</a:t>
            </a:r>
            <a:endParaRPr lang="en-US" sz="1600" dirty="0"/>
          </a:p>
        </p:txBody>
      </p:sp>
      <p:sp>
        <p:nvSpPr>
          <p:cNvPr id="20" name="b1:tier3"/>
          <p:cNvSpPr txBox="1"/>
          <p:nvPr/>
        </p:nvSpPr>
        <p:spPr>
          <a:xfrm>
            <a:off x="3200400" y="2331720"/>
            <a:ext cx="1554480" cy="256032"/>
          </a:xfrm>
          <a:prstGeom prst="roundRect">
            <a:avLst>
              <a:gd name="adj" fmla="val 21429"/>
            </a:avLst>
          </a:prstGeom>
          <a:solidFill>
            <a:srgbClr val="A1A09E"/>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Reversible</a:t>
            </a:r>
            <a:endParaRPr lang="en-US" sz="1600" dirty="0"/>
          </a:p>
        </p:txBody>
      </p:sp>
      <p:sp>
        <p:nvSpPr>
          <p:cNvPr id="21" name="Text 18"/>
          <p:cNvSpPr txBox="1"/>
          <p:nvPr/>
        </p:nvSpPr>
        <p:spPr>
          <a:xfrm>
            <a:off x="4892040" y="2331720"/>
            <a:ext cx="2915717" cy="256032"/>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Git is the compensating action</a:t>
            </a:r>
            <a:endParaRPr lang="en-US" sz="1600" dirty="0"/>
          </a:p>
        </p:txBody>
      </p:sp>
      <p:sp>
        <p:nvSpPr>
          <p:cNvPr id="22" name="Shape 19"/>
          <p:cNvSpPr/>
          <p:nvPr/>
        </p:nvSpPr>
        <p:spPr>
          <a:xfrm>
            <a:off x="731520" y="2615184"/>
            <a:ext cx="7076237" cy="0"/>
          </a:xfrm>
          <a:prstGeom prst="line">
            <a:avLst/>
          </a:prstGeom>
          <a:noFill/>
          <a:ln w="12700">
            <a:solidFill>
              <a:srgbClr val="303236"/>
            </a:solidFill>
            <a:prstDash val="solid"/>
          </a:ln>
        </p:spPr>
      </p:sp>
      <p:sp>
        <p:nvSpPr>
          <p:cNvPr id="23" name="Text 20"/>
          <p:cNvSpPr txBox="1"/>
          <p:nvPr/>
        </p:nvSpPr>
        <p:spPr>
          <a:xfrm>
            <a:off x="731520" y="2615184"/>
            <a:ext cx="2468880" cy="566928"/>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Run a command</a:t>
            </a:r>
            <a:endParaRPr lang="en-US" sz="1600" dirty="0"/>
          </a:p>
        </p:txBody>
      </p:sp>
      <p:sp>
        <p:nvSpPr>
          <p:cNvPr id="24" name="b1:tier4"/>
          <p:cNvSpPr txBox="1"/>
          <p:nvPr/>
        </p:nvSpPr>
        <p:spPr>
          <a:xfrm>
            <a:off x="3200400" y="2770632"/>
            <a:ext cx="1554480" cy="256032"/>
          </a:xfrm>
          <a:prstGeom prst="roundRect">
            <a:avLst>
              <a:gd name="adj" fmla="val 21429"/>
            </a:avLst>
          </a:prstGeom>
          <a:solidFill>
            <a:srgbClr val="FDAD00"/>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Consequential</a:t>
            </a:r>
            <a:endParaRPr lang="en-US" sz="1600" dirty="0"/>
          </a:p>
        </p:txBody>
      </p:sp>
      <p:sp>
        <p:nvSpPr>
          <p:cNvPr id="25" name="Text 22"/>
          <p:cNvSpPr txBox="1"/>
          <p:nvPr/>
        </p:nvSpPr>
        <p:spPr>
          <a:xfrm>
            <a:off x="4892040" y="2642616"/>
            <a:ext cx="2915717" cy="512064"/>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Behind the permission prompt; the policy decides, not the model</a:t>
            </a:r>
            <a:endParaRPr lang="en-US" sz="1600" dirty="0"/>
          </a:p>
        </p:txBody>
      </p:sp>
      <p:sp>
        <p:nvSpPr>
          <p:cNvPr id="26" name="Shape 23"/>
          <p:cNvSpPr/>
          <p:nvPr/>
        </p:nvSpPr>
        <p:spPr>
          <a:xfrm>
            <a:off x="731520" y="3182112"/>
            <a:ext cx="7076237" cy="0"/>
          </a:xfrm>
          <a:prstGeom prst="line">
            <a:avLst/>
          </a:prstGeom>
          <a:noFill/>
          <a:ln w="12700">
            <a:solidFill>
              <a:srgbClr val="303236"/>
            </a:solidFill>
            <a:prstDash val="solid"/>
          </a:ln>
        </p:spPr>
      </p:sp>
      <p:sp>
        <p:nvSpPr>
          <p:cNvPr id="27" name="Text 24"/>
          <p:cNvSpPr txBox="1"/>
          <p:nvPr/>
        </p:nvSpPr>
        <p:spPr>
          <a:xfrm>
            <a:off x="731520" y="3182112"/>
            <a:ext cx="2468880" cy="566928"/>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Push, or open</a:t>
            </a:r>
            <a:endParaRPr lang="en-US" sz="1600" dirty="0"/>
          </a:p>
          <a:p>
            <a:pPr algn="l" indent="0" marL="0">
              <a:lnSpc>
                <a:spcPct val="110000"/>
              </a:lnSpc>
              <a:buNone/>
            </a:pPr>
            <a:r>
              <a:rPr lang="en-US" sz="1600" dirty="0">
                <a:solidFill>
                  <a:srgbClr val="FFFCF5"/>
                </a:solidFill>
                <a:latin typeface="Menlo" pitchFamily="34" charset="0"/>
                <a:ea typeface="Menlo" pitchFamily="34" charset="-122"/>
                <a:cs typeface="Menlo" pitchFamily="34" charset="-120"/>
              </a:rPr>
              <a:t>a pull request</a:t>
            </a:r>
            <a:endParaRPr lang="en-US" sz="1600" dirty="0"/>
          </a:p>
        </p:txBody>
      </p:sp>
      <p:sp>
        <p:nvSpPr>
          <p:cNvPr id="28" name="b1:tier5"/>
          <p:cNvSpPr txBox="1"/>
          <p:nvPr/>
        </p:nvSpPr>
        <p:spPr>
          <a:xfrm>
            <a:off x="3200400" y="3236976"/>
            <a:ext cx="1554480" cy="457200"/>
          </a:xfrm>
          <a:prstGeom prst="roundRect">
            <a:avLst>
              <a:gd name="adj" fmla="val 12000"/>
            </a:avLst>
          </a:prstGeom>
          <a:solidFill>
            <a:srgbClr val="FDAD00"/>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External</a:t>
            </a:r>
            <a:endParaRPr lang="en-US" sz="1600" dirty="0"/>
          </a:p>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communication</a:t>
            </a:r>
            <a:endParaRPr lang="en-US" sz="1600" dirty="0"/>
          </a:p>
        </p:txBody>
      </p:sp>
      <p:sp>
        <p:nvSpPr>
          <p:cNvPr id="29" name="Text 26"/>
          <p:cNvSpPr txBox="1"/>
          <p:nvPr/>
        </p:nvSpPr>
        <p:spPr>
          <a:xfrm>
            <a:off x="4892040" y="3209544"/>
            <a:ext cx="2915717" cy="512064"/>
          </a:xfrm>
          <a:prstGeom prst="rect">
            <a:avLst/>
          </a:prstGeom>
          <a:noFill/>
          <a:ln/>
        </p:spPr>
        <p:txBody>
          <a:bodyPr wrap="square" lIns="0" tIns="0" rIns="0" bIns="0" rtlCol="0" anchor="ctr"/>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An outbound channel; see slide 13</a:t>
            </a:r>
            <a:endParaRPr lang="en-US" sz="1600" dirty="0"/>
          </a:p>
        </p:txBody>
      </p:sp>
      <p:sp>
        <p:nvSpPr>
          <p:cNvPr id="30" name="Shape 27"/>
          <p:cNvSpPr/>
          <p:nvPr/>
        </p:nvSpPr>
        <p:spPr>
          <a:xfrm>
            <a:off x="731520" y="3749040"/>
            <a:ext cx="7076237" cy="0"/>
          </a:xfrm>
          <a:prstGeom prst="line">
            <a:avLst/>
          </a:prstGeom>
          <a:noFill/>
          <a:ln w="12700">
            <a:solidFill>
              <a:srgbClr val="303236"/>
            </a:solidFill>
            <a:prstDash val="solid"/>
          </a:ln>
        </p:spPr>
      </p:sp>
      <p:sp>
        <p:nvSpPr>
          <p:cNvPr id="31" name="Text 28"/>
          <p:cNvSpPr txBox="1"/>
          <p:nvPr/>
        </p:nvSpPr>
        <p:spPr>
          <a:xfrm>
            <a:off x="731520" y="3931920"/>
            <a:ext cx="7076237" cy="2103120"/>
          </a:xfrm>
          <a:prstGeom prst="rect">
            <a:avLst/>
          </a:prstGeom>
          <a:noFill/>
          <a:ln/>
        </p:spPr>
        <p:txBody>
          <a:bodyPr wrap="square" lIns="0" tIns="0" rIns="0" bIns="0" rtlCol="0" anchor="t"/>
          <a:lstStyle/>
          <a:p>
            <a:pPr marL="279400" indent="-279400">
              <a:lnSpc>
                <a:spcPct val="110000"/>
              </a:lnSpc>
              <a:spcAft>
                <a:spcPts val="4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A tool is </a:t>
            </a:r>
            <a:r>
              <a:rPr lang="en-US" sz="1800" i="1" dirty="0">
                <a:solidFill>
                  <a:srgbClr val="FFFCF5"/>
                </a:solidFill>
                <a:latin typeface="Helvetica Neue" pitchFamily="34" charset="0"/>
                <a:ea typeface="Helvetica Neue" pitchFamily="34" charset="-122"/>
                <a:cs typeface="Helvetica Neue" pitchFamily="34" charset="-120"/>
              </a:rPr>
              <a:t>"a contract between deterministic systems and non-deterministic agents."</a:t>
            </a:r>
            <a:r>
              <a:rPr lang="en-US" sz="1800" dirty="0">
                <a:solidFill>
                  <a:srgbClr val="FFFCF5"/>
                </a:solidFill>
                <a:latin typeface="Helvetica Neue" pitchFamily="34" charset="0"/>
                <a:ea typeface="Helvetica Neue" pitchFamily="34" charset="-122"/>
                <a:cs typeface="Helvetica Neue" pitchFamily="34" charset="-120"/>
              </a:rPr>
              <a:t> MCP is how tools ship.</a:t>
            </a:r>
            <a:endParaRPr lang="en-US" sz="1800" dirty="0"/>
          </a:p>
          <a:p>
            <a:pPr marL="279400" indent="-279400">
              <a:lnSpc>
                <a:spcPct val="110000"/>
              </a:lnSpc>
              <a:spcAft>
                <a:spcPts val="4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Read-only. Reversible. Consequential. A policy layer decides, not the prompt.</a:t>
            </a:r>
            <a:endParaRPr lang="en-US" sz="1800" dirty="0"/>
          </a:p>
          <a:p>
            <a:pPr marL="279400" indent="-279400">
              <a:lnSpc>
                <a:spcPct val="110000"/>
              </a:lnSpc>
              <a:buSzPct val="100000"/>
              <a:buChar char="•"/>
            </a:pPr>
            <a:r>
              <a:rPr lang="en-US" sz="1800" dirty="0">
                <a:solidFill>
                  <a:srgbClr val="FFFCF5"/>
                </a:solidFill>
                <a:latin typeface="Helvetica Neue" pitchFamily="34" charset="0"/>
                <a:ea typeface="Helvetica Neue" pitchFamily="34" charset="-122"/>
                <a:cs typeface="Helvetica Neue" pitchFamily="34" charset="-120"/>
              </a:rPr>
              <a:t>Sandbox: filesystem confinement, egress allowlist, credentials never inside.</a:t>
            </a:r>
            <a:endParaRPr lang="en-US" sz="1800" dirty="0"/>
          </a:p>
        </p:txBody>
      </p:sp>
      <p:sp>
        <p:nvSpPr>
          <p:cNvPr id="32" name="Text 29"/>
          <p:cNvSpPr txBox="1"/>
          <p:nvPr/>
        </p:nvSpPr>
        <p:spPr>
          <a:xfrm>
            <a:off x="8879586" y="1508760"/>
            <a:ext cx="1737360" cy="457200"/>
          </a:xfrm>
          <a:prstGeom prst="roundRect">
            <a:avLst>
              <a:gd name="adj" fmla="val 12000"/>
            </a:avLst>
          </a:prstGeom>
          <a:solidFill>
            <a:srgbClr val="FDAD00"/>
          </a:solidFill>
          <a:ln/>
        </p:spPr>
        <p:txBody>
          <a:bodyPr wrap="square" lIns="508" tIns="508" rIns="508" bIns="508" rtlCol="0" anchor="ctr"/>
          <a:lstStyle/>
          <a:p>
            <a:pPr algn="ctr" indent="0" marL="0">
              <a:lnSpc>
                <a:spcPct val="110000"/>
              </a:lnSpc>
              <a:buNone/>
            </a:pPr>
            <a:r>
              <a:rPr lang="en-US" sz="1800" b="1" dirty="0">
                <a:solidFill>
                  <a:srgbClr val="14161C"/>
                </a:solidFill>
                <a:latin typeface="Helvetica Neue" pitchFamily="34" charset="0"/>
                <a:ea typeface="Helvetica Neue" pitchFamily="34" charset="-122"/>
                <a:cs typeface="Helvetica Neue" pitchFamily="34" charset="-120"/>
              </a:rPr>
              <a:t>Model</a:t>
            </a:r>
            <a:endParaRPr lang="en-US" sz="1800" dirty="0"/>
          </a:p>
        </p:txBody>
      </p:sp>
      <p:sp>
        <p:nvSpPr>
          <p:cNvPr id="33" name="Shape 30"/>
          <p:cNvSpPr/>
          <p:nvPr/>
        </p:nvSpPr>
        <p:spPr>
          <a:xfrm>
            <a:off x="9748266" y="1965960"/>
            <a:ext cx="0" cy="1600200"/>
          </a:xfrm>
          <a:prstGeom prst="line">
            <a:avLst/>
          </a:prstGeom>
          <a:noFill/>
          <a:ln w="25400">
            <a:solidFill>
              <a:srgbClr val="A1A09E"/>
            </a:solidFill>
            <a:prstDash val="solid"/>
            <a:tailEnd type="triangle"/>
          </a:ln>
        </p:spPr>
      </p:sp>
      <p:sp>
        <p:nvSpPr>
          <p:cNvPr id="34" name="Text 31"/>
          <p:cNvSpPr txBox="1"/>
          <p:nvPr/>
        </p:nvSpPr>
        <p:spPr>
          <a:xfrm>
            <a:off x="8879586" y="3566160"/>
            <a:ext cx="1737360" cy="457200"/>
          </a:xfrm>
          <a:prstGeom prst="roundRect">
            <a:avLst>
              <a:gd name="adj" fmla="val 12000"/>
            </a:avLst>
          </a:prstGeom>
          <a:solidFill>
            <a:srgbClr val="1064F8"/>
          </a:solidFill>
          <a:ln/>
        </p:spPr>
        <p:txBody>
          <a:bodyPr wrap="square" lIns="508" tIns="508" rIns="508" bIns="508" rtlCol="0" anchor="ctr"/>
          <a:lstStyle/>
          <a:p>
            <a:pPr algn="ctr" indent="0" marL="0">
              <a:lnSpc>
                <a:spcPct val="110000"/>
              </a:lnSpc>
              <a:buNone/>
            </a:pPr>
            <a:r>
              <a:rPr lang="en-US" sz="1800" b="1" dirty="0">
                <a:solidFill>
                  <a:srgbClr val="FFFCF5"/>
                </a:solidFill>
                <a:latin typeface="Helvetica Neue" pitchFamily="34" charset="0"/>
                <a:ea typeface="Helvetica Neue" pitchFamily="34" charset="-122"/>
                <a:cs typeface="Helvetica Neue" pitchFamily="34" charset="-120"/>
              </a:rPr>
              <a:t>Tools</a:t>
            </a:r>
            <a:endParaRPr lang="en-US" sz="1800" dirty="0"/>
          </a:p>
        </p:txBody>
      </p:sp>
      <p:sp>
        <p:nvSpPr>
          <p:cNvPr id="35" name="b2:policy"/>
          <p:cNvSpPr/>
          <p:nvPr/>
        </p:nvSpPr>
        <p:spPr>
          <a:xfrm>
            <a:off x="8513826" y="2468880"/>
            <a:ext cx="2468880" cy="548640"/>
          </a:xfrm>
          <a:prstGeom prst="roundRect">
            <a:avLst>
              <a:gd name="adj" fmla="val 10000"/>
            </a:avLst>
          </a:prstGeom>
          <a:solidFill>
            <a:srgbClr val="1C1F27"/>
          </a:solidFill>
          <a:ln w="25400">
            <a:solidFill>
              <a:srgbClr val="01B66D"/>
            </a:solidFill>
            <a:prstDash val="solid"/>
          </a:ln>
        </p:spPr>
      </p:sp>
      <p:sp>
        <p:nvSpPr>
          <p:cNvPr id="36" name="b2:policy-t"/>
          <p:cNvSpPr txBox="1"/>
          <p:nvPr/>
        </p:nvSpPr>
        <p:spPr>
          <a:xfrm>
            <a:off x="8513826" y="2468880"/>
            <a:ext cx="2468880" cy="548640"/>
          </a:xfrm>
          <a:prstGeom prst="rect">
            <a:avLst/>
          </a:prstGeom>
          <a:noFill/>
          <a:ln/>
        </p:spPr>
        <p:txBody>
          <a:bodyPr wrap="square" lIns="0" tIns="0" rIns="0" bIns="0" rtlCol="0" anchor="ctr"/>
          <a:lstStyle/>
          <a:p>
            <a:pPr algn="ctr" indent="0" marL="0">
              <a:lnSpc>
                <a:spcPct val="120000"/>
              </a:lnSpc>
              <a:buNone/>
            </a:pPr>
            <a:r>
              <a:rPr lang="en-US" sz="1800" b="1" dirty="0">
                <a:solidFill>
                  <a:srgbClr val="01B66D"/>
                </a:solidFill>
                <a:latin typeface="Helvetica Neue" pitchFamily="34" charset="0"/>
                <a:ea typeface="Helvetica Neue" pitchFamily="34" charset="-122"/>
                <a:cs typeface="Helvetica Neue" pitchFamily="34" charset="-120"/>
              </a:rPr>
              <a:t>permission system</a:t>
            </a:r>
            <a:endParaRPr lang="en-US" sz="1800" dirty="0"/>
          </a:p>
        </p:txBody>
      </p:sp>
      <p:sp>
        <p:nvSpPr>
          <p:cNvPr id="37" name="b2:sandbox"/>
          <p:cNvSpPr/>
          <p:nvPr/>
        </p:nvSpPr>
        <p:spPr>
          <a:xfrm>
            <a:off x="8310677" y="1234440"/>
            <a:ext cx="2875178" cy="3063240"/>
          </a:xfrm>
          <a:prstGeom prst="roundRect">
            <a:avLst>
              <a:gd name="adj" fmla="val 3180"/>
            </a:avLst>
          </a:prstGeom>
          <a:ln w="25400">
            <a:solidFill>
              <a:srgbClr val="FFFCF5"/>
            </a:solidFill>
            <a:prstDash val="dash"/>
          </a:ln>
        </p:spPr>
      </p:sp>
      <p:sp>
        <p:nvSpPr>
          <p:cNvPr id="38" name="b2:sandbox-l"/>
          <p:cNvSpPr txBox="1"/>
          <p:nvPr/>
        </p:nvSpPr>
        <p:spPr>
          <a:xfrm>
            <a:off x="8447837" y="3931920"/>
            <a:ext cx="1371600"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sandbox</a:t>
            </a:r>
            <a:endParaRPr lang="en-US" sz="1600" dirty="0"/>
          </a:p>
        </p:txBody>
      </p:sp>
      <p:sp>
        <p:nvSpPr>
          <p:cNvPr id="39" name="b2:egress"/>
          <p:cNvSpPr/>
          <p:nvPr/>
        </p:nvSpPr>
        <p:spPr>
          <a:xfrm>
            <a:off x="9748266" y="4297680"/>
            <a:ext cx="0" cy="502920"/>
          </a:xfrm>
          <a:prstGeom prst="line">
            <a:avLst/>
          </a:prstGeom>
          <a:noFill/>
          <a:ln w="25400">
            <a:solidFill>
              <a:srgbClr val="A1A09E"/>
            </a:solidFill>
            <a:prstDash val="solid"/>
            <a:tailEnd type="triangle"/>
          </a:ln>
        </p:spPr>
      </p:sp>
      <p:sp>
        <p:nvSpPr>
          <p:cNvPr id="40" name="b2:egress-l"/>
          <p:cNvSpPr txBox="1"/>
          <p:nvPr/>
        </p:nvSpPr>
        <p:spPr>
          <a:xfrm>
            <a:off x="9885426" y="4407408"/>
            <a:ext cx="182880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egress allowlist</a:t>
            </a:r>
            <a:endParaRPr lang="en-US" sz="1600" dirty="0"/>
          </a:p>
        </p:txBody>
      </p:sp>
      <p:pic>
        <p:nvPicPr>
          <p:cNvPr id="41" name="b2:key" descr="preencoded.png">    </p:cNvPr>
          <p:cNvPicPr>
            <a:picLocks noChangeAspect="1"/>
          </p:cNvPicPr>
          <p:nvPr/>
        </p:nvPicPr>
        <p:blipFill>
          <a:blip r:embed="rId1"/>
          <a:stretch>
            <a:fillRect/>
          </a:stretch>
        </p:blipFill>
        <p:spPr>
          <a:xfrm>
            <a:off x="8539277" y="4983480"/>
            <a:ext cx="411480" cy="411480"/>
          </a:xfrm>
          <a:prstGeom prst="rect">
            <a:avLst/>
          </a:prstGeom>
        </p:spPr>
      </p:pic>
      <p:sp>
        <p:nvSpPr>
          <p:cNvPr id="42" name="b2:key-l"/>
          <p:cNvSpPr txBox="1"/>
          <p:nvPr/>
        </p:nvSpPr>
        <p:spPr>
          <a:xfrm>
            <a:off x="9087917" y="4937760"/>
            <a:ext cx="2286000" cy="5029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credentials never enter</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4" grpId="0" animBg="1"/>
      <p:bldP spid="17" grpId="0" animBg="1"/>
      <p:bldP spid="20" grpId="0" animBg="1"/>
      <p:bldP spid="24" grpId="0" animBg="1"/>
      <p:bldP spid="28" grpId="0" animBg="1"/>
      <p:bldP spid="35" grpId="0" animBg="1"/>
      <p:bldP spid="36" grpId="0" animBg="1"/>
      <p:bldP spid="37" grpId="0" animBg="1"/>
      <p:bldP spid="38" grpId="0" animBg="1"/>
      <p:bldP spid="39" grpId="0" animBg="1"/>
      <p:bldP spid="40"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9</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Verification decides this action, now. Evaluation estimates the rate.</a:t>
            </a:r>
            <a:endParaRPr lang="en-US" sz="3600" dirty="0"/>
          </a:p>
        </p:txBody>
      </p:sp>
      <p:sp>
        <p:nvSpPr>
          <p:cNvPr id="6" name="Shape 3"/>
          <p:cNvSpPr/>
          <p:nvPr/>
        </p:nvSpPr>
        <p:spPr>
          <a:xfrm>
            <a:off x="731520" y="1737360"/>
            <a:ext cx="5250028" cy="2651760"/>
          </a:xfrm>
          <a:prstGeom prst="roundRect">
            <a:avLst>
              <a:gd name="adj" fmla="val 2069"/>
            </a:avLst>
          </a:prstGeom>
          <a:solidFill>
            <a:srgbClr val="1C1F27"/>
          </a:solidFill>
          <a:ln w="12700">
            <a:solidFill>
              <a:srgbClr val="303236"/>
            </a:solidFill>
            <a:prstDash val="solid"/>
          </a:ln>
        </p:spPr>
      </p:sp>
      <p:sp>
        <p:nvSpPr>
          <p:cNvPr id="7" name="Shape 4"/>
          <p:cNvSpPr/>
          <p:nvPr/>
        </p:nvSpPr>
        <p:spPr>
          <a:xfrm>
            <a:off x="3356534" y="1920240"/>
            <a:ext cx="0" cy="2286000"/>
          </a:xfrm>
          <a:prstGeom prst="line">
            <a:avLst/>
          </a:prstGeom>
          <a:noFill/>
          <a:ln w="12700">
            <a:solidFill>
              <a:srgbClr val="303236"/>
            </a:solidFill>
            <a:prstDash val="solid"/>
          </a:ln>
        </p:spPr>
      </p:sp>
      <p:sp>
        <p:nvSpPr>
          <p:cNvPr id="8" name="Text 5"/>
          <p:cNvSpPr txBox="1"/>
          <p:nvPr/>
        </p:nvSpPr>
        <p:spPr>
          <a:xfrm>
            <a:off x="960120" y="1920240"/>
            <a:ext cx="2259254" cy="365760"/>
          </a:xfrm>
          <a:prstGeom prst="rect">
            <a:avLst/>
          </a:prstGeom>
          <a:noFill/>
          <a:ln/>
        </p:spPr>
        <p:txBody>
          <a:bodyPr wrap="square" lIns="0" tIns="0" rIns="0" bIns="0" rtlCol="0" anchor="t"/>
          <a:lstStyle/>
          <a:p>
            <a:pPr algn="l" indent="0" marL="0">
              <a:lnSpc>
                <a:spcPct val="120000"/>
              </a:lnSpc>
              <a:buNone/>
            </a:pPr>
            <a:r>
              <a:rPr lang="en-US" sz="2400" b="1" dirty="0">
                <a:solidFill>
                  <a:srgbClr val="1064F8"/>
                </a:solidFill>
                <a:latin typeface="Helvetica Neue" pitchFamily="34" charset="0"/>
                <a:ea typeface="Helvetica Neue" pitchFamily="34" charset="-122"/>
                <a:cs typeface="Helvetica Neue" pitchFamily="34" charset="-120"/>
              </a:rPr>
              <a:t>Verification</a:t>
            </a:r>
            <a:endParaRPr lang="en-US" sz="2400" dirty="0"/>
          </a:p>
        </p:txBody>
      </p:sp>
      <p:sp>
        <p:nvSpPr>
          <p:cNvPr id="9" name="Text 6"/>
          <p:cNvSpPr txBox="1"/>
          <p:nvPr/>
        </p:nvSpPr>
        <p:spPr>
          <a:xfrm>
            <a:off x="960120" y="2377440"/>
            <a:ext cx="2259254" cy="18288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One action</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Before it takes effect</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Inside the loop</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Failure cost: the action itself</a:t>
            </a:r>
            <a:endParaRPr lang="en-US" sz="1600" dirty="0"/>
          </a:p>
        </p:txBody>
      </p:sp>
      <p:sp>
        <p:nvSpPr>
          <p:cNvPr id="10" name="Text 7"/>
          <p:cNvSpPr txBox="1"/>
          <p:nvPr/>
        </p:nvSpPr>
        <p:spPr>
          <a:xfrm>
            <a:off x="3539414" y="1920240"/>
            <a:ext cx="2259254" cy="365760"/>
          </a:xfrm>
          <a:prstGeom prst="rect">
            <a:avLst/>
          </a:prstGeom>
          <a:noFill/>
          <a:ln/>
        </p:spPr>
        <p:txBody>
          <a:bodyPr wrap="square" lIns="0" tIns="0" rIns="0" bIns="0" rtlCol="0" anchor="t"/>
          <a:lstStyle/>
          <a:p>
            <a:pPr algn="l" indent="0" marL="0">
              <a:lnSpc>
                <a:spcPct val="120000"/>
              </a:lnSpc>
              <a:buNone/>
            </a:pPr>
            <a:r>
              <a:rPr lang="en-US" sz="2400" b="1" dirty="0">
                <a:solidFill>
                  <a:srgbClr val="01B66D"/>
                </a:solidFill>
                <a:latin typeface="Helvetica Neue" pitchFamily="34" charset="0"/>
                <a:ea typeface="Helvetica Neue" pitchFamily="34" charset="-122"/>
                <a:cs typeface="Helvetica Neue" pitchFamily="34" charset="-120"/>
              </a:rPr>
              <a:t>Evaluation</a:t>
            </a:r>
            <a:endParaRPr lang="en-US" sz="2400" dirty="0"/>
          </a:p>
        </p:txBody>
      </p:sp>
      <p:sp>
        <p:nvSpPr>
          <p:cNvPr id="11" name="Text 8"/>
          <p:cNvSpPr txBox="1"/>
          <p:nvPr/>
        </p:nvSpPr>
        <p:spPr>
          <a:xfrm>
            <a:off x="3539414" y="2377440"/>
            <a:ext cx="2259254" cy="1828800"/>
          </a:xfrm>
          <a:prstGeom prst="rect">
            <a:avLst/>
          </a:prstGeom>
          <a:noFill/>
          <a:ln/>
        </p:spPr>
        <p:txBody>
          <a:bodyPr wrap="square" lIns="0" tIns="0" rIns="0" bIns="0" rtlCol="0" anchor="t"/>
          <a:lstStyle/>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Many cases</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Before and after a change</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Outside the loop</a:t>
            </a:r>
            <a:endParaRPr lang="en-US" sz="1600" dirty="0"/>
          </a:p>
          <a:p>
            <a:pPr algn="l" indent="0" marL="0">
              <a:lnSpc>
                <a:spcPct val="130000"/>
              </a:lnSpc>
              <a:buNone/>
            </a:pPr>
            <a:r>
              <a:rPr lang="en-US" sz="1600" dirty="0">
                <a:solidFill>
                  <a:srgbClr val="FFFCF5"/>
                </a:solidFill>
                <a:latin typeface="Helvetica Neue" pitchFamily="34" charset="0"/>
                <a:ea typeface="Helvetica Neue" pitchFamily="34" charset="-122"/>
                <a:cs typeface="Helvetica Neue" pitchFamily="34" charset="-120"/>
              </a:rPr>
              <a:t>Failure cost: a bad release</a:t>
            </a:r>
            <a:endParaRPr lang="en-US" sz="1600" dirty="0"/>
          </a:p>
        </p:txBody>
      </p:sp>
      <p:sp>
        <p:nvSpPr>
          <p:cNvPr id="12" name="Shape 9"/>
          <p:cNvSpPr/>
          <p:nvPr/>
        </p:nvSpPr>
        <p:spPr>
          <a:xfrm>
            <a:off x="6484468" y="1737360"/>
            <a:ext cx="0" cy="2651760"/>
          </a:xfrm>
          <a:prstGeom prst="line">
            <a:avLst/>
          </a:prstGeom>
          <a:noFill/>
          <a:ln w="25400">
            <a:solidFill>
              <a:srgbClr val="A1A09E"/>
            </a:solidFill>
            <a:prstDash val="solid"/>
          </a:ln>
        </p:spPr>
      </p:sp>
      <p:sp>
        <p:nvSpPr>
          <p:cNvPr id="13" name="Shape 10"/>
          <p:cNvSpPr/>
          <p:nvPr/>
        </p:nvSpPr>
        <p:spPr>
          <a:xfrm>
            <a:off x="10774375" y="1737360"/>
            <a:ext cx="0" cy="2651760"/>
          </a:xfrm>
          <a:prstGeom prst="line">
            <a:avLst/>
          </a:prstGeom>
          <a:noFill/>
          <a:ln w="25400">
            <a:solidFill>
              <a:srgbClr val="A1A09E"/>
            </a:solidFill>
            <a:prstDash val="solid"/>
          </a:ln>
        </p:spPr>
      </p:sp>
      <p:sp>
        <p:nvSpPr>
          <p:cNvPr id="14" name="b1:rung0"/>
          <p:cNvSpPr/>
          <p:nvPr/>
        </p:nvSpPr>
        <p:spPr>
          <a:xfrm>
            <a:off x="6621628" y="1965960"/>
            <a:ext cx="4015588" cy="402336"/>
          </a:xfrm>
          <a:prstGeom prst="roundRect">
            <a:avLst>
              <a:gd name="adj" fmla="val 13636"/>
            </a:avLst>
          </a:prstGeom>
          <a:solidFill>
            <a:srgbClr val="1C1F27"/>
          </a:solidFill>
          <a:ln w="12700">
            <a:solidFill>
              <a:srgbClr val="303236"/>
            </a:solidFill>
            <a:prstDash val="solid"/>
          </a:ln>
        </p:spPr>
      </p:sp>
      <p:sp>
        <p:nvSpPr>
          <p:cNvPr id="15" name="b1:rung-t0"/>
          <p:cNvSpPr txBox="1"/>
          <p:nvPr/>
        </p:nvSpPr>
        <p:spPr>
          <a:xfrm>
            <a:off x="6621628" y="1965960"/>
            <a:ext cx="4015588" cy="402336"/>
          </a:xfrm>
          <a:prstGeom prst="rect">
            <a:avLst/>
          </a:prstGeom>
          <a:noFill/>
          <a:ln/>
        </p:spPr>
        <p:txBody>
          <a:bodyPr wrap="square" lIns="0" tIns="0" rIns="0" bIns="0" rtlCol="0" anchor="ctr"/>
          <a:lstStyle/>
          <a:p>
            <a:pPr algn="ctr"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Deterministic checks and tests</a:t>
            </a:r>
            <a:endParaRPr lang="en-US" sz="1600" dirty="0"/>
          </a:p>
        </p:txBody>
      </p:sp>
      <p:sp>
        <p:nvSpPr>
          <p:cNvPr id="16" name="b2:rung1"/>
          <p:cNvSpPr/>
          <p:nvPr/>
        </p:nvSpPr>
        <p:spPr>
          <a:xfrm>
            <a:off x="6621628" y="2532888"/>
            <a:ext cx="4015588" cy="402336"/>
          </a:xfrm>
          <a:prstGeom prst="roundRect">
            <a:avLst>
              <a:gd name="adj" fmla="val 13636"/>
            </a:avLst>
          </a:prstGeom>
          <a:solidFill>
            <a:srgbClr val="1C1F27"/>
          </a:solidFill>
          <a:ln w="12700">
            <a:solidFill>
              <a:srgbClr val="303236"/>
            </a:solidFill>
            <a:prstDash val="solid"/>
          </a:ln>
        </p:spPr>
      </p:sp>
      <p:sp>
        <p:nvSpPr>
          <p:cNvPr id="17" name="b2:rung-t1"/>
          <p:cNvSpPr txBox="1"/>
          <p:nvPr/>
        </p:nvSpPr>
        <p:spPr>
          <a:xfrm>
            <a:off x="6621628" y="2532888"/>
            <a:ext cx="4015588" cy="402336"/>
          </a:xfrm>
          <a:prstGeom prst="rect">
            <a:avLst/>
          </a:prstGeom>
          <a:noFill/>
          <a:ln/>
        </p:spPr>
        <p:txBody>
          <a:bodyPr wrap="square" lIns="0" tIns="0" rIns="0" bIns="0" rtlCol="0" anchor="ctr"/>
          <a:lstStyle/>
          <a:p>
            <a:pPr algn="ctr"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External evidence and end state</a:t>
            </a:r>
            <a:endParaRPr lang="en-US" sz="1600" dirty="0"/>
          </a:p>
        </p:txBody>
      </p:sp>
      <p:sp>
        <p:nvSpPr>
          <p:cNvPr id="18" name="b3:rung2"/>
          <p:cNvSpPr/>
          <p:nvPr/>
        </p:nvSpPr>
        <p:spPr>
          <a:xfrm>
            <a:off x="6621628" y="3099816"/>
            <a:ext cx="4015588" cy="402336"/>
          </a:xfrm>
          <a:prstGeom prst="roundRect">
            <a:avLst>
              <a:gd name="adj" fmla="val 13636"/>
            </a:avLst>
          </a:prstGeom>
          <a:solidFill>
            <a:srgbClr val="1C1F27"/>
          </a:solidFill>
          <a:ln w="12700">
            <a:solidFill>
              <a:srgbClr val="303236"/>
            </a:solidFill>
            <a:prstDash val="solid"/>
          </a:ln>
        </p:spPr>
      </p:sp>
      <p:sp>
        <p:nvSpPr>
          <p:cNvPr id="19" name="b3:rung-t2"/>
          <p:cNvSpPr txBox="1"/>
          <p:nvPr/>
        </p:nvSpPr>
        <p:spPr>
          <a:xfrm>
            <a:off x="6621628" y="3099816"/>
            <a:ext cx="4015588" cy="402336"/>
          </a:xfrm>
          <a:prstGeom prst="rect">
            <a:avLst/>
          </a:prstGeom>
          <a:noFill/>
          <a:ln/>
        </p:spPr>
        <p:txBody>
          <a:bodyPr wrap="square" lIns="0" tIns="0" rIns="0" bIns="0" rtlCol="0" anchor="ctr"/>
          <a:lstStyle/>
          <a:p>
            <a:pPr algn="ctr"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Approval gates</a:t>
            </a:r>
            <a:endParaRPr lang="en-US" sz="1600" dirty="0"/>
          </a:p>
        </p:txBody>
      </p:sp>
      <p:sp>
        <p:nvSpPr>
          <p:cNvPr id="20" name="b4:rung3"/>
          <p:cNvSpPr/>
          <p:nvPr/>
        </p:nvSpPr>
        <p:spPr>
          <a:xfrm>
            <a:off x="6621628" y="3666744"/>
            <a:ext cx="4015588" cy="402336"/>
          </a:xfrm>
          <a:prstGeom prst="roundRect">
            <a:avLst>
              <a:gd name="adj" fmla="val 13636"/>
            </a:avLst>
          </a:prstGeom>
          <a:solidFill>
            <a:srgbClr val="1C1F27"/>
          </a:solidFill>
          <a:ln w="12700">
            <a:solidFill>
              <a:srgbClr val="303236"/>
            </a:solidFill>
            <a:prstDash val="solid"/>
          </a:ln>
        </p:spPr>
      </p:sp>
      <p:sp>
        <p:nvSpPr>
          <p:cNvPr id="21" name="b4:rung-t3"/>
          <p:cNvSpPr txBox="1"/>
          <p:nvPr/>
        </p:nvSpPr>
        <p:spPr>
          <a:xfrm>
            <a:off x="6621628" y="3666744"/>
            <a:ext cx="4015588" cy="402336"/>
          </a:xfrm>
          <a:prstGeom prst="rect">
            <a:avLst/>
          </a:prstGeom>
          <a:noFill/>
          <a:ln/>
        </p:spPr>
        <p:txBody>
          <a:bodyPr wrap="square" lIns="0" tIns="0" rIns="0" bIns="0" rtlCol="0" anchor="ctr"/>
          <a:lstStyle/>
          <a:p>
            <a:pPr algn="ctr"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Model judges, as evidence rather than proof</a:t>
            </a:r>
            <a:endParaRPr lang="en-US" sz="1600" dirty="0"/>
          </a:p>
        </p:txBody>
      </p:sp>
      <p:sp>
        <p:nvSpPr>
          <p:cNvPr id="22" name="Shape 19"/>
          <p:cNvSpPr/>
          <p:nvPr/>
        </p:nvSpPr>
        <p:spPr>
          <a:xfrm flipV="1">
            <a:off x="11140135" y="1828800"/>
            <a:ext cx="0" cy="2468880"/>
          </a:xfrm>
          <a:prstGeom prst="line">
            <a:avLst/>
          </a:prstGeom>
          <a:noFill/>
          <a:ln w="38100">
            <a:solidFill>
              <a:srgbClr val="F948BE"/>
            </a:solidFill>
            <a:prstDash val="solid"/>
            <a:tailEnd type="triangle"/>
          </a:ln>
        </p:spPr>
      </p:sp>
      <p:sp>
        <p:nvSpPr>
          <p:cNvPr id="23" name="Text 20"/>
          <p:cNvSpPr txBox="1"/>
          <p:nvPr/>
        </p:nvSpPr>
        <p:spPr>
          <a:xfrm rot="16200000">
            <a:off x="10838383" y="2926080"/>
            <a:ext cx="1005840" cy="274320"/>
          </a:xfrm>
          <a:prstGeom prst="rect">
            <a:avLst/>
          </a:prstGeom>
          <a:noFill/>
          <a:ln/>
        </p:spPr>
        <p:txBody>
          <a:bodyPr wrap="square" lIns="0" tIns="0" rIns="0" bIns="0" rtlCol="0" anchor="ctr"/>
          <a:lstStyle/>
          <a:p>
            <a:pPr algn="ctr" indent="0" marL="0">
              <a:lnSpc>
                <a:spcPct val="120000"/>
              </a:lnSpc>
              <a:buNone/>
            </a:pPr>
            <a:r>
              <a:rPr lang="en-US" sz="1600" b="1" dirty="0">
                <a:solidFill>
                  <a:srgbClr val="F948BE"/>
                </a:solidFill>
                <a:latin typeface="Helvetica Neue" pitchFamily="34" charset="0"/>
                <a:ea typeface="Helvetica Neue" pitchFamily="34" charset="-122"/>
                <a:cs typeface="Helvetica Neue" pitchFamily="34" charset="-120"/>
              </a:rPr>
              <a:t>trust</a:t>
            </a:r>
            <a:endParaRPr lang="en-US" sz="1600" dirty="0"/>
          </a:p>
        </p:txBody>
      </p:sp>
      <p:sp>
        <p:nvSpPr>
          <p:cNvPr id="24" name="Text 21"/>
          <p:cNvSpPr txBox="1"/>
          <p:nvPr/>
        </p:nvSpPr>
        <p:spPr>
          <a:xfrm>
            <a:off x="731520" y="4617720"/>
            <a:ext cx="10728655" cy="1828800"/>
          </a:xfrm>
          <a:prstGeom prst="rect">
            <a:avLst/>
          </a:prstGeom>
          <a:noFill/>
          <a:ln/>
        </p:spPr>
        <p:txBody>
          <a:bodyPr wrap="square" lIns="0" tIns="0" rIns="0" bIns="0" rtlCol="0" anchor="t"/>
          <a:lstStyle/>
          <a:p>
            <a:pPr marL="279400" indent="-279400">
              <a:lnSpc>
                <a:spcPct val="120000"/>
              </a:lnSpc>
              <a:spcAft>
                <a:spcPts val="6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Verifiers in order of trust: deterministic checks, external evidence and end state, approval gates, model judges as evidence.</a:t>
            </a:r>
            <a:endParaRPr lang="en-US" sz="1800" dirty="0"/>
          </a:p>
          <a:p>
            <a:pPr marL="279400" indent="-279400">
              <a:lnSpc>
                <a:spcPct val="120000"/>
              </a:lnSpc>
              <a:spcAft>
                <a:spcPts val="600"/>
              </a:spcAft>
              <a:buSzPct val="100000"/>
              <a:buChar char="•"/>
            </a:pPr>
            <a:r>
              <a:rPr lang="en-US" sz="1800" i="1" dirty="0">
                <a:solidFill>
                  <a:srgbClr val="FFFCF5"/>
                </a:solidFill>
                <a:latin typeface="Helvetica Neue" pitchFamily="34" charset="0"/>
                <a:ea typeface="Helvetica Neue" pitchFamily="34" charset="-122"/>
                <a:cs typeface="Helvetica Neue" pitchFamily="34" charset="-120"/>
              </a:rPr>
              <a:t>"Some tasks are much easier to verify than to solve."</a:t>
            </a:r>
            <a:r>
              <a:rPr lang="en-US" sz="1800" dirty="0">
                <a:solidFill>
                  <a:srgbClr val="FFFCF5"/>
                </a:solidFill>
                <a:latin typeface="Helvetica Neue" pitchFamily="34" charset="0"/>
                <a:ea typeface="Helvetica Neue" pitchFamily="34" charset="-122"/>
                <a:cs typeface="Helvetica Neue" pitchFamily="34" charset="-120"/>
              </a:rPr>
              <a:t> Design so checking is cheap.</a:t>
            </a:r>
            <a:endParaRPr lang="en-US" sz="1800" dirty="0"/>
          </a:p>
          <a:p>
            <a:pPr marL="279400" indent="-279400">
              <a:lnSpc>
                <a:spcPct val="120000"/>
              </a:lnSpc>
              <a:buSzPct val="100000"/>
              <a:buChar char="•"/>
            </a:pPr>
            <a:r>
              <a:rPr lang="en-US" sz="1800" dirty="0">
                <a:solidFill>
                  <a:srgbClr val="FFFCF5"/>
                </a:solidFill>
                <a:latin typeface="Helvetica Neue" pitchFamily="34" charset="0"/>
                <a:ea typeface="Helvetica Neue" pitchFamily="34" charset="-122"/>
                <a:cs typeface="Helvetica Neue" pitchFamily="34" charset="-120"/>
              </a:rPr>
              <a:t>Separate the agent doing the work from the agent judging it.</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10</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400" b="1" spc="-100" kern="0" dirty="0">
                <a:solidFill>
                  <a:srgbClr val="FFFCF5"/>
                </a:solidFill>
                <a:latin typeface="Helvetica Neue" pitchFamily="34" charset="0"/>
                <a:ea typeface="Helvetica Neue" pitchFamily="34" charset="-122"/>
                <a:cs typeface="Helvetica Neue" pitchFamily="34" charset="-120"/>
              </a:rPr>
              <a:t>The session ends before the task does. The harness is what carries it across.</a:t>
            </a:r>
            <a:endParaRPr lang="en-US" sz="3400" dirty="0"/>
          </a:p>
        </p:txBody>
      </p:sp>
      <p:sp>
        <p:nvSpPr>
          <p:cNvPr id="6" name="Text 3"/>
          <p:cNvSpPr txBox="1"/>
          <p:nvPr/>
        </p:nvSpPr>
        <p:spPr>
          <a:xfrm>
            <a:off x="7315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Task arrives</a:t>
            </a:r>
            <a:endParaRPr lang="en-US" sz="1600" dirty="0"/>
          </a:p>
        </p:txBody>
      </p:sp>
      <p:sp>
        <p:nvSpPr>
          <p:cNvPr id="7" name="Text 4"/>
          <p:cNvSpPr txBox="1"/>
          <p:nvPr/>
        </p:nvSpPr>
        <p:spPr>
          <a:xfrm>
            <a:off x="25603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Write the</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progress file</a:t>
            </a:r>
            <a:endParaRPr lang="en-US" sz="1600" dirty="0"/>
          </a:p>
        </p:txBody>
      </p:sp>
      <p:sp>
        <p:nvSpPr>
          <p:cNvPr id="8" name="Text 5"/>
          <p:cNvSpPr txBox="1"/>
          <p:nvPr/>
        </p:nvSpPr>
        <p:spPr>
          <a:xfrm>
            <a:off x="43891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Feature 1</a:t>
            </a:r>
            <a:endParaRPr lang="en-US" sz="1600" dirty="0"/>
          </a:p>
        </p:txBody>
      </p:sp>
      <p:sp>
        <p:nvSpPr>
          <p:cNvPr id="9" name="Text 6"/>
          <p:cNvSpPr txBox="1"/>
          <p:nvPr/>
        </p:nvSpPr>
        <p:spPr>
          <a:xfrm>
            <a:off x="62179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Tests pass</a:t>
            </a:r>
            <a:endParaRPr lang="en-US" sz="1600" dirty="0"/>
          </a:p>
        </p:txBody>
      </p:sp>
      <p:sp>
        <p:nvSpPr>
          <p:cNvPr id="10" name="Text 7"/>
          <p:cNvSpPr txBox="1"/>
          <p:nvPr/>
        </p:nvSpPr>
        <p:spPr>
          <a:xfrm>
            <a:off x="80467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Feature 2</a:t>
            </a:r>
            <a:endParaRPr lang="en-US" sz="1600" dirty="0"/>
          </a:p>
        </p:txBody>
      </p:sp>
      <p:sp>
        <p:nvSpPr>
          <p:cNvPr id="11" name="Text 8"/>
          <p:cNvSpPr txBox="1"/>
          <p:nvPr/>
        </p:nvSpPr>
        <p:spPr>
          <a:xfrm>
            <a:off x="9875520" y="1783080"/>
            <a:ext cx="1572768"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Tests pass</a:t>
            </a:r>
            <a:endParaRPr lang="en-US" sz="1600" dirty="0"/>
          </a:p>
        </p:txBody>
      </p:sp>
      <p:sp>
        <p:nvSpPr>
          <p:cNvPr id="12" name="Shape 9"/>
          <p:cNvSpPr/>
          <p:nvPr/>
        </p:nvSpPr>
        <p:spPr>
          <a:xfrm>
            <a:off x="2331720" y="2093976"/>
            <a:ext cx="201168" cy="0"/>
          </a:xfrm>
          <a:prstGeom prst="line">
            <a:avLst/>
          </a:prstGeom>
          <a:noFill/>
          <a:ln w="25400">
            <a:solidFill>
              <a:srgbClr val="A1A09E"/>
            </a:solidFill>
            <a:prstDash val="solid"/>
            <a:tailEnd type="triangle"/>
          </a:ln>
        </p:spPr>
      </p:sp>
      <p:sp>
        <p:nvSpPr>
          <p:cNvPr id="13" name="Shape 10"/>
          <p:cNvSpPr/>
          <p:nvPr/>
        </p:nvSpPr>
        <p:spPr>
          <a:xfrm>
            <a:off x="4160520" y="2093976"/>
            <a:ext cx="201168" cy="0"/>
          </a:xfrm>
          <a:prstGeom prst="line">
            <a:avLst/>
          </a:prstGeom>
          <a:noFill/>
          <a:ln w="25400">
            <a:solidFill>
              <a:srgbClr val="A1A09E"/>
            </a:solidFill>
            <a:prstDash val="solid"/>
            <a:tailEnd type="triangle"/>
          </a:ln>
        </p:spPr>
      </p:sp>
      <p:sp>
        <p:nvSpPr>
          <p:cNvPr id="14" name="Shape 11"/>
          <p:cNvSpPr/>
          <p:nvPr/>
        </p:nvSpPr>
        <p:spPr>
          <a:xfrm>
            <a:off x="5989320" y="2093976"/>
            <a:ext cx="201168" cy="0"/>
          </a:xfrm>
          <a:prstGeom prst="line">
            <a:avLst/>
          </a:prstGeom>
          <a:noFill/>
          <a:ln w="25400">
            <a:solidFill>
              <a:srgbClr val="A1A09E"/>
            </a:solidFill>
            <a:prstDash val="solid"/>
            <a:tailEnd type="triangle"/>
          </a:ln>
        </p:spPr>
      </p:sp>
      <p:sp>
        <p:nvSpPr>
          <p:cNvPr id="15" name="Shape 12"/>
          <p:cNvSpPr/>
          <p:nvPr/>
        </p:nvSpPr>
        <p:spPr>
          <a:xfrm>
            <a:off x="7818120" y="2093976"/>
            <a:ext cx="201168" cy="0"/>
          </a:xfrm>
          <a:prstGeom prst="line">
            <a:avLst/>
          </a:prstGeom>
          <a:noFill/>
          <a:ln w="25400">
            <a:solidFill>
              <a:srgbClr val="A1A09E"/>
            </a:solidFill>
            <a:prstDash val="solid"/>
            <a:tailEnd type="triangle"/>
          </a:ln>
        </p:spPr>
      </p:sp>
      <p:sp>
        <p:nvSpPr>
          <p:cNvPr id="16" name="Shape 13"/>
          <p:cNvSpPr/>
          <p:nvPr/>
        </p:nvSpPr>
        <p:spPr>
          <a:xfrm>
            <a:off x="9646920" y="2093976"/>
            <a:ext cx="201168" cy="0"/>
          </a:xfrm>
          <a:prstGeom prst="line">
            <a:avLst/>
          </a:prstGeom>
          <a:noFill/>
          <a:ln w="25400">
            <a:solidFill>
              <a:srgbClr val="A1A09E"/>
            </a:solidFill>
            <a:prstDash val="solid"/>
            <a:tailEnd type="triangle"/>
          </a:ln>
        </p:spPr>
      </p:sp>
      <p:sp>
        <p:nvSpPr>
          <p:cNvPr id="17" name="b1:end"/>
          <p:cNvSpPr txBox="1"/>
          <p:nvPr/>
        </p:nvSpPr>
        <p:spPr>
          <a:xfrm>
            <a:off x="10030968" y="1399032"/>
            <a:ext cx="1463040" cy="347472"/>
          </a:xfrm>
          <a:prstGeom prst="roundRect">
            <a:avLst>
              <a:gd name="adj" fmla="val 15789"/>
            </a:avLst>
          </a:prstGeom>
          <a:solidFill>
            <a:srgbClr val="F948BE"/>
          </a:solidFill>
          <a:ln w="19050">
            <a:solidFill>
              <a:srgbClr val="14161C"/>
            </a:solidFill>
            <a:prstDash val="solid"/>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Session ends</a:t>
            </a:r>
            <a:endParaRPr lang="en-US" sz="1600" dirty="0"/>
          </a:p>
        </p:txBody>
      </p:sp>
      <p:sp>
        <p:nvSpPr>
          <p:cNvPr id="18" name="b1:r2n0"/>
          <p:cNvSpPr txBox="1"/>
          <p:nvPr/>
        </p:nvSpPr>
        <p:spPr>
          <a:xfrm>
            <a:off x="731520" y="2880360"/>
            <a:ext cx="2011680"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New session reads</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the progress file</a:t>
            </a:r>
            <a:endParaRPr lang="en-US" sz="1600" dirty="0"/>
          </a:p>
        </p:txBody>
      </p:sp>
      <p:sp>
        <p:nvSpPr>
          <p:cNvPr id="19" name="b1:r2a0"/>
          <p:cNvSpPr/>
          <p:nvPr/>
        </p:nvSpPr>
        <p:spPr>
          <a:xfrm>
            <a:off x="2770632" y="3191256"/>
            <a:ext cx="135560" cy="0"/>
          </a:xfrm>
          <a:prstGeom prst="line">
            <a:avLst/>
          </a:prstGeom>
          <a:noFill/>
          <a:ln w="25400">
            <a:solidFill>
              <a:srgbClr val="A1A09E"/>
            </a:solidFill>
            <a:prstDash val="solid"/>
            <a:tailEnd type="triangle"/>
          </a:ln>
        </p:spPr>
      </p:sp>
      <p:sp>
        <p:nvSpPr>
          <p:cNvPr id="20" name="b1:r2n1"/>
          <p:cNvSpPr txBox="1"/>
          <p:nvPr/>
        </p:nvSpPr>
        <p:spPr>
          <a:xfrm>
            <a:off x="2933624" y="2880360"/>
            <a:ext cx="1828800"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Feature 3</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not 1 and 2 again</a:t>
            </a:r>
            <a:endParaRPr lang="en-US" sz="1600" dirty="0"/>
          </a:p>
        </p:txBody>
      </p:sp>
      <p:sp>
        <p:nvSpPr>
          <p:cNvPr id="21" name="b1:r2a1"/>
          <p:cNvSpPr/>
          <p:nvPr/>
        </p:nvSpPr>
        <p:spPr>
          <a:xfrm>
            <a:off x="4789856" y="3191256"/>
            <a:ext cx="135560" cy="0"/>
          </a:xfrm>
          <a:prstGeom prst="line">
            <a:avLst/>
          </a:prstGeom>
          <a:noFill/>
          <a:ln w="25400">
            <a:solidFill>
              <a:srgbClr val="A1A09E"/>
            </a:solidFill>
            <a:prstDash val="solid"/>
            <a:tailEnd type="triangle"/>
          </a:ln>
        </p:spPr>
      </p:sp>
      <p:sp>
        <p:nvSpPr>
          <p:cNvPr id="22" name="b1:r2n2"/>
          <p:cNvSpPr txBox="1"/>
          <p:nvPr/>
        </p:nvSpPr>
        <p:spPr>
          <a:xfrm>
            <a:off x="4952848" y="2880360"/>
            <a:ext cx="1828800" cy="621792"/>
          </a:xfrm>
          <a:prstGeom prst="roundRect">
            <a:avLst>
              <a:gd name="adj" fmla="val 8824"/>
            </a:avLst>
          </a:prstGeom>
          <a:solidFill>
            <a:srgbClr val="1064F8"/>
          </a:solidFill>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Open the pull</a:t>
            </a:r>
            <a:endParaRPr lang="en-US" sz="1600" dirty="0"/>
          </a:p>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request, once</a:t>
            </a:r>
            <a:endParaRPr lang="en-US" sz="1600" dirty="0"/>
          </a:p>
        </p:txBody>
      </p:sp>
      <p:sp>
        <p:nvSpPr>
          <p:cNvPr id="23" name="b1:r2a2"/>
          <p:cNvSpPr/>
          <p:nvPr/>
        </p:nvSpPr>
        <p:spPr>
          <a:xfrm>
            <a:off x="6809080" y="3191256"/>
            <a:ext cx="135560" cy="0"/>
          </a:xfrm>
          <a:prstGeom prst="line">
            <a:avLst/>
          </a:prstGeom>
          <a:noFill/>
          <a:ln w="25400">
            <a:solidFill>
              <a:srgbClr val="A1A09E"/>
            </a:solidFill>
            <a:prstDash val="solid"/>
            <a:tailEnd type="triangle"/>
          </a:ln>
        </p:spPr>
      </p:sp>
      <p:sp>
        <p:nvSpPr>
          <p:cNvPr id="24" name="b1:r2n3"/>
          <p:cNvSpPr txBox="1"/>
          <p:nvPr/>
        </p:nvSpPr>
        <p:spPr>
          <a:xfrm>
            <a:off x="6972071" y="2880360"/>
            <a:ext cx="2468880" cy="621792"/>
          </a:xfrm>
          <a:prstGeom prst="roundRect">
            <a:avLst>
              <a:gd name="adj" fmla="val 8824"/>
            </a:avLst>
          </a:prstGeom>
          <a:solidFill>
            <a:srgbClr val="FDAD00"/>
          </a:solidFill>
          <a:ln/>
        </p:spPr>
        <p:txBody>
          <a:bodyPr wrap="square" lIns="508" tIns="508" rIns="508" bIns="508" rtlCol="0" anchor="ctr"/>
          <a:lstStyle/>
          <a:p>
            <a:pPr algn="ctr" indent="0" marL="0">
              <a:lnSpc>
                <a:spcPct val="110000"/>
              </a:lnSpc>
              <a:buNone/>
            </a:pPr>
            <a:r>
              <a:rPr lang="en-US" sz="1600" dirty="0">
                <a:solidFill>
                  <a:srgbClr val="14161C"/>
                </a:solidFill>
                <a:latin typeface="Helvetica Neue" pitchFamily="34" charset="0"/>
                <a:ea typeface="Helvetica Neue" pitchFamily="34" charset="-122"/>
                <a:cs typeface="Helvetica Neue" pitchFamily="34" charset="-120"/>
              </a:rPr>
              <a:t>Wait for CI and review</a:t>
            </a:r>
            <a:endParaRPr lang="en-US" sz="1600" dirty="0"/>
          </a:p>
          <a:p>
            <a:pPr algn="ctr" indent="0" marL="0">
              <a:lnSpc>
                <a:spcPct val="110000"/>
              </a:lnSpc>
              <a:buNone/>
            </a:pPr>
            <a:r>
              <a:rPr lang="en-US" sz="1600" dirty="0">
                <a:solidFill>
                  <a:srgbClr val="14161C"/>
                </a:solidFill>
                <a:latin typeface="Helvetica Neue" pitchFamily="34" charset="0"/>
                <a:ea typeface="Helvetica Neue" pitchFamily="34" charset="-122"/>
                <a:cs typeface="Helvetica Neue" pitchFamily="34" charset="-120"/>
              </a:rPr>
              <a:t>durable wait, can take days</a:t>
            </a:r>
            <a:endParaRPr lang="en-US" sz="1600" dirty="0"/>
          </a:p>
        </p:txBody>
      </p:sp>
      <p:sp>
        <p:nvSpPr>
          <p:cNvPr id="25" name="b1:r2a3"/>
          <p:cNvSpPr/>
          <p:nvPr/>
        </p:nvSpPr>
        <p:spPr>
          <a:xfrm>
            <a:off x="9468383" y="3191256"/>
            <a:ext cx="135560" cy="0"/>
          </a:xfrm>
          <a:prstGeom prst="line">
            <a:avLst/>
          </a:prstGeom>
          <a:noFill/>
          <a:ln w="25400">
            <a:solidFill>
              <a:srgbClr val="A1A09E"/>
            </a:solidFill>
            <a:prstDash val="solid"/>
            <a:tailEnd type="triangle"/>
          </a:ln>
        </p:spPr>
      </p:sp>
      <p:sp>
        <p:nvSpPr>
          <p:cNvPr id="26" name="b1:r2n4"/>
          <p:cNvSpPr txBox="1"/>
          <p:nvPr/>
        </p:nvSpPr>
        <p:spPr>
          <a:xfrm>
            <a:off x="9631375" y="2880360"/>
            <a:ext cx="1828800" cy="621792"/>
          </a:xfrm>
          <a:prstGeom prst="roundRect">
            <a:avLst>
              <a:gd name="adj" fmla="val 8824"/>
            </a:avLst>
          </a:prstGeom>
          <a:solidFill>
            <a:srgbClr val="FDAD00"/>
          </a:solidFill>
          <a:ln/>
        </p:spPr>
        <p:txBody>
          <a:bodyPr wrap="square" lIns="508" tIns="508" rIns="508" bIns="508" rtlCol="0" anchor="ctr"/>
          <a:lstStyle/>
          <a:p>
            <a:pPr algn="ctr" indent="0" marL="0">
              <a:lnSpc>
                <a:spcPct val="110000"/>
              </a:lnSpc>
              <a:buNone/>
            </a:pPr>
            <a:r>
              <a:rPr lang="en-US" sz="1600" dirty="0">
                <a:solidFill>
                  <a:srgbClr val="14161C"/>
                </a:solidFill>
                <a:latin typeface="Helvetica Neue" pitchFamily="34" charset="0"/>
                <a:ea typeface="Helvetica Neue" pitchFamily="34" charset="-122"/>
                <a:cs typeface="Helvetica Neue" pitchFamily="34" charset="-120"/>
              </a:rPr>
              <a:t>Human queue</a:t>
            </a:r>
            <a:endParaRPr lang="en-US" sz="1600" dirty="0"/>
          </a:p>
          <a:p>
            <a:pPr algn="ctr" indent="0" marL="0">
              <a:lnSpc>
                <a:spcPct val="110000"/>
              </a:lnSpc>
              <a:buNone/>
            </a:pPr>
            <a:r>
              <a:rPr lang="en-US" sz="1600" dirty="0">
                <a:solidFill>
                  <a:srgbClr val="14161C"/>
                </a:solidFill>
                <a:latin typeface="Helvetica Neue" pitchFamily="34" charset="0"/>
                <a:ea typeface="Helvetica Neue" pitchFamily="34" charset="-122"/>
                <a:cs typeface="Helvetica Neue" pitchFamily="34" charset="-120"/>
              </a:rPr>
              <a:t>reasoning attached</a:t>
            </a:r>
            <a:endParaRPr lang="en-US" sz="1600" dirty="0"/>
          </a:p>
        </p:txBody>
      </p:sp>
      <p:sp>
        <p:nvSpPr>
          <p:cNvPr id="27" name="b1:timeout-l"/>
          <p:cNvSpPr txBox="1"/>
          <p:nvPr/>
        </p:nvSpPr>
        <p:spPr>
          <a:xfrm>
            <a:off x="9459239" y="2606040"/>
            <a:ext cx="190424" cy="256032"/>
          </a:xfrm>
          <a:prstGeom prst="rect">
            <a:avLst/>
          </a:prstGeom>
          <a:noFill/>
          <a:ln/>
        </p:spPr>
        <p:txBody>
          <a:bodyPr wrap="square" lIns="0" tIns="0" rIns="0" bIns="0" rtlCol="0" anchor="ctr"/>
          <a:lstStyle/>
          <a:p>
            <a:pPr algn="ctr"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timeout</a:t>
            </a:r>
            <a:endParaRPr lang="en-US" sz="1600" dirty="0"/>
          </a:p>
        </p:txBody>
      </p:sp>
      <p:sp>
        <p:nvSpPr>
          <p:cNvPr id="28" name="b1:resume-a-0"/>
          <p:cNvSpPr/>
          <p:nvPr/>
        </p:nvSpPr>
        <p:spPr>
          <a:xfrm>
            <a:off x="10661904" y="2432304"/>
            <a:ext cx="0" cy="210312"/>
          </a:xfrm>
          <a:prstGeom prst="line">
            <a:avLst/>
          </a:prstGeom>
          <a:noFill/>
          <a:ln w="31750">
            <a:solidFill>
              <a:srgbClr val="01B66D"/>
            </a:solidFill>
            <a:prstDash val="solid"/>
          </a:ln>
        </p:spPr>
      </p:sp>
      <p:sp>
        <p:nvSpPr>
          <p:cNvPr id="29" name="b1:resume-a-1"/>
          <p:cNvSpPr/>
          <p:nvPr/>
        </p:nvSpPr>
        <p:spPr>
          <a:xfrm flipH="1">
            <a:off x="1737360" y="2642616"/>
            <a:ext cx="8924544" cy="0"/>
          </a:xfrm>
          <a:prstGeom prst="line">
            <a:avLst/>
          </a:prstGeom>
          <a:noFill/>
          <a:ln w="31750">
            <a:solidFill>
              <a:srgbClr val="01B66D"/>
            </a:solidFill>
            <a:prstDash val="solid"/>
          </a:ln>
        </p:spPr>
      </p:sp>
      <p:sp>
        <p:nvSpPr>
          <p:cNvPr id="30" name="b1:resume-a-2"/>
          <p:cNvSpPr/>
          <p:nvPr/>
        </p:nvSpPr>
        <p:spPr>
          <a:xfrm>
            <a:off x="1737360" y="2642616"/>
            <a:ext cx="0" cy="210312"/>
          </a:xfrm>
          <a:prstGeom prst="line">
            <a:avLst/>
          </a:prstGeom>
          <a:noFill/>
          <a:ln w="31750">
            <a:solidFill>
              <a:srgbClr val="01B66D"/>
            </a:solidFill>
            <a:prstDash val="solid"/>
            <a:tailEnd type="triangle"/>
          </a:ln>
        </p:spPr>
      </p:sp>
      <p:sp>
        <p:nvSpPr>
          <p:cNvPr id="31" name="b1:resume-l"/>
          <p:cNvSpPr txBox="1"/>
          <p:nvPr/>
        </p:nvSpPr>
        <p:spPr>
          <a:xfrm>
            <a:off x="1874520" y="2368296"/>
            <a:ext cx="3291840" cy="256032"/>
          </a:xfrm>
          <a:prstGeom prst="rect">
            <a:avLst/>
          </a:prstGeom>
          <a:noFill/>
          <a:ln/>
        </p:spPr>
        <p:txBody>
          <a:bodyPr wrap="square" lIns="0" tIns="0" rIns="0" bIns="0" rtlCol="0" anchor="t"/>
          <a:lstStyle/>
          <a:p>
            <a:pPr algn="l" indent="0" marL="0">
              <a:lnSpc>
                <a:spcPct val="120000"/>
              </a:lnSpc>
              <a:buNone/>
            </a:pPr>
            <a:r>
              <a:rPr lang="en-US" sz="1600" dirty="0">
                <a:solidFill>
                  <a:srgbClr val="01B66D"/>
                </a:solidFill>
                <a:latin typeface="Helvetica Neue" pitchFamily="34" charset="0"/>
                <a:ea typeface="Helvetica Neue" pitchFamily="34" charset="-122"/>
                <a:cs typeface="Helvetica Neue" pitchFamily="34" charset="-120"/>
              </a:rPr>
              <a:t>resume from the progress file</a:t>
            </a:r>
            <a:endParaRPr lang="en-US" sz="1600" dirty="0"/>
          </a:p>
        </p:txBody>
      </p:sp>
      <p:sp>
        <p:nvSpPr>
          <p:cNvPr id="32" name="b2:code-bg"/>
          <p:cNvSpPr/>
          <p:nvPr/>
        </p:nvSpPr>
        <p:spPr>
          <a:xfrm>
            <a:off x="731520" y="3685032"/>
            <a:ext cx="7989341" cy="2532888"/>
          </a:xfrm>
          <a:prstGeom prst="roundRect">
            <a:avLst>
              <a:gd name="adj" fmla="val 2166"/>
            </a:avLst>
          </a:prstGeom>
          <a:solidFill>
            <a:srgbClr val="1C1F27"/>
          </a:solidFill>
          <a:ln w="12700">
            <a:solidFill>
              <a:srgbClr val="303236"/>
            </a:solidFill>
            <a:prstDash val="solid"/>
          </a:ln>
        </p:spPr>
      </p:sp>
      <p:sp>
        <p:nvSpPr>
          <p:cNvPr id="33" name="b2:code"/>
          <p:cNvSpPr txBox="1"/>
          <p:nvPr/>
        </p:nvSpPr>
        <p:spPr>
          <a:xfrm>
            <a:off x="914400" y="3776472"/>
            <a:ext cx="7623581" cy="2350008"/>
          </a:xfrm>
          <a:prstGeom prst="rect">
            <a:avLst/>
          </a:prstGeom>
          <a:noFill/>
          <a:ln/>
        </p:spPr>
        <p:txBody>
          <a:bodyPr wrap="square" lIns="0" tIns="0" rIns="0" bIns="0" rtlCol="0" anchor="t"/>
          <a:lstStyle/>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state = journal.load(id)         </a:t>
            </a:r>
            <a:r>
              <a:rPr lang="en-US" sz="1600" dirty="0">
                <a:solidFill>
                  <a:srgbClr val="A1A09E"/>
                </a:solidFill>
                <a:latin typeface="Menlo" pitchFamily="34" charset="0"/>
                <a:ea typeface="Menlo" pitchFamily="34" charset="-122"/>
                <a:cs typeface="Menlo" pitchFamily="34" charset="-120"/>
              </a:rPr>
              <a:t># resume, or start empty</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while within(BUDGET, state):     </a:t>
            </a:r>
            <a:r>
              <a:rPr lang="en-US" sz="1600" dirty="0">
                <a:solidFill>
                  <a:srgbClr val="A1A09E"/>
                </a:solidFill>
                <a:latin typeface="Menlo" pitchFamily="34" charset="0"/>
                <a:ea typeface="Menlo" pitchFamily="34" charset="-122"/>
                <a:cs typeface="Menlo" pitchFamily="34" charset="-120"/>
              </a:rPr>
              <a:t># one run</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context = gather(state, tools) </a:t>
            </a:r>
            <a:r>
              <a:rPr lang="en-US" sz="1600" dirty="0">
                <a:solidFill>
                  <a:srgbClr val="A1A09E"/>
                </a:solidFill>
                <a:latin typeface="Menlo" pitchFamily="34" charset="0"/>
                <a:ea typeface="Menlo" pitchFamily="34" charset="-122"/>
                <a:cs typeface="Menlo" pitchFamily="34" charset="-120"/>
              </a:rPr>
              <a:t># what this call sees</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action = model(context)        </a:t>
            </a:r>
            <a:r>
              <a:rPr lang="en-US" sz="1600" dirty="0">
                <a:solidFill>
                  <a:srgbClr val="A1A09E"/>
                </a:solidFill>
                <a:latin typeface="Menlo" pitchFamily="34" charset="0"/>
                <a:ea typeface="Menlo" pitchFamily="34" charset="-122"/>
                <a:cs typeface="Menlo" pitchFamily="34" charset="-120"/>
              </a:rPr>
              <a:t># one call</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if policy.gated(action):       </a:t>
            </a:r>
            <a:r>
              <a:rPr lang="en-US" sz="1600" dirty="0">
                <a:solidFill>
                  <a:srgbClr val="A1A09E"/>
                </a:solidFill>
                <a:latin typeface="Menlo" pitchFamily="34" charset="0"/>
                <a:ea typeface="Menlo" pitchFamily="34" charset="-122"/>
                <a:cs typeface="Menlo" pitchFamily="34" charset="-120"/>
              </a:rPr>
              <a:t># that action gated</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journal.wait(action); break  </a:t>
            </a:r>
            <a:r>
              <a:rPr lang="en-US" sz="1600" dirty="0">
                <a:solidFill>
                  <a:srgbClr val="A1A09E"/>
                </a:solidFill>
                <a:latin typeface="Menlo" pitchFamily="34" charset="0"/>
                <a:ea typeface="Menlo" pitchFamily="34" charset="-122"/>
                <a:cs typeface="Menlo" pitchFamily="34" charset="-120"/>
              </a:rPr>
              <a:t># wait; timeout escalates</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journal.intend(action)         </a:t>
            </a:r>
            <a:r>
              <a:rPr lang="en-US" sz="1600" dirty="0">
                <a:solidFill>
                  <a:srgbClr val="A1A09E"/>
                </a:solidFill>
                <a:latin typeface="Menlo" pitchFamily="34" charset="0"/>
                <a:ea typeface="Menlo" pitchFamily="34" charset="-122"/>
                <a:cs typeface="Menlo" pitchFamily="34" charset="-120"/>
              </a:rPr>
              <a:t># journal before acting</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result = sandbox.run(action)   </a:t>
            </a:r>
            <a:r>
              <a:rPr lang="en-US" sz="1600" dirty="0">
                <a:solidFill>
                  <a:srgbClr val="A1A09E"/>
                </a:solidFill>
                <a:latin typeface="Menlo" pitchFamily="34" charset="0"/>
                <a:ea typeface="Menlo" pitchFamily="34" charset="-122"/>
                <a:cs typeface="Menlo" pitchFamily="34" charset="-120"/>
              </a:rPr>
              <a:t># one action</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journal.record(verify(result)) </a:t>
            </a:r>
            <a:r>
              <a:rPr lang="en-US" sz="1600" dirty="0">
                <a:solidFill>
                  <a:srgbClr val="A1A09E"/>
                </a:solidFill>
                <a:latin typeface="Menlo" pitchFamily="34" charset="0"/>
                <a:ea typeface="Menlo" pitchFamily="34" charset="-122"/>
                <a:cs typeface="Menlo" pitchFamily="34" charset="-120"/>
              </a:rPr>
              <a:t># deterministic first</a:t>
            </a:r>
            <a:endParaRPr lang="en-US" sz="1600" dirty="0"/>
          </a:p>
          <a:p>
            <a:pPr algn="l" indent="0" marL="0">
              <a:lnSpc>
                <a:spcPct val="95000"/>
              </a:lnSpc>
              <a:buNone/>
            </a:pPr>
            <a:r>
              <a:rPr lang="en-US" sz="1600" dirty="0">
                <a:solidFill>
                  <a:srgbClr val="FFFCF5"/>
                </a:solidFill>
                <a:latin typeface="Menlo" pitchFamily="34" charset="0"/>
                <a:ea typeface="Menlo" pitchFamily="34" charset="-122"/>
                <a:cs typeface="Menlo" pitchFamily="34" charset="-120"/>
              </a:rPr>
              <a:t>  if done(state): break</a:t>
            </a:r>
            <a:endParaRPr lang="en-US" sz="1600" dirty="0"/>
          </a:p>
        </p:txBody>
      </p:sp>
      <p:sp>
        <p:nvSpPr>
          <p:cNvPr id="34" name="b2:gauge-h"/>
          <p:cNvSpPr txBox="1"/>
          <p:nvPr/>
        </p:nvSpPr>
        <p:spPr>
          <a:xfrm>
            <a:off x="8949461" y="3685032"/>
            <a:ext cx="2510714"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Budgets</a:t>
            </a:r>
            <a:endParaRPr lang="en-US" sz="1600" dirty="0"/>
          </a:p>
        </p:txBody>
      </p:sp>
      <p:sp>
        <p:nvSpPr>
          <p:cNvPr id="35" name="b2:dial0"/>
          <p:cNvSpPr/>
          <p:nvPr/>
        </p:nvSpPr>
        <p:spPr>
          <a:xfrm>
            <a:off x="9068333" y="4142232"/>
            <a:ext cx="402336" cy="402336"/>
          </a:xfrm>
          <a:prstGeom prst="ellipse">
            <a:avLst/>
          </a:prstGeom>
          <a:ln w="25400">
            <a:solidFill>
              <a:srgbClr val="FFFCF5"/>
            </a:solidFill>
            <a:prstDash val="solid"/>
          </a:ln>
        </p:spPr>
      </p:sp>
      <p:sp>
        <p:nvSpPr>
          <p:cNvPr id="36" name="b2:hand0"/>
          <p:cNvSpPr/>
          <p:nvPr/>
        </p:nvSpPr>
        <p:spPr>
          <a:xfrm flipV="1">
            <a:off x="9269501" y="4216064"/>
            <a:ext cx="89161" cy="127336"/>
          </a:xfrm>
          <a:prstGeom prst="line">
            <a:avLst/>
          </a:prstGeom>
          <a:noFill/>
          <a:ln w="31750">
            <a:solidFill>
              <a:srgbClr val="F948BE"/>
            </a:solidFill>
            <a:prstDash val="solid"/>
          </a:ln>
        </p:spPr>
      </p:sp>
      <p:sp>
        <p:nvSpPr>
          <p:cNvPr id="37" name="b2:pin0"/>
          <p:cNvSpPr/>
          <p:nvPr/>
        </p:nvSpPr>
        <p:spPr>
          <a:xfrm>
            <a:off x="9232925" y="4306824"/>
            <a:ext cx="73152" cy="73152"/>
          </a:xfrm>
          <a:prstGeom prst="ellipse">
            <a:avLst/>
          </a:prstGeom>
          <a:solidFill>
            <a:srgbClr val="F948BE"/>
          </a:solidFill>
          <a:ln/>
        </p:spPr>
      </p:sp>
      <p:sp>
        <p:nvSpPr>
          <p:cNvPr id="38" name="b2:dial-l0"/>
          <p:cNvSpPr txBox="1"/>
          <p:nvPr/>
        </p:nvSpPr>
        <p:spPr>
          <a:xfrm>
            <a:off x="9580397" y="4206240"/>
            <a:ext cx="146304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steps</a:t>
            </a:r>
            <a:endParaRPr lang="en-US" sz="1600" dirty="0"/>
          </a:p>
        </p:txBody>
      </p:sp>
      <p:sp>
        <p:nvSpPr>
          <p:cNvPr id="39" name="b2:dial1"/>
          <p:cNvSpPr/>
          <p:nvPr/>
        </p:nvSpPr>
        <p:spPr>
          <a:xfrm>
            <a:off x="9068333" y="4599432"/>
            <a:ext cx="402336" cy="402336"/>
          </a:xfrm>
          <a:prstGeom prst="ellipse">
            <a:avLst/>
          </a:prstGeom>
          <a:ln w="25400">
            <a:solidFill>
              <a:srgbClr val="FFFCF5"/>
            </a:solidFill>
            <a:prstDash val="solid"/>
          </a:ln>
        </p:spPr>
      </p:sp>
      <p:sp>
        <p:nvSpPr>
          <p:cNvPr id="40" name="b2:hand1"/>
          <p:cNvSpPr/>
          <p:nvPr/>
        </p:nvSpPr>
        <p:spPr>
          <a:xfrm>
            <a:off x="9269501" y="4800600"/>
            <a:ext cx="134622" cy="77724"/>
          </a:xfrm>
          <a:prstGeom prst="line">
            <a:avLst/>
          </a:prstGeom>
          <a:noFill/>
          <a:ln w="31750">
            <a:solidFill>
              <a:srgbClr val="F948BE"/>
            </a:solidFill>
            <a:prstDash val="solid"/>
          </a:ln>
        </p:spPr>
      </p:sp>
      <p:sp>
        <p:nvSpPr>
          <p:cNvPr id="41" name="b2:pin1"/>
          <p:cNvSpPr/>
          <p:nvPr/>
        </p:nvSpPr>
        <p:spPr>
          <a:xfrm>
            <a:off x="9232925" y="4764024"/>
            <a:ext cx="73152" cy="73152"/>
          </a:xfrm>
          <a:prstGeom prst="ellipse">
            <a:avLst/>
          </a:prstGeom>
          <a:solidFill>
            <a:srgbClr val="F948BE"/>
          </a:solidFill>
          <a:ln/>
        </p:spPr>
      </p:sp>
      <p:sp>
        <p:nvSpPr>
          <p:cNvPr id="42" name="b2:dial-l1"/>
          <p:cNvSpPr txBox="1"/>
          <p:nvPr/>
        </p:nvSpPr>
        <p:spPr>
          <a:xfrm>
            <a:off x="9580397" y="4663440"/>
            <a:ext cx="146304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tokens</a:t>
            </a:r>
            <a:endParaRPr lang="en-US" sz="1600" dirty="0"/>
          </a:p>
        </p:txBody>
      </p:sp>
      <p:sp>
        <p:nvSpPr>
          <p:cNvPr id="43" name="b2:dial2"/>
          <p:cNvSpPr/>
          <p:nvPr/>
        </p:nvSpPr>
        <p:spPr>
          <a:xfrm>
            <a:off x="9068333" y="5056632"/>
            <a:ext cx="402336" cy="402336"/>
          </a:xfrm>
          <a:prstGeom prst="ellipse">
            <a:avLst/>
          </a:prstGeom>
          <a:ln w="25400">
            <a:solidFill>
              <a:srgbClr val="FFFCF5"/>
            </a:solidFill>
            <a:prstDash val="solid"/>
          </a:ln>
        </p:spPr>
      </p:sp>
      <p:sp>
        <p:nvSpPr>
          <p:cNvPr id="44" name="b2:hand2"/>
          <p:cNvSpPr/>
          <p:nvPr/>
        </p:nvSpPr>
        <p:spPr>
          <a:xfrm flipV="1">
            <a:off x="9269501" y="5204634"/>
            <a:ext cx="146073" cy="53166"/>
          </a:xfrm>
          <a:prstGeom prst="line">
            <a:avLst/>
          </a:prstGeom>
          <a:noFill/>
          <a:ln w="31750">
            <a:solidFill>
              <a:srgbClr val="F948BE"/>
            </a:solidFill>
            <a:prstDash val="solid"/>
          </a:ln>
        </p:spPr>
      </p:sp>
      <p:sp>
        <p:nvSpPr>
          <p:cNvPr id="45" name="b2:pin2"/>
          <p:cNvSpPr/>
          <p:nvPr/>
        </p:nvSpPr>
        <p:spPr>
          <a:xfrm>
            <a:off x="9232925" y="5221224"/>
            <a:ext cx="73152" cy="73152"/>
          </a:xfrm>
          <a:prstGeom prst="ellipse">
            <a:avLst/>
          </a:prstGeom>
          <a:solidFill>
            <a:srgbClr val="F948BE"/>
          </a:solidFill>
          <a:ln/>
        </p:spPr>
      </p:sp>
      <p:sp>
        <p:nvSpPr>
          <p:cNvPr id="46" name="b2:dial-l2"/>
          <p:cNvSpPr txBox="1"/>
          <p:nvPr/>
        </p:nvSpPr>
        <p:spPr>
          <a:xfrm>
            <a:off x="9580397" y="5120640"/>
            <a:ext cx="146304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dollars</a:t>
            </a:r>
            <a:endParaRPr lang="en-US" sz="1600" dirty="0"/>
          </a:p>
        </p:txBody>
      </p:sp>
      <p:sp>
        <p:nvSpPr>
          <p:cNvPr id="47" name="b2:dial3"/>
          <p:cNvSpPr/>
          <p:nvPr/>
        </p:nvSpPr>
        <p:spPr>
          <a:xfrm>
            <a:off x="9068333" y="5513832"/>
            <a:ext cx="402336" cy="402336"/>
          </a:xfrm>
          <a:prstGeom prst="ellipse">
            <a:avLst/>
          </a:prstGeom>
          <a:ln w="25400">
            <a:solidFill>
              <a:srgbClr val="FFFCF5"/>
            </a:solidFill>
            <a:prstDash val="solid"/>
          </a:ln>
        </p:spPr>
      </p:sp>
      <p:sp>
        <p:nvSpPr>
          <p:cNvPr id="48" name="b2:hand3"/>
          <p:cNvSpPr/>
          <p:nvPr/>
        </p:nvSpPr>
        <p:spPr>
          <a:xfrm>
            <a:off x="9269501" y="5715000"/>
            <a:ext cx="53166" cy="146073"/>
          </a:xfrm>
          <a:prstGeom prst="line">
            <a:avLst/>
          </a:prstGeom>
          <a:noFill/>
          <a:ln w="31750">
            <a:solidFill>
              <a:srgbClr val="F948BE"/>
            </a:solidFill>
            <a:prstDash val="solid"/>
          </a:ln>
        </p:spPr>
      </p:sp>
      <p:sp>
        <p:nvSpPr>
          <p:cNvPr id="49" name="b2:pin3"/>
          <p:cNvSpPr/>
          <p:nvPr/>
        </p:nvSpPr>
        <p:spPr>
          <a:xfrm>
            <a:off x="9232925" y="5678424"/>
            <a:ext cx="73152" cy="73152"/>
          </a:xfrm>
          <a:prstGeom prst="ellipse">
            <a:avLst/>
          </a:prstGeom>
          <a:solidFill>
            <a:srgbClr val="F948BE"/>
          </a:solidFill>
          <a:ln/>
        </p:spPr>
      </p:sp>
      <p:sp>
        <p:nvSpPr>
          <p:cNvPr id="50" name="b2:dial-l3"/>
          <p:cNvSpPr txBox="1"/>
          <p:nvPr/>
        </p:nvSpPr>
        <p:spPr>
          <a:xfrm>
            <a:off x="9580397" y="5577840"/>
            <a:ext cx="1463040" cy="274320"/>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wall-clock</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11</a:t>
            </a:r>
            <a:endParaRPr lang="en-US" sz="1400" dirty="0"/>
          </a:p>
        </p:txBody>
      </p:sp>
      <p:sp>
        <p:nvSpPr>
          <p:cNvPr id="5" name="Text 2"/>
          <p:cNvSpPr txBox="1"/>
          <p:nvPr/>
        </p:nvSpPr>
        <p:spPr>
          <a:xfrm>
            <a:off x="731520" y="457200"/>
            <a:ext cx="10728655" cy="6400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Evaluation is a loop, not an artifact.</a:t>
            </a:r>
            <a:endParaRPr lang="en-US" sz="3600" dirty="0"/>
          </a:p>
        </p:txBody>
      </p:sp>
      <p:sp>
        <p:nvSpPr>
          <p:cNvPr id="6" name="Shape 3"/>
          <p:cNvSpPr/>
          <p:nvPr/>
        </p:nvSpPr>
        <p:spPr>
          <a:xfrm>
            <a:off x="1389926" y="1783080"/>
            <a:ext cx="4846320" cy="3657600"/>
          </a:xfrm>
          <a:prstGeom prst="ellipse">
            <a:avLst/>
          </a:prstGeom>
          <a:ln w="38100">
            <a:solidFill>
              <a:srgbClr val="1064F8"/>
            </a:solidFill>
            <a:prstDash val="solid"/>
          </a:ln>
        </p:spPr>
      </p:sp>
      <p:sp>
        <p:nvSpPr>
          <p:cNvPr id="7" name="Shape 4"/>
          <p:cNvSpPr/>
          <p:nvPr/>
        </p:nvSpPr>
        <p:spPr>
          <a:xfrm rot="7200000">
            <a:off x="4924082" y="1927509"/>
            <a:ext cx="201168" cy="201168"/>
          </a:xfrm>
          <a:prstGeom prst="triangle">
            <a:avLst/>
          </a:prstGeom>
          <a:solidFill>
            <a:srgbClr val="FFFCF5"/>
          </a:solidFill>
          <a:ln/>
        </p:spPr>
      </p:sp>
      <p:sp>
        <p:nvSpPr>
          <p:cNvPr id="8" name="Shape 5"/>
          <p:cNvSpPr/>
          <p:nvPr/>
        </p:nvSpPr>
        <p:spPr>
          <a:xfrm rot="10800000">
            <a:off x="6135662" y="3511296"/>
            <a:ext cx="201168" cy="201168"/>
          </a:xfrm>
          <a:prstGeom prst="triangle">
            <a:avLst/>
          </a:prstGeom>
          <a:solidFill>
            <a:srgbClr val="FFFCF5"/>
          </a:solidFill>
          <a:ln/>
        </p:spPr>
      </p:sp>
      <p:sp>
        <p:nvSpPr>
          <p:cNvPr id="9" name="Shape 6"/>
          <p:cNvSpPr/>
          <p:nvPr/>
        </p:nvSpPr>
        <p:spPr>
          <a:xfrm rot="14400000">
            <a:off x="4924082" y="5095083"/>
            <a:ext cx="201168" cy="201168"/>
          </a:xfrm>
          <a:prstGeom prst="triangle">
            <a:avLst/>
          </a:prstGeom>
          <a:solidFill>
            <a:srgbClr val="FFFCF5"/>
          </a:solidFill>
          <a:ln/>
        </p:spPr>
      </p:sp>
      <p:sp>
        <p:nvSpPr>
          <p:cNvPr id="10" name="Shape 7"/>
          <p:cNvSpPr/>
          <p:nvPr/>
        </p:nvSpPr>
        <p:spPr>
          <a:xfrm rot="18000000">
            <a:off x="2500922" y="5095083"/>
            <a:ext cx="201168" cy="201168"/>
          </a:xfrm>
          <a:prstGeom prst="triangle">
            <a:avLst/>
          </a:prstGeom>
          <a:solidFill>
            <a:srgbClr val="FFFCF5"/>
          </a:solidFill>
          <a:ln/>
        </p:spPr>
      </p:sp>
      <p:sp>
        <p:nvSpPr>
          <p:cNvPr id="11" name="Shape 8"/>
          <p:cNvSpPr/>
          <p:nvPr/>
        </p:nvSpPr>
        <p:spPr>
          <a:xfrm rot="21600000">
            <a:off x="1289342" y="3511296"/>
            <a:ext cx="201168" cy="201168"/>
          </a:xfrm>
          <a:prstGeom prst="triangle">
            <a:avLst/>
          </a:prstGeom>
          <a:solidFill>
            <a:srgbClr val="FFFCF5"/>
          </a:solidFill>
          <a:ln/>
        </p:spPr>
      </p:sp>
      <p:sp>
        <p:nvSpPr>
          <p:cNvPr id="12" name="Shape 9"/>
          <p:cNvSpPr/>
          <p:nvPr/>
        </p:nvSpPr>
        <p:spPr>
          <a:xfrm rot="3600000">
            <a:off x="2482634" y="1909221"/>
            <a:ext cx="237744" cy="237744"/>
          </a:xfrm>
          <a:prstGeom prst="triangle">
            <a:avLst/>
          </a:prstGeom>
          <a:solidFill>
            <a:srgbClr val="F948BE"/>
          </a:solidFill>
          <a:ln/>
        </p:spPr>
      </p:sp>
      <p:sp>
        <p:nvSpPr>
          <p:cNvPr id="13" name="Text 10"/>
          <p:cNvSpPr txBox="1"/>
          <p:nvPr/>
        </p:nvSpPr>
        <p:spPr>
          <a:xfrm>
            <a:off x="2830106" y="12344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Read 100 real traces</a:t>
            </a:r>
            <a:endParaRPr lang="en-US" sz="1600" dirty="0"/>
          </a:p>
        </p:txBody>
      </p:sp>
      <p:sp>
        <p:nvSpPr>
          <p:cNvPr id="14" name="Text 11"/>
          <p:cNvSpPr txBox="1"/>
          <p:nvPr/>
        </p:nvSpPr>
        <p:spPr>
          <a:xfrm>
            <a:off x="4928624" y="21488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One expert labels pass/fail with a critique</a:t>
            </a:r>
            <a:endParaRPr lang="en-US" sz="1600" dirty="0"/>
          </a:p>
        </p:txBody>
      </p:sp>
      <p:sp>
        <p:nvSpPr>
          <p:cNvPr id="15" name="Text 12"/>
          <p:cNvSpPr txBox="1"/>
          <p:nvPr/>
        </p:nvSpPr>
        <p:spPr>
          <a:xfrm>
            <a:off x="4928624" y="39776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Cluster failures into a taxonomy and count</a:t>
            </a:r>
            <a:endParaRPr lang="en-US" sz="1600" dirty="0"/>
          </a:p>
        </p:txBody>
      </p:sp>
      <p:sp>
        <p:nvSpPr>
          <p:cNvPr id="16" name="Text 13"/>
          <p:cNvSpPr txBox="1"/>
          <p:nvPr/>
        </p:nvSpPr>
        <p:spPr>
          <a:xfrm>
            <a:off x="2830106" y="48920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Write graders for the top failures: code, then judge, humans calibrate</a:t>
            </a:r>
            <a:endParaRPr lang="en-US" sz="1600" dirty="0"/>
          </a:p>
        </p:txBody>
      </p:sp>
      <p:sp>
        <p:nvSpPr>
          <p:cNvPr id="17" name="Text 14"/>
          <p:cNvSpPr txBox="1"/>
          <p:nvPr/>
        </p:nvSpPr>
        <p:spPr>
          <a:xfrm>
            <a:off x="731588" y="39776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Freeze a regression suite; gate on rates, not exact outputs</a:t>
            </a:r>
            <a:endParaRPr lang="en-US" sz="1600" dirty="0"/>
          </a:p>
        </p:txBody>
      </p:sp>
      <p:sp>
        <p:nvSpPr>
          <p:cNvPr id="18" name="Text 15"/>
          <p:cNvSpPr txBox="1"/>
          <p:nvPr/>
        </p:nvSpPr>
        <p:spPr>
          <a:xfrm>
            <a:off x="731588" y="2148840"/>
            <a:ext cx="1965960" cy="1097280"/>
          </a:xfrm>
          <a:prstGeom prst="roundRect">
            <a:avLst>
              <a:gd name="adj" fmla="val 5000"/>
            </a:avLst>
          </a:prstGeom>
          <a:solidFill>
            <a:srgbClr val="1064F8"/>
          </a:solidFill>
          <a:ln/>
        </p:spPr>
        <p:txBody>
          <a:bodyPr wrap="square" lIns="508" tIns="508" rIns="508" bIns="508" rtlCol="0" anchor="ctr"/>
          <a:lstStyle/>
          <a:p>
            <a:pPr algn="ctr"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Ship; sample production into the same graders</a:t>
            </a:r>
            <a:endParaRPr lang="en-US" sz="1600" dirty="0"/>
          </a:p>
        </p:txBody>
      </p:sp>
      <p:sp>
        <p:nvSpPr>
          <p:cNvPr id="19" name="Text 16"/>
          <p:cNvSpPr txBox="1"/>
          <p:nvPr/>
        </p:nvSpPr>
        <p:spPr>
          <a:xfrm>
            <a:off x="731520" y="1417320"/>
            <a:ext cx="2011680" cy="274320"/>
          </a:xfrm>
          <a:prstGeom prst="rect">
            <a:avLst/>
          </a:prstGeom>
          <a:noFill/>
          <a:ln/>
        </p:spPr>
        <p:txBody>
          <a:bodyPr wrap="square" lIns="0" tIns="0" rIns="0" bIns="0" rtlCol="0" anchor="ctr"/>
          <a:lstStyle/>
          <a:p>
            <a:pPr algn="r" indent="0" marL="0">
              <a:lnSpc>
                <a:spcPct val="120000"/>
              </a:lnSpc>
              <a:buNone/>
            </a:pPr>
            <a:r>
              <a:rPr lang="en-US" sz="1600" b="1" dirty="0">
                <a:solidFill>
                  <a:srgbClr val="F948BE"/>
                </a:solidFill>
                <a:latin typeface="Helvetica Neue" pitchFamily="34" charset="0"/>
                <a:ea typeface="Helvetica Neue" pitchFamily="34" charset="-122"/>
                <a:cs typeface="Helvetica Neue" pitchFamily="34" charset="-120"/>
              </a:rPr>
              <a:t>every 2 to 4 weeks</a:t>
            </a:r>
            <a:endParaRPr lang="en-US" sz="1600" dirty="0"/>
          </a:p>
        </p:txBody>
      </p:sp>
      <p:sp>
        <p:nvSpPr>
          <p:cNvPr id="20" name="Text 17"/>
          <p:cNvSpPr txBox="1"/>
          <p:nvPr/>
        </p:nvSpPr>
        <p:spPr>
          <a:xfrm>
            <a:off x="7123252" y="1280160"/>
            <a:ext cx="4336923" cy="640080"/>
          </a:xfrm>
          <a:prstGeom prst="rect">
            <a:avLst/>
          </a:prstGeom>
          <a:noFill/>
          <a:ln/>
        </p:spPr>
        <p:txBody>
          <a:bodyPr wrap="square" lIns="0" tIns="0" rIns="0" bIns="0" rtlCol="0" anchor="t"/>
          <a:lstStyle/>
          <a:p>
            <a:pPr algn="l" indent="0" marL="0">
              <a:lnSpc>
                <a:spcPct val="130000"/>
              </a:lnSpc>
              <a:buNone/>
            </a:pPr>
            <a:r>
              <a:rPr lang="en-US" sz="1800" i="1" dirty="0">
                <a:solidFill>
                  <a:srgbClr val="FFFCF5"/>
                </a:solidFill>
                <a:latin typeface="Helvetica Neue" pitchFamily="34" charset="0"/>
                <a:ea typeface="Helvetica Neue" pitchFamily="34" charset="-122"/>
                <a:cs typeface="Helvetica Neue" pitchFamily="34" charset="-120"/>
              </a:rPr>
              <a:t>"Write evaluators for errors you discover, not errors you imagine."</a:t>
            </a:r>
            <a:endParaRPr lang="en-US" sz="1800" dirty="0"/>
          </a:p>
        </p:txBody>
      </p:sp>
      <p:sp>
        <p:nvSpPr>
          <p:cNvPr id="21" name="Text 18"/>
          <p:cNvSpPr txBox="1"/>
          <p:nvPr/>
        </p:nvSpPr>
        <p:spPr>
          <a:xfrm>
            <a:off x="7123252" y="1965960"/>
            <a:ext cx="4336923"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Hamel Husain and Shreya Shankar</a:t>
            </a:r>
            <a:endParaRPr lang="en-US" sz="1600" dirty="0"/>
          </a:p>
        </p:txBody>
      </p:sp>
      <p:sp>
        <p:nvSpPr>
          <p:cNvPr id="22" name="b1:passk"/>
          <p:cNvSpPr txBox="1"/>
          <p:nvPr/>
        </p:nvSpPr>
        <p:spPr>
          <a:xfrm>
            <a:off x="7123252" y="2377440"/>
            <a:ext cx="4336923" cy="960120"/>
          </a:xfrm>
          <a:prstGeom prst="rect">
            <a:avLst/>
          </a:prstGeom>
          <a:noFill/>
          <a:ln/>
        </p:spPr>
        <p:txBody>
          <a:bodyPr wrap="square" lIns="0" tIns="0" rIns="0" bIns="0" rtlCol="0" anchor="t"/>
          <a:lstStyle/>
          <a:p>
            <a:pPr algn="l" indent="0" marL="0">
              <a:lnSpc>
                <a:spcPct val="130000"/>
              </a:lnSpc>
              <a:buNone/>
            </a:pPr>
            <a:r>
              <a:rPr lang="en-US" sz="1800" dirty="0">
                <a:solidFill>
                  <a:srgbClr val="FFFCF5"/>
                </a:solidFill>
                <a:latin typeface="Menlo" pitchFamily="34" charset="0"/>
                <a:ea typeface="Menlo" pitchFamily="34" charset="-122"/>
                <a:cs typeface="Menlo" pitchFamily="34" charset="-120"/>
              </a:rPr>
              <a:t>pass@k</a:t>
            </a:r>
            <a:r>
              <a:rPr lang="en-US" sz="1800" dirty="0">
                <a:solidFill>
                  <a:srgbClr val="FFFCF5"/>
                </a:solidFill>
                <a:latin typeface="Helvetica Neue" pitchFamily="34" charset="0"/>
                <a:ea typeface="Helvetica Neue" pitchFamily="34" charset="-122"/>
                <a:cs typeface="Helvetica Neue" pitchFamily="34" charset="-120"/>
              </a:rPr>
              <a:t> says one of k attempts succeeded. </a:t>
            </a:r>
            <a:r>
              <a:rPr lang="en-US" sz="1800" dirty="0">
                <a:solidFill>
                  <a:srgbClr val="FFFCF5"/>
                </a:solidFill>
                <a:latin typeface="Menlo" pitchFamily="34" charset="0"/>
                <a:ea typeface="Menlo" pitchFamily="34" charset="-122"/>
                <a:cs typeface="Menlo" pitchFamily="34" charset="-120"/>
              </a:rPr>
              <a:t>pass^k</a:t>
            </a:r>
            <a:r>
              <a:rPr lang="en-US" sz="1800" dirty="0">
                <a:solidFill>
                  <a:srgbClr val="FFFCF5"/>
                </a:solidFill>
                <a:latin typeface="Helvetica Neue" pitchFamily="34" charset="0"/>
                <a:ea typeface="Helvetica Neue" pitchFamily="34" charset="-122"/>
                <a:cs typeface="Helvetica Neue" pitchFamily="34" charset="-120"/>
              </a:rPr>
              <a:t> says all of them did. Enterprises are judged on the second.</a:t>
            </a:r>
            <a:endParaRPr lang="en-US" sz="1800" dirty="0"/>
          </a:p>
        </p:txBody>
      </p:sp>
      <p:sp>
        <p:nvSpPr>
          <p:cNvPr id="23" name="b1:score-h"/>
          <p:cNvSpPr txBox="1"/>
          <p:nvPr/>
        </p:nvSpPr>
        <p:spPr>
          <a:xfrm>
            <a:off x="7123252" y="3584448"/>
            <a:ext cx="4336923"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Scorecard</a:t>
            </a:r>
            <a:endParaRPr lang="en-US" sz="1600" dirty="0"/>
          </a:p>
        </p:txBody>
      </p:sp>
      <p:sp>
        <p:nvSpPr>
          <p:cNvPr id="24" name="b1:cell0"/>
          <p:cNvSpPr txBox="1"/>
          <p:nvPr/>
        </p:nvSpPr>
        <p:spPr>
          <a:xfrm>
            <a:off x="7123252" y="3877056"/>
            <a:ext cx="2113598" cy="365760"/>
          </a:xfrm>
          <a:prstGeom prst="roundRect">
            <a:avLst>
              <a:gd name="adj" fmla="val 15000"/>
            </a:avLst>
          </a:prstGeom>
          <a:solidFill>
            <a:srgbClr val="1C1F27"/>
          </a:solidFill>
          <a:ln w="12700">
            <a:solidFill>
              <a:srgbClr val="303236"/>
            </a:solidFill>
            <a:prstDash val="solid"/>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correctness</a:t>
            </a:r>
            <a:endParaRPr lang="en-US" sz="1600" dirty="0"/>
          </a:p>
        </p:txBody>
      </p:sp>
      <p:sp>
        <p:nvSpPr>
          <p:cNvPr id="25" name="b1:cell1"/>
          <p:cNvSpPr txBox="1"/>
          <p:nvPr/>
        </p:nvSpPr>
        <p:spPr>
          <a:xfrm>
            <a:off x="9346578" y="3877056"/>
            <a:ext cx="2113598" cy="365760"/>
          </a:xfrm>
          <a:prstGeom prst="roundRect">
            <a:avLst>
              <a:gd name="adj" fmla="val 15000"/>
            </a:avLst>
          </a:prstGeom>
          <a:solidFill>
            <a:srgbClr val="1C1F27"/>
          </a:solidFill>
          <a:ln w="12700">
            <a:solidFill>
              <a:srgbClr val="303236"/>
            </a:solidFill>
            <a:prstDash val="solid"/>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cost per task</a:t>
            </a:r>
            <a:endParaRPr lang="en-US" sz="1600" dirty="0"/>
          </a:p>
        </p:txBody>
      </p:sp>
      <p:sp>
        <p:nvSpPr>
          <p:cNvPr id="26" name="b1:cell2"/>
          <p:cNvSpPr txBox="1"/>
          <p:nvPr/>
        </p:nvSpPr>
        <p:spPr>
          <a:xfrm>
            <a:off x="7123252" y="4315968"/>
            <a:ext cx="2113598" cy="365760"/>
          </a:xfrm>
          <a:prstGeom prst="roundRect">
            <a:avLst>
              <a:gd name="adj" fmla="val 15000"/>
            </a:avLst>
          </a:prstGeom>
          <a:solidFill>
            <a:srgbClr val="1C1F27"/>
          </a:solidFill>
          <a:ln w="12700">
            <a:solidFill>
              <a:srgbClr val="303236"/>
            </a:solidFill>
            <a:prstDash val="solid"/>
          </a:ln>
        </p:spPr>
        <p:txBody>
          <a:bodyPr wrap="square" lIns="508" tIns="508" rIns="508" bIns="508" rtlCol="0" anchor="ctr"/>
          <a:lstStyle/>
          <a:p>
            <a:pPr algn="ctr"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latency</a:t>
            </a:r>
            <a:endParaRPr lang="en-US" sz="1600" dirty="0"/>
          </a:p>
        </p:txBody>
      </p:sp>
      <p:sp>
        <p:nvSpPr>
          <p:cNvPr id="27" name="b1:cell3"/>
          <p:cNvSpPr txBox="1"/>
          <p:nvPr/>
        </p:nvSpPr>
        <p:spPr>
          <a:xfrm>
            <a:off x="9346578" y="4315968"/>
            <a:ext cx="2113598" cy="365760"/>
          </a:xfrm>
          <a:prstGeom prst="roundRect">
            <a:avLst>
              <a:gd name="adj" fmla="val 15000"/>
            </a:avLst>
          </a:prstGeom>
          <a:solidFill>
            <a:srgbClr val="1C1F27"/>
          </a:solidFill>
          <a:ln w="12700">
            <a:solidFill>
              <a:srgbClr val="303236"/>
            </a:solidFill>
            <a:prstDash val="solid"/>
          </a:ln>
        </p:spPr>
        <p:txBody>
          <a:bodyPr wrap="square" lIns="508" tIns="508" rIns="508" bIns="508" rtlCol="0" anchor="ctr"/>
          <a:lstStyle/>
          <a:p>
            <a:pPr algn="ctr" indent="0" marL="0">
              <a:lnSpc>
                <a:spcPct val="110000"/>
              </a:lnSpc>
              <a:buNone/>
            </a:pPr>
            <a:r>
              <a:rPr lang="en-US" sz="1600" dirty="0">
                <a:solidFill>
                  <a:srgbClr val="FFFCF5"/>
                </a:solidFill>
                <a:latin typeface="Menlo" pitchFamily="34" charset="0"/>
                <a:ea typeface="Menlo" pitchFamily="34" charset="-122"/>
                <a:cs typeface="Menlo" pitchFamily="34" charset="-120"/>
              </a:rPr>
              <a:t>pass^k</a:t>
            </a:r>
            <a:endParaRPr lang="en-US" sz="1600" dirty="0"/>
          </a:p>
        </p:txBody>
      </p:sp>
      <p:sp>
        <p:nvSpPr>
          <p:cNvPr id="28" name="b2:tile0"/>
          <p:cNvSpPr/>
          <p:nvPr/>
        </p:nvSpPr>
        <p:spPr>
          <a:xfrm>
            <a:off x="7123252" y="4864608"/>
            <a:ext cx="1384681" cy="1051560"/>
          </a:xfrm>
          <a:prstGeom prst="roundRect">
            <a:avLst>
              <a:gd name="adj" fmla="val 5217"/>
            </a:avLst>
          </a:prstGeom>
          <a:solidFill>
            <a:srgbClr val="1C1F27"/>
          </a:solidFill>
          <a:ln w="12700">
            <a:solidFill>
              <a:srgbClr val="303236"/>
            </a:solidFill>
            <a:prstDash val="solid"/>
          </a:ln>
        </p:spPr>
      </p:sp>
      <p:sp>
        <p:nvSpPr>
          <p:cNvPr id="29" name="b2:tile-n0"/>
          <p:cNvSpPr txBox="1"/>
          <p:nvPr/>
        </p:nvSpPr>
        <p:spPr>
          <a:xfrm>
            <a:off x="7214692" y="4937760"/>
            <a:ext cx="1201801" cy="411480"/>
          </a:xfrm>
          <a:prstGeom prst="rect">
            <a:avLst/>
          </a:prstGeom>
          <a:noFill/>
          <a:ln/>
        </p:spPr>
        <p:txBody>
          <a:bodyPr wrap="square" lIns="0" tIns="0" rIns="0" bIns="0" rtlCol="0" anchor="ctr"/>
          <a:lstStyle/>
          <a:p>
            <a:pPr algn="l" indent="0" marL="0">
              <a:lnSpc>
                <a:spcPct val="120000"/>
              </a:lnSpc>
              <a:buNone/>
            </a:pPr>
            <a:r>
              <a:rPr lang="en-US" sz="2800" b="1" dirty="0">
                <a:solidFill>
                  <a:srgbClr val="F948BE"/>
                </a:solidFill>
                <a:latin typeface="Helvetica Neue" pitchFamily="34" charset="0"/>
                <a:ea typeface="Helvetica Neue" pitchFamily="34" charset="-122"/>
                <a:cs typeface="Helvetica Neue" pitchFamily="34" charset="-120"/>
              </a:rPr>
              <a:t>89%</a:t>
            </a:r>
            <a:endParaRPr lang="en-US" sz="2800" dirty="0"/>
          </a:p>
        </p:txBody>
      </p:sp>
      <p:sp>
        <p:nvSpPr>
          <p:cNvPr id="30" name="b2:tile-l0"/>
          <p:cNvSpPr txBox="1"/>
          <p:nvPr/>
        </p:nvSpPr>
        <p:spPr>
          <a:xfrm>
            <a:off x="7214692" y="5349240"/>
            <a:ext cx="1247521" cy="530352"/>
          </a:xfrm>
          <a:prstGeom prst="rect">
            <a:avLst/>
          </a:prstGeom>
          <a:noFill/>
          <a:ln/>
        </p:spPr>
        <p:txBody>
          <a:bodyPr wrap="square" lIns="0" tIns="0" rIns="0" bIns="0" rtlCol="0" anchor="t"/>
          <a:lstStyle/>
          <a:p>
            <a:pPr algn="l"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have observability</a:t>
            </a:r>
            <a:endParaRPr lang="en-US" sz="1600" dirty="0"/>
          </a:p>
        </p:txBody>
      </p:sp>
      <p:sp>
        <p:nvSpPr>
          <p:cNvPr id="31" name="b2:tile1"/>
          <p:cNvSpPr/>
          <p:nvPr/>
        </p:nvSpPr>
        <p:spPr>
          <a:xfrm>
            <a:off x="8599373" y="4864608"/>
            <a:ext cx="1384681" cy="1051560"/>
          </a:xfrm>
          <a:prstGeom prst="roundRect">
            <a:avLst>
              <a:gd name="adj" fmla="val 5217"/>
            </a:avLst>
          </a:prstGeom>
          <a:solidFill>
            <a:srgbClr val="1C1F27"/>
          </a:solidFill>
          <a:ln w="12700">
            <a:solidFill>
              <a:srgbClr val="303236"/>
            </a:solidFill>
            <a:prstDash val="solid"/>
          </a:ln>
        </p:spPr>
      </p:sp>
      <p:sp>
        <p:nvSpPr>
          <p:cNvPr id="32" name="b2:tile-n1"/>
          <p:cNvSpPr txBox="1"/>
          <p:nvPr/>
        </p:nvSpPr>
        <p:spPr>
          <a:xfrm>
            <a:off x="8690813" y="4937760"/>
            <a:ext cx="1201801" cy="411480"/>
          </a:xfrm>
          <a:prstGeom prst="rect">
            <a:avLst/>
          </a:prstGeom>
          <a:noFill/>
          <a:ln/>
        </p:spPr>
        <p:txBody>
          <a:bodyPr wrap="square" lIns="0" tIns="0" rIns="0" bIns="0" rtlCol="0" anchor="ctr"/>
          <a:lstStyle/>
          <a:p>
            <a:pPr algn="l" indent="0" marL="0">
              <a:lnSpc>
                <a:spcPct val="120000"/>
              </a:lnSpc>
              <a:buNone/>
            </a:pPr>
            <a:r>
              <a:rPr lang="en-US" sz="2800" b="1" dirty="0">
                <a:solidFill>
                  <a:srgbClr val="1064F8"/>
                </a:solidFill>
                <a:latin typeface="Helvetica Neue" pitchFamily="34" charset="0"/>
                <a:ea typeface="Helvetica Neue" pitchFamily="34" charset="-122"/>
                <a:cs typeface="Helvetica Neue" pitchFamily="34" charset="-120"/>
              </a:rPr>
              <a:t>~52%</a:t>
            </a:r>
            <a:endParaRPr lang="en-US" sz="2800" dirty="0"/>
          </a:p>
        </p:txBody>
      </p:sp>
      <p:sp>
        <p:nvSpPr>
          <p:cNvPr id="33" name="b2:tile-l1"/>
          <p:cNvSpPr txBox="1"/>
          <p:nvPr/>
        </p:nvSpPr>
        <p:spPr>
          <a:xfrm>
            <a:off x="8690813" y="5349240"/>
            <a:ext cx="1247521" cy="530352"/>
          </a:xfrm>
          <a:prstGeom prst="rect">
            <a:avLst/>
          </a:prstGeom>
          <a:noFill/>
          <a:ln/>
        </p:spPr>
        <p:txBody>
          <a:bodyPr wrap="square" lIns="0" tIns="0" rIns="0" bIns="0" rtlCol="0" anchor="t"/>
          <a:lstStyle/>
          <a:p>
            <a:pPr algn="l"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run offline evals</a:t>
            </a:r>
            <a:endParaRPr lang="en-US" sz="1600" dirty="0"/>
          </a:p>
        </p:txBody>
      </p:sp>
      <p:sp>
        <p:nvSpPr>
          <p:cNvPr id="34" name="b2:tile2"/>
          <p:cNvSpPr/>
          <p:nvPr/>
        </p:nvSpPr>
        <p:spPr>
          <a:xfrm>
            <a:off x="10075494" y="4864608"/>
            <a:ext cx="1384681" cy="1051560"/>
          </a:xfrm>
          <a:prstGeom prst="roundRect">
            <a:avLst>
              <a:gd name="adj" fmla="val 5217"/>
            </a:avLst>
          </a:prstGeom>
          <a:solidFill>
            <a:srgbClr val="1C1F27"/>
          </a:solidFill>
          <a:ln w="12700">
            <a:solidFill>
              <a:srgbClr val="303236"/>
            </a:solidFill>
            <a:prstDash val="solid"/>
          </a:ln>
        </p:spPr>
      </p:sp>
      <p:sp>
        <p:nvSpPr>
          <p:cNvPr id="35" name="b2:tile-n2"/>
          <p:cNvSpPr txBox="1"/>
          <p:nvPr/>
        </p:nvSpPr>
        <p:spPr>
          <a:xfrm>
            <a:off x="10166934" y="4937760"/>
            <a:ext cx="1201801" cy="411480"/>
          </a:xfrm>
          <a:prstGeom prst="rect">
            <a:avLst/>
          </a:prstGeom>
          <a:noFill/>
          <a:ln/>
        </p:spPr>
        <p:txBody>
          <a:bodyPr wrap="square" lIns="0" tIns="0" rIns="0" bIns="0" rtlCol="0" anchor="ctr"/>
          <a:lstStyle/>
          <a:p>
            <a:pPr algn="l" indent="0" marL="0">
              <a:lnSpc>
                <a:spcPct val="120000"/>
              </a:lnSpc>
              <a:buNone/>
            </a:pPr>
            <a:r>
              <a:rPr lang="en-US" sz="2800" b="1" dirty="0">
                <a:solidFill>
                  <a:srgbClr val="01B66D"/>
                </a:solidFill>
                <a:latin typeface="Helvetica Neue" pitchFamily="34" charset="0"/>
                <a:ea typeface="Helvetica Neue" pitchFamily="34" charset="-122"/>
                <a:cs typeface="Helvetica Neue" pitchFamily="34" charset="-120"/>
              </a:rPr>
              <a:t>~37%</a:t>
            </a:r>
            <a:endParaRPr lang="en-US" sz="2800" dirty="0"/>
          </a:p>
        </p:txBody>
      </p:sp>
      <p:sp>
        <p:nvSpPr>
          <p:cNvPr id="36" name="b2:tile-l2"/>
          <p:cNvSpPr txBox="1"/>
          <p:nvPr/>
        </p:nvSpPr>
        <p:spPr>
          <a:xfrm>
            <a:off x="10166934" y="5349240"/>
            <a:ext cx="1247521" cy="530352"/>
          </a:xfrm>
          <a:prstGeom prst="rect">
            <a:avLst/>
          </a:prstGeom>
          <a:noFill/>
          <a:ln/>
        </p:spPr>
        <p:txBody>
          <a:bodyPr wrap="square" lIns="0" tIns="0" rIns="0" bIns="0" rtlCol="0" anchor="t"/>
          <a:lstStyle/>
          <a:p>
            <a:pPr algn="l" indent="0" marL="0">
              <a:lnSpc>
                <a:spcPct val="112000"/>
              </a:lnSpc>
              <a:buNone/>
            </a:pPr>
            <a:r>
              <a:rPr lang="en-US" sz="1600" dirty="0">
                <a:solidFill>
                  <a:srgbClr val="FFFCF5"/>
                </a:solidFill>
                <a:latin typeface="Helvetica Neue" pitchFamily="34" charset="0"/>
                <a:ea typeface="Helvetica Neue" pitchFamily="34" charset="-122"/>
                <a:cs typeface="Helvetica Neue" pitchFamily="34" charset="-120"/>
              </a:rPr>
              <a:t>run online evals</a:t>
            </a:r>
            <a:endParaRPr lang="en-US" sz="1600" dirty="0"/>
          </a:p>
        </p:txBody>
      </p:sp>
      <p:sp>
        <p:nvSpPr>
          <p:cNvPr id="37" name="b2:tile-a"/>
          <p:cNvSpPr txBox="1"/>
          <p:nvPr/>
        </p:nvSpPr>
        <p:spPr>
          <a:xfrm>
            <a:off x="7123252" y="5971032"/>
            <a:ext cx="4336923"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LangChain, December 2025</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12</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The trace is the shared unit of evals and operations.</a:t>
            </a:r>
            <a:endParaRPr lang="en-US" sz="3600" dirty="0"/>
          </a:p>
        </p:txBody>
      </p:sp>
      <p:sp>
        <p:nvSpPr>
          <p:cNvPr id="6" name="Text 3"/>
          <p:cNvSpPr txBox="1"/>
          <p:nvPr/>
        </p:nvSpPr>
        <p:spPr>
          <a:xfrm>
            <a:off x="731520" y="1691640"/>
            <a:ext cx="4336923" cy="4206240"/>
          </a:xfrm>
          <a:prstGeom prst="rect">
            <a:avLst/>
          </a:prstGeom>
          <a:noFill/>
          <a:ln/>
        </p:spPr>
        <p:txBody>
          <a:bodyPr wrap="square" lIns="0" tIns="0" rIns="0" bIns="0" rtlCol="0" anchor="t"/>
          <a:lstStyle/>
          <a:p>
            <a:pPr marL="279400" indent="-279400">
              <a:lnSpc>
                <a:spcPct val="130000"/>
              </a:lnSpc>
              <a:spcAft>
                <a:spcPts val="10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Record: full context, every model call, every tool call and result, state transitions and stopping reason, end state, tokens, cost, latency, model and prompt versions, user feedback.</a:t>
            </a:r>
            <a:endParaRPr lang="en-US" sz="1800" dirty="0"/>
          </a:p>
          <a:p>
            <a:pPr marL="279400" indent="-279400">
              <a:lnSpc>
                <a:spcPct val="130000"/>
              </a:lnSpc>
              <a:spcAft>
                <a:spcPts val="10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OpenTelemetry has GenAI conventions for agents and tools. Still marked development. Instrument now, expect renames.</a:t>
            </a:r>
            <a:endParaRPr lang="en-US" sz="1800" dirty="0"/>
          </a:p>
          <a:p>
            <a:pPr marL="279400" indent="-279400">
              <a:lnSpc>
                <a:spcPct val="130000"/>
              </a:lnSpc>
              <a:buSzPct val="100000"/>
              <a:buChar char="•"/>
            </a:pPr>
            <a:r>
              <a:rPr lang="en-US" sz="1800" dirty="0">
                <a:solidFill>
                  <a:srgbClr val="FFFCF5"/>
                </a:solidFill>
                <a:latin typeface="Helvetica Neue" pitchFamily="34" charset="0"/>
                <a:ea typeface="Helvetica Neue" pitchFamily="34" charset="-122"/>
                <a:cs typeface="Helvetica Neue" pitchFamily="34" charset="-120"/>
              </a:rPr>
              <a:t>A model swap that raises the rate of runs that say done without passing the tests is an incident.</a:t>
            </a:r>
            <a:endParaRPr lang="en-US" sz="1800" dirty="0"/>
          </a:p>
        </p:txBody>
      </p:sp>
      <p:sp>
        <p:nvSpPr>
          <p:cNvPr id="7" name="Shape 4"/>
          <p:cNvSpPr/>
          <p:nvPr/>
        </p:nvSpPr>
        <p:spPr>
          <a:xfrm>
            <a:off x="5297043" y="1691640"/>
            <a:ext cx="6163132" cy="4343400"/>
          </a:xfrm>
          <a:prstGeom prst="roundRect">
            <a:avLst>
              <a:gd name="adj" fmla="val 632"/>
            </a:avLst>
          </a:prstGeom>
          <a:solidFill>
            <a:srgbClr val="1C1F27"/>
          </a:solidFill>
          <a:ln w="12700">
            <a:solidFill>
              <a:srgbClr val="303236"/>
            </a:solidFill>
            <a:prstDash val="solid"/>
          </a:ln>
        </p:spPr>
      </p:sp>
      <p:sp>
        <p:nvSpPr>
          <p:cNvPr id="8" name="Text 5"/>
          <p:cNvSpPr txBox="1"/>
          <p:nvPr/>
        </p:nvSpPr>
        <p:spPr>
          <a:xfrm>
            <a:off x="5571363" y="1965960"/>
            <a:ext cx="2377440"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One trace, one session</a:t>
            </a:r>
            <a:endParaRPr lang="en-US" sz="1600" dirty="0"/>
          </a:p>
        </p:txBody>
      </p:sp>
      <p:sp>
        <p:nvSpPr>
          <p:cNvPr id="9" name="Text 6"/>
          <p:cNvSpPr txBox="1"/>
          <p:nvPr/>
        </p:nvSpPr>
        <p:spPr>
          <a:xfrm>
            <a:off x="8031175" y="1828800"/>
            <a:ext cx="3246120" cy="566928"/>
          </a:xfrm>
          <a:prstGeom prst="roundRect">
            <a:avLst>
              <a:gd name="adj" fmla="val 6452"/>
            </a:avLst>
          </a:prstGeom>
          <a:noFill/>
          <a:ln w="25400">
            <a:solidFill>
              <a:srgbClr val="FDAD00"/>
            </a:solidFill>
          </a:ln>
        </p:spPr>
        <p:txBody>
          <a:bodyPr wrap="square" lIns="0" tIns="0" rIns="0" bIns="0" rtlCol="0" anchor="ctr"/>
          <a:lstStyle/>
          <a:p>
            <a:pPr algn="ctr" indent="0" marL="0">
              <a:lnSpc>
                <a:spcPct val="115000"/>
              </a:lnSpc>
              <a:buNone/>
            </a:pPr>
            <a:r>
              <a:rPr lang="en-US" sz="1600" dirty="0">
                <a:solidFill>
                  <a:srgbClr val="FDAD00"/>
                </a:solidFill>
                <a:latin typeface="Helvetica Neue" pitchFamily="34" charset="0"/>
                <a:ea typeface="Helvetica Neue" pitchFamily="34" charset="-122"/>
                <a:cs typeface="Helvetica Neue" pitchFamily="34" charset="-120"/>
              </a:rPr>
              <a:t>OpenTelemetry GenAI conventions</a:t>
            </a:r>
            <a:endParaRPr lang="en-US" sz="1600" dirty="0"/>
          </a:p>
          <a:p>
            <a:pPr algn="ctr" indent="0" marL="0">
              <a:lnSpc>
                <a:spcPct val="115000"/>
              </a:lnSpc>
              <a:buNone/>
            </a:pPr>
            <a:r>
              <a:rPr lang="en-US" sz="1600" dirty="0">
                <a:solidFill>
                  <a:srgbClr val="FDAD00"/>
                </a:solidFill>
                <a:latin typeface="Helvetica Neue" pitchFamily="34" charset="0"/>
                <a:ea typeface="Helvetica Neue" pitchFamily="34" charset="-122"/>
                <a:cs typeface="Helvetica Neue" pitchFamily="34" charset="-120"/>
              </a:rPr>
              <a:t>development status, July 2026</a:t>
            </a:r>
            <a:endParaRPr lang="en-US" sz="1600" dirty="0"/>
          </a:p>
        </p:txBody>
      </p:sp>
      <p:sp>
        <p:nvSpPr>
          <p:cNvPr id="10" name="Text 7"/>
          <p:cNvSpPr txBox="1"/>
          <p:nvPr/>
        </p:nvSpPr>
        <p:spPr>
          <a:xfrm>
            <a:off x="5799963" y="2560320"/>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context</a:t>
            </a:r>
            <a:endParaRPr lang="en-US" sz="1600" dirty="0"/>
          </a:p>
        </p:txBody>
      </p:sp>
      <p:sp>
        <p:nvSpPr>
          <p:cNvPr id="11" name="Text 8"/>
          <p:cNvSpPr txBox="1"/>
          <p:nvPr/>
        </p:nvSpPr>
        <p:spPr>
          <a:xfrm>
            <a:off x="8268843" y="2560320"/>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4,812 tokens</a:t>
            </a:r>
            <a:endParaRPr lang="en-US" sz="1600" dirty="0"/>
          </a:p>
        </p:txBody>
      </p:sp>
      <p:sp>
        <p:nvSpPr>
          <p:cNvPr id="12" name="Text 9"/>
          <p:cNvSpPr txBox="1"/>
          <p:nvPr/>
        </p:nvSpPr>
        <p:spPr>
          <a:xfrm>
            <a:off x="5799963" y="2839212"/>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model calls</a:t>
            </a:r>
            <a:endParaRPr lang="en-US" sz="1600" dirty="0"/>
          </a:p>
        </p:txBody>
      </p:sp>
      <p:sp>
        <p:nvSpPr>
          <p:cNvPr id="13" name="Text 10"/>
          <p:cNvSpPr txBox="1"/>
          <p:nvPr/>
        </p:nvSpPr>
        <p:spPr>
          <a:xfrm>
            <a:off x="8268843" y="2839212"/>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3</a:t>
            </a:r>
            <a:endParaRPr lang="en-US" sz="1600" dirty="0"/>
          </a:p>
        </p:txBody>
      </p:sp>
      <p:sp>
        <p:nvSpPr>
          <p:cNvPr id="14" name="Text 11"/>
          <p:cNvSpPr txBox="1"/>
          <p:nvPr/>
        </p:nvSpPr>
        <p:spPr>
          <a:xfrm>
            <a:off x="5799963" y="3118104"/>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tool calls, results</a:t>
            </a:r>
            <a:endParaRPr lang="en-US" sz="1600" dirty="0"/>
          </a:p>
        </p:txBody>
      </p:sp>
      <p:sp>
        <p:nvSpPr>
          <p:cNvPr id="15" name="Text 12"/>
          <p:cNvSpPr txBox="1"/>
          <p:nvPr/>
        </p:nvSpPr>
        <p:spPr>
          <a:xfrm>
            <a:off x="8268843" y="3118104"/>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6 calls, 6 results</a:t>
            </a:r>
            <a:endParaRPr lang="en-US" sz="1600" dirty="0"/>
          </a:p>
        </p:txBody>
      </p:sp>
      <p:sp>
        <p:nvSpPr>
          <p:cNvPr id="16" name="Text 13"/>
          <p:cNvSpPr txBox="1"/>
          <p:nvPr/>
        </p:nvSpPr>
        <p:spPr>
          <a:xfrm>
            <a:off x="5799963" y="3396996"/>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state transitions</a:t>
            </a:r>
            <a:endParaRPr lang="en-US" sz="1600" dirty="0"/>
          </a:p>
        </p:txBody>
      </p:sp>
      <p:sp>
        <p:nvSpPr>
          <p:cNvPr id="17" name="Text 14"/>
          <p:cNvSpPr txBox="1"/>
          <p:nvPr/>
        </p:nvSpPr>
        <p:spPr>
          <a:xfrm>
            <a:off x="8268843" y="3396996"/>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5, last: waiting</a:t>
            </a:r>
            <a:endParaRPr lang="en-US" sz="1600" dirty="0"/>
          </a:p>
        </p:txBody>
      </p:sp>
      <p:sp>
        <p:nvSpPr>
          <p:cNvPr id="18" name="Shape 15"/>
          <p:cNvSpPr/>
          <p:nvPr/>
        </p:nvSpPr>
        <p:spPr>
          <a:xfrm>
            <a:off x="5562219" y="3758184"/>
            <a:ext cx="109728" cy="109728"/>
          </a:xfrm>
          <a:prstGeom prst="ellipse">
            <a:avLst/>
          </a:prstGeom>
          <a:solidFill>
            <a:srgbClr val="F948BE"/>
          </a:solidFill>
          <a:ln/>
        </p:spPr>
      </p:sp>
      <p:sp>
        <p:nvSpPr>
          <p:cNvPr id="19" name="Text 16"/>
          <p:cNvSpPr txBox="1"/>
          <p:nvPr/>
        </p:nvSpPr>
        <p:spPr>
          <a:xfrm>
            <a:off x="5799963" y="3675888"/>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948BE"/>
                </a:solidFill>
                <a:latin typeface="Menlo" pitchFamily="34" charset="0"/>
                <a:ea typeface="Menlo" pitchFamily="34" charset="-122"/>
                <a:cs typeface="Menlo" pitchFamily="34" charset="-120"/>
              </a:rPr>
              <a:t>stopping reason</a:t>
            </a:r>
            <a:endParaRPr lang="en-US" sz="1600" dirty="0"/>
          </a:p>
        </p:txBody>
      </p:sp>
      <p:sp>
        <p:nvSpPr>
          <p:cNvPr id="20" name="Text 17"/>
          <p:cNvSpPr txBox="1"/>
          <p:nvPr/>
        </p:nvSpPr>
        <p:spPr>
          <a:xfrm>
            <a:off x="8268843" y="3675888"/>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review timeout</a:t>
            </a:r>
            <a:endParaRPr lang="en-US" sz="1600" dirty="0"/>
          </a:p>
        </p:txBody>
      </p:sp>
      <p:sp>
        <p:nvSpPr>
          <p:cNvPr id="21" name="Text 18"/>
          <p:cNvSpPr txBox="1"/>
          <p:nvPr/>
        </p:nvSpPr>
        <p:spPr>
          <a:xfrm>
            <a:off x="5799963" y="3954780"/>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end state</a:t>
            </a:r>
            <a:endParaRPr lang="en-US" sz="1600" dirty="0"/>
          </a:p>
        </p:txBody>
      </p:sp>
      <p:sp>
        <p:nvSpPr>
          <p:cNvPr id="22" name="Text 19"/>
          <p:cNvSpPr txBox="1"/>
          <p:nvPr/>
        </p:nvSpPr>
        <p:spPr>
          <a:xfrm>
            <a:off x="8268843" y="3954780"/>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PR open, queued for a human</a:t>
            </a:r>
            <a:endParaRPr lang="en-US" sz="1600" dirty="0"/>
          </a:p>
        </p:txBody>
      </p:sp>
      <p:sp>
        <p:nvSpPr>
          <p:cNvPr id="23" name="Text 20"/>
          <p:cNvSpPr txBox="1"/>
          <p:nvPr/>
        </p:nvSpPr>
        <p:spPr>
          <a:xfrm>
            <a:off x="5799963" y="4233672"/>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tokens</a:t>
            </a:r>
            <a:endParaRPr lang="en-US" sz="1600" dirty="0"/>
          </a:p>
        </p:txBody>
      </p:sp>
      <p:sp>
        <p:nvSpPr>
          <p:cNvPr id="24" name="Text 21"/>
          <p:cNvSpPr txBox="1"/>
          <p:nvPr/>
        </p:nvSpPr>
        <p:spPr>
          <a:xfrm>
            <a:off x="8268843" y="4233672"/>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11,204 in, 1,380 out</a:t>
            </a:r>
            <a:endParaRPr lang="en-US" sz="1600" dirty="0"/>
          </a:p>
        </p:txBody>
      </p:sp>
      <p:sp>
        <p:nvSpPr>
          <p:cNvPr id="25" name="Shape 22"/>
          <p:cNvSpPr/>
          <p:nvPr/>
        </p:nvSpPr>
        <p:spPr>
          <a:xfrm>
            <a:off x="5562219" y="4594860"/>
            <a:ext cx="109728" cy="109728"/>
          </a:xfrm>
          <a:prstGeom prst="ellipse">
            <a:avLst/>
          </a:prstGeom>
          <a:solidFill>
            <a:srgbClr val="F948BE"/>
          </a:solidFill>
          <a:ln/>
        </p:spPr>
      </p:sp>
      <p:sp>
        <p:nvSpPr>
          <p:cNvPr id="26" name="Text 23"/>
          <p:cNvSpPr txBox="1"/>
          <p:nvPr/>
        </p:nvSpPr>
        <p:spPr>
          <a:xfrm>
            <a:off x="5799963" y="4512564"/>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948BE"/>
                </a:solidFill>
                <a:latin typeface="Menlo" pitchFamily="34" charset="0"/>
                <a:ea typeface="Menlo" pitchFamily="34" charset="-122"/>
                <a:cs typeface="Menlo" pitchFamily="34" charset="-120"/>
              </a:rPr>
              <a:t>cost</a:t>
            </a:r>
            <a:endParaRPr lang="en-US" sz="1600" dirty="0"/>
          </a:p>
        </p:txBody>
      </p:sp>
      <p:sp>
        <p:nvSpPr>
          <p:cNvPr id="27" name="Text 24"/>
          <p:cNvSpPr txBox="1"/>
          <p:nvPr/>
        </p:nvSpPr>
        <p:spPr>
          <a:xfrm>
            <a:off x="8268843" y="4512564"/>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$0.19</a:t>
            </a:r>
            <a:endParaRPr lang="en-US" sz="1600" dirty="0"/>
          </a:p>
        </p:txBody>
      </p:sp>
      <p:sp>
        <p:nvSpPr>
          <p:cNvPr id="28" name="Shape 25"/>
          <p:cNvSpPr/>
          <p:nvPr/>
        </p:nvSpPr>
        <p:spPr>
          <a:xfrm>
            <a:off x="5562219" y="4873752"/>
            <a:ext cx="109728" cy="109728"/>
          </a:xfrm>
          <a:prstGeom prst="ellipse">
            <a:avLst/>
          </a:prstGeom>
          <a:solidFill>
            <a:srgbClr val="F948BE"/>
          </a:solidFill>
          <a:ln/>
        </p:spPr>
      </p:sp>
      <p:sp>
        <p:nvSpPr>
          <p:cNvPr id="29" name="Text 26"/>
          <p:cNvSpPr txBox="1"/>
          <p:nvPr/>
        </p:nvSpPr>
        <p:spPr>
          <a:xfrm>
            <a:off x="5799963" y="4791456"/>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948BE"/>
                </a:solidFill>
                <a:latin typeface="Menlo" pitchFamily="34" charset="0"/>
                <a:ea typeface="Menlo" pitchFamily="34" charset="-122"/>
                <a:cs typeface="Menlo" pitchFamily="34" charset="-120"/>
              </a:rPr>
              <a:t>latency</a:t>
            </a:r>
            <a:endParaRPr lang="en-US" sz="1600" dirty="0"/>
          </a:p>
        </p:txBody>
      </p:sp>
      <p:sp>
        <p:nvSpPr>
          <p:cNvPr id="30" name="Text 27"/>
          <p:cNvSpPr txBox="1"/>
          <p:nvPr/>
        </p:nvSpPr>
        <p:spPr>
          <a:xfrm>
            <a:off x="8268843" y="4791456"/>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1.8 s median step</a:t>
            </a:r>
            <a:endParaRPr lang="en-US" sz="1600" dirty="0"/>
          </a:p>
        </p:txBody>
      </p:sp>
      <p:sp>
        <p:nvSpPr>
          <p:cNvPr id="31" name="Shape 28"/>
          <p:cNvSpPr/>
          <p:nvPr/>
        </p:nvSpPr>
        <p:spPr>
          <a:xfrm>
            <a:off x="5562219" y="5152644"/>
            <a:ext cx="109728" cy="109728"/>
          </a:xfrm>
          <a:prstGeom prst="ellipse">
            <a:avLst/>
          </a:prstGeom>
          <a:solidFill>
            <a:srgbClr val="F948BE"/>
          </a:solidFill>
          <a:ln/>
        </p:spPr>
      </p:sp>
      <p:sp>
        <p:nvSpPr>
          <p:cNvPr id="32" name="Text 29"/>
          <p:cNvSpPr txBox="1"/>
          <p:nvPr/>
        </p:nvSpPr>
        <p:spPr>
          <a:xfrm>
            <a:off x="5799963" y="5070348"/>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948BE"/>
                </a:solidFill>
                <a:latin typeface="Menlo" pitchFamily="34" charset="0"/>
                <a:ea typeface="Menlo" pitchFamily="34" charset="-122"/>
                <a:cs typeface="Menlo" pitchFamily="34" charset="-120"/>
              </a:rPr>
              <a:t>model version</a:t>
            </a:r>
            <a:endParaRPr lang="en-US" sz="1600" dirty="0"/>
          </a:p>
        </p:txBody>
      </p:sp>
      <p:sp>
        <p:nvSpPr>
          <p:cNvPr id="33" name="Text 30"/>
          <p:cNvSpPr txBox="1"/>
          <p:nvPr/>
        </p:nvSpPr>
        <p:spPr>
          <a:xfrm>
            <a:off x="8268843" y="5070348"/>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2026-06-12</a:t>
            </a:r>
            <a:endParaRPr lang="en-US" sz="1600" dirty="0"/>
          </a:p>
        </p:txBody>
      </p:sp>
      <p:sp>
        <p:nvSpPr>
          <p:cNvPr id="34" name="Shape 31"/>
          <p:cNvSpPr/>
          <p:nvPr/>
        </p:nvSpPr>
        <p:spPr>
          <a:xfrm>
            <a:off x="5562219" y="5431536"/>
            <a:ext cx="109728" cy="109728"/>
          </a:xfrm>
          <a:prstGeom prst="ellipse">
            <a:avLst/>
          </a:prstGeom>
          <a:solidFill>
            <a:srgbClr val="F948BE"/>
          </a:solidFill>
          <a:ln/>
        </p:spPr>
      </p:sp>
      <p:sp>
        <p:nvSpPr>
          <p:cNvPr id="35" name="Text 32"/>
          <p:cNvSpPr txBox="1"/>
          <p:nvPr/>
        </p:nvSpPr>
        <p:spPr>
          <a:xfrm>
            <a:off x="5799963" y="5349240"/>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948BE"/>
                </a:solidFill>
                <a:latin typeface="Menlo" pitchFamily="34" charset="0"/>
                <a:ea typeface="Menlo" pitchFamily="34" charset="-122"/>
                <a:cs typeface="Menlo" pitchFamily="34" charset="-120"/>
              </a:rPr>
              <a:t>prompt version</a:t>
            </a:r>
            <a:endParaRPr lang="en-US" sz="1600" dirty="0"/>
          </a:p>
        </p:txBody>
      </p:sp>
      <p:sp>
        <p:nvSpPr>
          <p:cNvPr id="36" name="Text 33"/>
          <p:cNvSpPr txBox="1"/>
          <p:nvPr/>
        </p:nvSpPr>
        <p:spPr>
          <a:xfrm>
            <a:off x="8268843" y="5349240"/>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v14</a:t>
            </a:r>
            <a:endParaRPr lang="en-US" sz="1600" dirty="0"/>
          </a:p>
        </p:txBody>
      </p:sp>
      <p:sp>
        <p:nvSpPr>
          <p:cNvPr id="37" name="Text 34"/>
          <p:cNvSpPr txBox="1"/>
          <p:nvPr/>
        </p:nvSpPr>
        <p:spPr>
          <a:xfrm>
            <a:off x="5799963" y="5628132"/>
            <a:ext cx="2377440" cy="274320"/>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Menlo" pitchFamily="34" charset="0"/>
                <a:ea typeface="Menlo" pitchFamily="34" charset="-122"/>
                <a:cs typeface="Menlo" pitchFamily="34" charset="-120"/>
              </a:rPr>
              <a:t>user feedback</a:t>
            </a:r>
            <a:endParaRPr lang="en-US" sz="1600" dirty="0"/>
          </a:p>
        </p:txBody>
      </p:sp>
      <p:sp>
        <p:nvSpPr>
          <p:cNvPr id="38" name="Text 35"/>
          <p:cNvSpPr txBox="1"/>
          <p:nvPr/>
        </p:nvSpPr>
        <p:spPr>
          <a:xfrm>
            <a:off x="8268843" y="5628132"/>
            <a:ext cx="2962732" cy="274320"/>
          </a:xfrm>
          <a:prstGeom prst="rect">
            <a:avLst/>
          </a:prstGeom>
          <a:noFill/>
          <a:ln/>
        </p:spPr>
        <p:txBody>
          <a:bodyPr wrap="square" lIns="0" tIns="0" rIns="0" bIns="0" rtlCol="0" anchor="ctr"/>
          <a:lstStyle/>
          <a:p>
            <a:pPr algn="l" indent="0" marL="0">
              <a:lnSpc>
                <a:spcPct val="120000"/>
              </a:lnSpc>
              <a:buNone/>
            </a:pPr>
            <a:r>
              <a:rPr lang="en-US" sz="1600" dirty="0">
                <a:solidFill>
                  <a:srgbClr val="727273"/>
                </a:solidFill>
                <a:latin typeface="Menlo" pitchFamily="34" charset="0"/>
                <a:ea typeface="Menlo" pitchFamily="34" charset="-122"/>
                <a:cs typeface="Menlo" pitchFamily="34" charset="-120"/>
              </a:rPr>
              <a:t>none yet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13</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Prompt injection is unsolved. Defenses are architectural.</a:t>
            </a:r>
            <a:endParaRPr lang="en-US" sz="3600" dirty="0"/>
          </a:p>
        </p:txBody>
      </p:sp>
      <p:sp>
        <p:nvSpPr>
          <p:cNvPr id="6" name="Shape 3"/>
          <p:cNvSpPr/>
          <p:nvPr/>
        </p:nvSpPr>
        <p:spPr>
          <a:xfrm flipH="1">
            <a:off x="1691640" y="1874520"/>
            <a:ext cx="1234440" cy="1371600"/>
          </a:xfrm>
          <a:prstGeom prst="line">
            <a:avLst/>
          </a:prstGeom>
          <a:noFill/>
          <a:ln w="25400">
            <a:solidFill>
              <a:srgbClr val="A1A09E"/>
            </a:solidFill>
            <a:prstDash val="solid"/>
          </a:ln>
        </p:spPr>
      </p:sp>
      <p:sp>
        <p:nvSpPr>
          <p:cNvPr id="7" name="Shape 4"/>
          <p:cNvSpPr/>
          <p:nvPr/>
        </p:nvSpPr>
        <p:spPr>
          <a:xfrm>
            <a:off x="2926080" y="1874520"/>
            <a:ext cx="1234440" cy="1371600"/>
          </a:xfrm>
          <a:prstGeom prst="line">
            <a:avLst/>
          </a:prstGeom>
          <a:noFill/>
          <a:ln w="25400">
            <a:solidFill>
              <a:srgbClr val="A1A09E"/>
            </a:solidFill>
            <a:prstDash val="solid"/>
          </a:ln>
        </p:spPr>
      </p:sp>
      <p:sp>
        <p:nvSpPr>
          <p:cNvPr id="8" name="Shape 5"/>
          <p:cNvSpPr/>
          <p:nvPr/>
        </p:nvSpPr>
        <p:spPr>
          <a:xfrm>
            <a:off x="1691640" y="3246120"/>
            <a:ext cx="2468880" cy="0"/>
          </a:xfrm>
          <a:prstGeom prst="line">
            <a:avLst/>
          </a:prstGeom>
          <a:noFill/>
          <a:ln w="25400">
            <a:solidFill>
              <a:srgbClr val="A1A09E"/>
            </a:solidFill>
            <a:prstDash val="solid"/>
          </a:ln>
        </p:spPr>
      </p:sp>
      <p:sp>
        <p:nvSpPr>
          <p:cNvPr id="9" name="Text 6"/>
          <p:cNvSpPr txBox="1"/>
          <p:nvPr/>
        </p:nvSpPr>
        <p:spPr>
          <a:xfrm>
            <a:off x="1965960" y="1618488"/>
            <a:ext cx="1920240" cy="512064"/>
          </a:xfrm>
          <a:prstGeom prst="roundRect">
            <a:avLst>
              <a:gd name="adj" fmla="val 10714"/>
            </a:avLst>
          </a:prstGeom>
          <a:solidFill>
            <a:srgbClr val="1C1F27"/>
          </a:solidFill>
          <a:ln w="254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private data</a:t>
            </a:r>
            <a:endParaRPr lang="en-US" sz="1600" dirty="0"/>
          </a:p>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the repo, your keys</a:t>
            </a:r>
            <a:endParaRPr lang="en-US" sz="1600" dirty="0"/>
          </a:p>
        </p:txBody>
      </p:sp>
      <p:sp>
        <p:nvSpPr>
          <p:cNvPr id="10" name="Text 7"/>
          <p:cNvSpPr txBox="1"/>
          <p:nvPr/>
        </p:nvSpPr>
        <p:spPr>
          <a:xfrm>
            <a:off x="457200" y="2990088"/>
            <a:ext cx="2468880" cy="512064"/>
          </a:xfrm>
          <a:prstGeom prst="roundRect">
            <a:avLst>
              <a:gd name="adj" fmla="val 10714"/>
            </a:avLst>
          </a:prstGeom>
          <a:solidFill>
            <a:srgbClr val="1C1F27"/>
          </a:solidFill>
          <a:ln w="25400">
            <a:solidFill>
              <a:srgbClr val="FDAD00"/>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untrusted content</a:t>
            </a:r>
            <a:endParaRPr lang="en-US" sz="1600" dirty="0"/>
          </a:p>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an issue, a README, a page</a:t>
            </a:r>
            <a:endParaRPr lang="en-US" sz="1600" dirty="0"/>
          </a:p>
        </p:txBody>
      </p:sp>
      <p:sp>
        <p:nvSpPr>
          <p:cNvPr id="11" name="Text 8"/>
          <p:cNvSpPr txBox="1"/>
          <p:nvPr/>
        </p:nvSpPr>
        <p:spPr>
          <a:xfrm>
            <a:off x="2926080" y="2990088"/>
            <a:ext cx="2468880" cy="512064"/>
          </a:xfrm>
          <a:prstGeom prst="roundRect">
            <a:avLst>
              <a:gd name="adj" fmla="val 10714"/>
            </a:avLst>
          </a:prstGeom>
          <a:solidFill>
            <a:srgbClr val="1C1F27"/>
          </a:solidFill>
          <a:ln w="254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a way to communicate out</a:t>
            </a:r>
            <a:endParaRPr lang="en-US" sz="1600" dirty="0"/>
          </a:p>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push</a:t>
            </a:r>
            <a:endParaRPr lang="en-US" sz="1600" dirty="0"/>
          </a:p>
        </p:txBody>
      </p:sp>
      <p:pic>
        <p:nvPicPr>
          <p:cNvPr id="12" name="Image 0" descr="preencoded.png">    </p:cNvPr>
          <p:cNvPicPr>
            <a:picLocks noChangeAspect="1"/>
          </p:cNvPicPr>
          <p:nvPr/>
        </p:nvPicPr>
        <p:blipFill>
          <a:blip r:embed="rId1"/>
          <a:stretch>
            <a:fillRect/>
          </a:stretch>
        </p:blipFill>
        <p:spPr>
          <a:xfrm>
            <a:off x="777240" y="3611880"/>
            <a:ext cx="384048" cy="384048"/>
          </a:xfrm>
          <a:prstGeom prst="rect">
            <a:avLst/>
          </a:prstGeom>
        </p:spPr>
      </p:pic>
      <p:sp>
        <p:nvSpPr>
          <p:cNvPr id="13" name="Text 9"/>
          <p:cNvSpPr txBox="1"/>
          <p:nvPr/>
        </p:nvSpPr>
        <p:spPr>
          <a:xfrm>
            <a:off x="1280160" y="3538728"/>
            <a:ext cx="2743200" cy="530352"/>
          </a:xfrm>
          <a:prstGeom prst="rect">
            <a:avLst/>
          </a:prstGeom>
          <a:noFill/>
          <a:ln/>
        </p:spPr>
        <p:txBody>
          <a:bodyPr wrap="square" lIns="0" tIns="0" rIns="0" bIns="0" rtlCol="0" anchor="ctr"/>
          <a:lstStyle/>
          <a:p>
            <a:pPr algn="l" indent="0" marL="0">
              <a:lnSpc>
                <a:spcPct val="115000"/>
              </a:lnSpc>
              <a:buNone/>
            </a:pPr>
            <a:r>
              <a:rPr lang="en-US" sz="1600" dirty="0">
                <a:solidFill>
                  <a:srgbClr val="FDAD00"/>
                </a:solidFill>
                <a:latin typeface="Menlo" pitchFamily="34" charset="0"/>
                <a:ea typeface="Menlo" pitchFamily="34" charset="-122"/>
                <a:cs typeface="Menlo" pitchFamily="34" charset="-120"/>
              </a:rPr>
              <a:t>clear the system to a</a:t>
            </a:r>
            <a:endParaRPr lang="en-US" sz="1600" dirty="0"/>
          </a:p>
          <a:p>
            <a:pPr algn="l" indent="0" marL="0">
              <a:lnSpc>
                <a:spcPct val="115000"/>
              </a:lnSpc>
              <a:buNone/>
            </a:pPr>
            <a:r>
              <a:rPr lang="en-US" sz="1600" dirty="0">
                <a:solidFill>
                  <a:srgbClr val="FDAD00"/>
                </a:solidFill>
                <a:latin typeface="Menlo" pitchFamily="34" charset="0"/>
                <a:ea typeface="Menlo" pitchFamily="34" charset="-122"/>
                <a:cs typeface="Menlo" pitchFamily="34" charset="-120"/>
              </a:rPr>
              <a:t>near-factory state</a:t>
            </a:r>
            <a:endParaRPr lang="en-US" sz="1600" dirty="0"/>
          </a:p>
        </p:txBody>
      </p:sp>
      <p:pic>
        <p:nvPicPr>
          <p:cNvPr id="14" name="b1:gate" descr="preencoded.png">    </p:cNvPr>
          <p:cNvPicPr>
            <a:picLocks noChangeAspect="1"/>
          </p:cNvPicPr>
          <p:nvPr/>
        </p:nvPicPr>
        <p:blipFill>
          <a:blip r:embed="rId2"/>
          <a:stretch>
            <a:fillRect/>
          </a:stretch>
        </p:blipFill>
        <p:spPr>
          <a:xfrm>
            <a:off x="4434840" y="2331720"/>
            <a:ext cx="384048" cy="384048"/>
          </a:xfrm>
          <a:prstGeom prst="rect">
            <a:avLst/>
          </a:prstGeom>
        </p:spPr>
      </p:pic>
      <p:sp>
        <p:nvSpPr>
          <p:cNvPr id="15" name="b1:gate-l"/>
          <p:cNvSpPr txBox="1"/>
          <p:nvPr/>
        </p:nvSpPr>
        <p:spPr>
          <a:xfrm>
            <a:off x="4846320" y="2331720"/>
            <a:ext cx="2103120" cy="512064"/>
          </a:xfrm>
          <a:prstGeom prst="rect">
            <a:avLst/>
          </a:prstGeom>
          <a:noFill/>
          <a:ln/>
        </p:spPr>
        <p:txBody>
          <a:bodyPr wrap="square" lIns="0" tIns="0" rIns="0" bIns="0" rtlCol="0" anchor="ctr"/>
          <a:lstStyle/>
          <a:p>
            <a:pPr algn="l" indent="0" marL="0">
              <a:lnSpc>
                <a:spcPct val="110000"/>
              </a:lnSpc>
              <a:buNone/>
            </a:pPr>
            <a:r>
              <a:rPr lang="en-US" sz="1600" b="1" dirty="0">
                <a:solidFill>
                  <a:srgbClr val="01B66D"/>
                </a:solidFill>
                <a:latin typeface="Helvetica Neue" pitchFamily="34" charset="0"/>
                <a:ea typeface="Helvetica Neue" pitchFamily="34" charset="-122"/>
                <a:cs typeface="Helvetica Neue" pitchFamily="34" charset="-120"/>
              </a:rPr>
              <a:t>permission tier,</a:t>
            </a:r>
            <a:endParaRPr lang="en-US" sz="1600" dirty="0"/>
          </a:p>
          <a:p>
            <a:pPr algn="l" indent="0" marL="0">
              <a:lnSpc>
                <a:spcPct val="110000"/>
              </a:lnSpc>
              <a:buNone/>
            </a:pPr>
            <a:r>
              <a:rPr lang="en-US" sz="1600" b="1" dirty="0">
                <a:solidFill>
                  <a:srgbClr val="01B66D"/>
                </a:solidFill>
                <a:latin typeface="Helvetica Neue" pitchFamily="34" charset="0"/>
                <a:ea typeface="Helvetica Neue" pitchFamily="34" charset="-122"/>
                <a:cs typeface="Helvetica Neue" pitchFamily="34" charset="-120"/>
              </a:rPr>
              <a:t>egress allowlist</a:t>
            </a:r>
            <a:endParaRPr lang="en-US" sz="1600" dirty="0"/>
          </a:p>
        </p:txBody>
      </p:sp>
      <p:sp>
        <p:nvSpPr>
          <p:cNvPr id="16" name="b2:chain0"/>
          <p:cNvSpPr txBox="1"/>
          <p:nvPr/>
        </p:nvSpPr>
        <p:spPr>
          <a:xfrm>
            <a:off x="5297043" y="1828800"/>
            <a:ext cx="914400" cy="548640"/>
          </a:xfrm>
          <a:prstGeom prst="roundRect">
            <a:avLst>
              <a:gd name="adj" fmla="val 10000"/>
            </a:avLst>
          </a:prstGeom>
          <a:solidFill>
            <a:srgbClr val="1C1F27"/>
          </a:solidFill>
          <a:ln w="254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you</a:t>
            </a:r>
            <a:endParaRPr lang="en-US" sz="1600" dirty="0"/>
          </a:p>
        </p:txBody>
      </p:sp>
      <p:sp>
        <p:nvSpPr>
          <p:cNvPr id="17" name="b2:chain-a0"/>
          <p:cNvSpPr/>
          <p:nvPr/>
        </p:nvSpPr>
        <p:spPr>
          <a:xfrm>
            <a:off x="6257163" y="2103120"/>
            <a:ext cx="274320" cy="0"/>
          </a:xfrm>
          <a:prstGeom prst="line">
            <a:avLst/>
          </a:prstGeom>
          <a:noFill/>
          <a:ln w="25400">
            <a:solidFill>
              <a:srgbClr val="A1A09E"/>
            </a:solidFill>
            <a:prstDash val="solid"/>
            <a:tailEnd type="triangle"/>
          </a:ln>
        </p:spPr>
      </p:sp>
      <p:sp>
        <p:nvSpPr>
          <p:cNvPr id="18" name="b2:chain1"/>
          <p:cNvSpPr txBox="1"/>
          <p:nvPr/>
        </p:nvSpPr>
        <p:spPr>
          <a:xfrm>
            <a:off x="6577203" y="1828800"/>
            <a:ext cx="2011680" cy="548640"/>
          </a:xfrm>
          <a:prstGeom prst="roundRect">
            <a:avLst>
              <a:gd name="adj" fmla="val 10000"/>
            </a:avLst>
          </a:prstGeom>
          <a:solidFill>
            <a:srgbClr val="1C1F27"/>
          </a:solidFill>
          <a:ln w="25400">
            <a:solidFill>
              <a:srgbClr val="01B66D"/>
            </a:solidFill>
            <a:prstDash val="solid"/>
          </a:ln>
        </p:spPr>
        <p:txBody>
          <a:bodyPr wrap="square" lIns="508" tIns="508" rIns="508" bIns="508" rtlCol="0" anchor="ctr"/>
          <a:lstStyle/>
          <a:p>
            <a:pPr algn="ctr" indent="0" marL="0">
              <a:lnSpc>
                <a:spcPct val="110000"/>
              </a:lnSpc>
              <a:buNone/>
            </a:pPr>
            <a:r>
              <a:rPr lang="en-US" sz="1600" b="1" dirty="0">
                <a:solidFill>
                  <a:srgbClr val="01B66D"/>
                </a:solidFill>
                <a:latin typeface="Helvetica Neue" pitchFamily="34" charset="0"/>
                <a:ea typeface="Helvetica Neue" pitchFamily="34" charset="-122"/>
                <a:cs typeface="Helvetica Neue" pitchFamily="34" charset="-120"/>
              </a:rPr>
              <a:t>delegated,</a:t>
            </a:r>
            <a:endParaRPr lang="en-US" sz="1600" dirty="0"/>
          </a:p>
          <a:p>
            <a:pPr algn="ctr" indent="0" marL="0">
              <a:lnSpc>
                <a:spcPct val="110000"/>
              </a:lnSpc>
              <a:buNone/>
            </a:pPr>
            <a:r>
              <a:rPr lang="en-US" sz="1600" b="1" dirty="0">
                <a:solidFill>
                  <a:srgbClr val="01B66D"/>
                </a:solidFill>
                <a:latin typeface="Helvetica Neue" pitchFamily="34" charset="0"/>
                <a:ea typeface="Helvetica Neue" pitchFamily="34" charset="-122"/>
                <a:cs typeface="Helvetica Neue" pitchFamily="34" charset="-120"/>
              </a:rPr>
              <a:t>down-scoped token</a:t>
            </a:r>
            <a:endParaRPr lang="en-US" sz="1600" dirty="0"/>
          </a:p>
        </p:txBody>
      </p:sp>
      <p:sp>
        <p:nvSpPr>
          <p:cNvPr id="19" name="b2:chain-a1"/>
          <p:cNvSpPr/>
          <p:nvPr/>
        </p:nvSpPr>
        <p:spPr>
          <a:xfrm>
            <a:off x="8634603" y="2103120"/>
            <a:ext cx="274320" cy="0"/>
          </a:xfrm>
          <a:prstGeom prst="line">
            <a:avLst/>
          </a:prstGeom>
          <a:noFill/>
          <a:ln w="25400">
            <a:solidFill>
              <a:srgbClr val="A1A09E"/>
            </a:solidFill>
            <a:prstDash val="solid"/>
            <a:tailEnd type="triangle"/>
          </a:ln>
        </p:spPr>
      </p:sp>
      <p:sp>
        <p:nvSpPr>
          <p:cNvPr id="20" name="b2:chain2"/>
          <p:cNvSpPr txBox="1"/>
          <p:nvPr/>
        </p:nvSpPr>
        <p:spPr>
          <a:xfrm>
            <a:off x="8954643" y="1828800"/>
            <a:ext cx="914400" cy="548640"/>
          </a:xfrm>
          <a:prstGeom prst="roundRect">
            <a:avLst>
              <a:gd name="adj" fmla="val 10000"/>
            </a:avLst>
          </a:prstGeom>
          <a:solidFill>
            <a:srgbClr val="1C1F27"/>
          </a:solidFill>
          <a:ln w="254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agent</a:t>
            </a:r>
            <a:endParaRPr lang="en-US" sz="1600" dirty="0"/>
          </a:p>
        </p:txBody>
      </p:sp>
      <p:sp>
        <p:nvSpPr>
          <p:cNvPr id="21" name="b2:chain-a2"/>
          <p:cNvSpPr/>
          <p:nvPr/>
        </p:nvSpPr>
        <p:spPr>
          <a:xfrm>
            <a:off x="9914763" y="2103120"/>
            <a:ext cx="274320" cy="0"/>
          </a:xfrm>
          <a:prstGeom prst="line">
            <a:avLst/>
          </a:prstGeom>
          <a:noFill/>
          <a:ln w="25400">
            <a:solidFill>
              <a:srgbClr val="A1A09E"/>
            </a:solidFill>
            <a:prstDash val="solid"/>
            <a:tailEnd type="triangle"/>
          </a:ln>
        </p:spPr>
      </p:sp>
      <p:sp>
        <p:nvSpPr>
          <p:cNvPr id="22" name="b2:chain3"/>
          <p:cNvSpPr txBox="1"/>
          <p:nvPr/>
        </p:nvSpPr>
        <p:spPr>
          <a:xfrm>
            <a:off x="10234803" y="1828800"/>
            <a:ext cx="914400" cy="548640"/>
          </a:xfrm>
          <a:prstGeom prst="roundRect">
            <a:avLst>
              <a:gd name="adj" fmla="val 10000"/>
            </a:avLst>
          </a:prstGeom>
          <a:solidFill>
            <a:srgbClr val="1C1F27"/>
          </a:solidFill>
          <a:ln w="254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tool</a:t>
            </a:r>
            <a:endParaRPr lang="en-US" sz="1600" dirty="0"/>
          </a:p>
        </p:txBody>
      </p:sp>
      <p:sp>
        <p:nvSpPr>
          <p:cNvPr id="23" name="b2:key"/>
          <p:cNvSpPr txBox="1"/>
          <p:nvPr/>
        </p:nvSpPr>
        <p:spPr>
          <a:xfrm>
            <a:off x="7125843" y="2788920"/>
            <a:ext cx="2011680" cy="365760"/>
          </a:xfrm>
          <a:prstGeom prst="roundRect">
            <a:avLst>
              <a:gd name="adj" fmla="val 15000"/>
            </a:avLst>
          </a:prstGeom>
          <a:solidFill>
            <a:srgbClr val="1C1F27"/>
          </a:solidFill>
          <a:ln w="12700">
            <a:solidFill>
              <a:srgbClr val="727273"/>
            </a:solidFill>
            <a:prstDash val="solid"/>
          </a:ln>
        </p:spPr>
        <p:txBody>
          <a:bodyPr wrap="square" lIns="508" tIns="508" rIns="508" bIns="508" rtlCol="0" anchor="ctr"/>
          <a:lstStyle/>
          <a:p>
            <a:pPr algn="ctr" indent="0" marL="0">
              <a:lnSpc>
                <a:spcPct val="110000"/>
              </a:lnSpc>
              <a:buNone/>
            </a:pPr>
            <a:r>
              <a:rPr lang="en-US" sz="1600" dirty="0">
                <a:solidFill>
                  <a:srgbClr val="727273"/>
                </a:solidFill>
                <a:latin typeface="Helvetica Neue" pitchFamily="34" charset="0"/>
                <a:ea typeface="Helvetica Neue" pitchFamily="34" charset="-122"/>
                <a:cs typeface="Helvetica Neue" pitchFamily="34" charset="-120"/>
              </a:rPr>
              <a:t>shared static key</a:t>
            </a:r>
            <a:endParaRPr lang="en-US" sz="1600" dirty="0"/>
          </a:p>
        </p:txBody>
      </p:sp>
      <p:sp>
        <p:nvSpPr>
          <p:cNvPr id="24" name="b2:key-x1"/>
          <p:cNvSpPr/>
          <p:nvPr/>
        </p:nvSpPr>
        <p:spPr>
          <a:xfrm>
            <a:off x="7080123" y="2743200"/>
            <a:ext cx="2103120" cy="457200"/>
          </a:xfrm>
          <a:prstGeom prst="line">
            <a:avLst/>
          </a:prstGeom>
          <a:noFill/>
          <a:ln w="38100">
            <a:solidFill>
              <a:srgbClr val="F948BE"/>
            </a:solidFill>
            <a:prstDash val="solid"/>
          </a:ln>
        </p:spPr>
      </p:sp>
      <p:sp>
        <p:nvSpPr>
          <p:cNvPr id="25" name="b2:key-x2"/>
          <p:cNvSpPr/>
          <p:nvPr/>
        </p:nvSpPr>
        <p:spPr>
          <a:xfrm flipV="1">
            <a:off x="7080123" y="2743200"/>
            <a:ext cx="2103120" cy="457200"/>
          </a:xfrm>
          <a:prstGeom prst="line">
            <a:avLst/>
          </a:prstGeom>
          <a:noFill/>
          <a:ln w="38100">
            <a:solidFill>
              <a:srgbClr val="F948BE"/>
            </a:solidFill>
            <a:prstDash val="solid"/>
          </a:ln>
        </p:spPr>
      </p:sp>
      <p:pic>
        <p:nvPicPr>
          <p:cNvPr id="26" name="b2:strip0" descr="preencoded.png">    </p:cNvPr>
          <p:cNvPicPr>
            <a:picLocks noChangeAspect="1"/>
          </p:cNvPicPr>
          <p:nvPr/>
        </p:nvPicPr>
        <p:blipFill>
          <a:blip r:embed="rId3"/>
          <a:stretch>
            <a:fillRect/>
          </a:stretch>
        </p:blipFill>
        <p:spPr>
          <a:xfrm>
            <a:off x="5297043" y="3520440"/>
            <a:ext cx="384048" cy="384048"/>
          </a:xfrm>
          <a:prstGeom prst="rect">
            <a:avLst/>
          </a:prstGeom>
        </p:spPr>
      </p:pic>
      <p:sp>
        <p:nvSpPr>
          <p:cNvPr id="27" name="b2:strip-l0"/>
          <p:cNvSpPr txBox="1"/>
          <p:nvPr/>
        </p:nvSpPr>
        <p:spPr>
          <a:xfrm>
            <a:off x="5799963" y="3520440"/>
            <a:ext cx="1554480" cy="384048"/>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supply chain</a:t>
            </a:r>
            <a:endParaRPr lang="en-US" sz="1600" dirty="0"/>
          </a:p>
        </p:txBody>
      </p:sp>
      <p:pic>
        <p:nvPicPr>
          <p:cNvPr id="28" name="b2:strip1" descr="preencoded.png">    </p:cNvPr>
          <p:cNvPicPr>
            <a:picLocks noChangeAspect="1"/>
          </p:cNvPicPr>
          <p:nvPr/>
        </p:nvPicPr>
        <p:blipFill>
          <a:blip r:embed="rId4"/>
          <a:stretch>
            <a:fillRect/>
          </a:stretch>
        </p:blipFill>
        <p:spPr>
          <a:xfrm>
            <a:off x="7400163" y="3520440"/>
            <a:ext cx="384048" cy="384048"/>
          </a:xfrm>
          <a:prstGeom prst="rect">
            <a:avLst/>
          </a:prstGeom>
        </p:spPr>
      </p:pic>
      <p:sp>
        <p:nvSpPr>
          <p:cNvPr id="29" name="b2:strip-l1"/>
          <p:cNvSpPr txBox="1"/>
          <p:nvPr/>
        </p:nvSpPr>
        <p:spPr>
          <a:xfrm>
            <a:off x="7903083" y="3520440"/>
            <a:ext cx="1554480" cy="384048"/>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disclosure</a:t>
            </a:r>
            <a:endParaRPr lang="en-US" sz="1600" dirty="0"/>
          </a:p>
        </p:txBody>
      </p:sp>
      <p:pic>
        <p:nvPicPr>
          <p:cNvPr id="30" name="b2:strip2" descr="preencoded.png">    </p:cNvPr>
          <p:cNvPicPr>
            <a:picLocks noChangeAspect="1"/>
          </p:cNvPicPr>
          <p:nvPr/>
        </p:nvPicPr>
        <p:blipFill>
          <a:blip r:embed="rId5"/>
          <a:stretch>
            <a:fillRect/>
          </a:stretch>
        </p:blipFill>
        <p:spPr>
          <a:xfrm>
            <a:off x="9503283" y="3520440"/>
            <a:ext cx="384048" cy="384048"/>
          </a:xfrm>
          <a:prstGeom prst="rect">
            <a:avLst/>
          </a:prstGeom>
        </p:spPr>
      </p:pic>
      <p:sp>
        <p:nvSpPr>
          <p:cNvPr id="31" name="b2:strip-l2"/>
          <p:cNvSpPr txBox="1"/>
          <p:nvPr/>
        </p:nvSpPr>
        <p:spPr>
          <a:xfrm>
            <a:off x="10006203" y="3520440"/>
            <a:ext cx="1554480" cy="384048"/>
          </a:xfrm>
          <a:prstGeom prst="rect">
            <a:avLst/>
          </a:prstGeom>
          <a:noFill/>
          <a:ln/>
        </p:spPr>
        <p:txBody>
          <a:bodyPr wrap="square" lIns="0" tIns="0" rIns="0" bIns="0" rtlCol="0" anchor="ctr"/>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audit trail</a:t>
            </a:r>
            <a:endParaRPr lang="en-US" sz="1600" dirty="0"/>
          </a:p>
        </p:txBody>
      </p:sp>
      <p:sp>
        <p:nvSpPr>
          <p:cNvPr id="32" name="Text 24"/>
          <p:cNvSpPr txBox="1"/>
          <p:nvPr/>
        </p:nvSpPr>
        <p:spPr>
          <a:xfrm>
            <a:off x="731520" y="4114800"/>
            <a:ext cx="10728655" cy="2011680"/>
          </a:xfrm>
          <a:prstGeom prst="rect">
            <a:avLst/>
          </a:prstGeom>
          <a:noFill/>
          <a:ln/>
        </p:spPr>
        <p:txBody>
          <a:bodyPr wrap="square" lIns="0" tIns="0" rIns="0" bIns="0" rtlCol="0" anchor="t"/>
          <a:lstStyle/>
          <a:p>
            <a:pPr marL="279400" indent="-279400">
              <a:lnSpc>
                <a:spcPct val="125000"/>
              </a:lnSpc>
              <a:spcAft>
                <a:spcPts val="6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The lethal trifecta: private data, untrusted content, a way to communicate out. Never all three without a deterministic gate.</a:t>
            </a:r>
            <a:endParaRPr lang="en-US" sz="1800" dirty="0"/>
          </a:p>
          <a:p>
            <a:pPr marL="279400" indent="-279400">
              <a:lnSpc>
                <a:spcPct val="125000"/>
              </a:lnSpc>
              <a:spcAft>
                <a:spcPts val="600"/>
              </a:spcAft>
              <a:buSzPct val="100000"/>
              <a:buChar char="•"/>
            </a:pPr>
            <a:r>
              <a:rPr lang="en-US" sz="1800" dirty="0">
                <a:solidFill>
                  <a:srgbClr val="FFFCF5"/>
                </a:solidFill>
                <a:latin typeface="Helvetica Neue" pitchFamily="34" charset="0"/>
                <a:ea typeface="Helvetica Neue" pitchFamily="34" charset="-122"/>
                <a:cs typeface="Helvetica Neue" pitchFamily="34" charset="-120"/>
              </a:rPr>
              <a:t>An agent is </a:t>
            </a:r>
            <a:r>
              <a:rPr lang="en-US" sz="1800" i="1" dirty="0">
                <a:solidFill>
                  <a:srgbClr val="FFFCF5"/>
                </a:solidFill>
                <a:latin typeface="Helvetica Neue" pitchFamily="34" charset="0"/>
                <a:ea typeface="Helvetica Neue" pitchFamily="34" charset="-122"/>
                <a:cs typeface="Helvetica Neue" pitchFamily="34" charset="-120"/>
              </a:rPr>
              <a:t>"a new principal class."</a:t>
            </a:r>
            <a:r>
              <a:rPr lang="en-US" sz="1800" dirty="0">
                <a:solidFill>
                  <a:srgbClr val="FFFCF5"/>
                </a:solidFill>
                <a:latin typeface="Helvetica Neue" pitchFamily="34" charset="0"/>
                <a:ea typeface="Helvetica Neue" pitchFamily="34" charset="-122"/>
                <a:cs typeface="Helvetica Neue" pitchFamily="34" charset="-120"/>
              </a:rPr>
              <a:t> Its own identity, delegated and down-scoped authorization, short-lived tokens, no shared keys.</a:t>
            </a:r>
            <a:endParaRPr lang="en-US" sz="1800" dirty="0"/>
          </a:p>
          <a:p>
            <a:pPr marL="279400" indent="-279400">
              <a:lnSpc>
                <a:spcPct val="125000"/>
              </a:lnSpc>
              <a:buSzPct val="100000"/>
              <a:buChar char="•"/>
            </a:pPr>
            <a:r>
              <a:rPr lang="en-US" sz="1800" dirty="0">
                <a:solidFill>
                  <a:srgbClr val="FFFCF5"/>
                </a:solidFill>
                <a:latin typeface="Helvetica Neue" pitchFamily="34" charset="0"/>
                <a:ea typeface="Helvetica Neue" pitchFamily="34" charset="-122"/>
                <a:cs typeface="Helvetica Neue" pitchFamily="34" charset="-120"/>
              </a:rPr>
              <a:t>Skills and tool servers are code you execute. Disclose the agent. Approval gates carry action, reasoning, impact.</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9"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14</a:t>
            </a:r>
            <a:endParaRPr lang="en-US" sz="1400" dirty="0"/>
          </a:p>
        </p:txBody>
      </p:sp>
      <p:sp>
        <p:nvSpPr>
          <p:cNvPr id="5" name="Text 2"/>
          <p:cNvSpPr txBox="1"/>
          <p:nvPr/>
        </p:nvSpPr>
        <p:spPr>
          <a:xfrm>
            <a:off x="731520" y="457200"/>
            <a:ext cx="4334256" cy="1097280"/>
          </a:xfrm>
          <a:prstGeom prst="rect">
            <a:avLst/>
          </a:prstGeom>
          <a:noFill/>
          <a:ln/>
        </p:spPr>
        <p:txBody>
          <a:bodyPr wrap="square" lIns="0" tIns="0" rIns="0" bIns="0" rtlCol="0" anchor="t"/>
          <a:lstStyle/>
          <a:p>
            <a:pPr algn="l" indent="0" marL="0">
              <a:lnSpc>
                <a:spcPct val="110000"/>
              </a:lnSpc>
              <a:buNone/>
            </a:pPr>
            <a:r>
              <a:rPr lang="en-US" sz="2800" b="1" spc="-100" kern="0" dirty="0">
                <a:solidFill>
                  <a:srgbClr val="FFFCF5"/>
                </a:solidFill>
                <a:latin typeface="Helvetica Neue" pitchFamily="34" charset="0"/>
                <a:ea typeface="Helvetica Neue" pitchFamily="34" charset="-122"/>
                <a:cs typeface="Helvetica Neue" pitchFamily="34" charset="-120"/>
              </a:rPr>
              <a:t>The map, with the six areas and the eight promises.</a:t>
            </a:r>
            <a:endParaRPr lang="en-US" sz="2800" dirty="0"/>
          </a:p>
        </p:txBody>
      </p:sp>
      <p:sp>
        <p:nvSpPr>
          <p:cNvPr id="6" name="Text 3"/>
          <p:cNvSpPr txBox="1"/>
          <p:nvPr/>
        </p:nvSpPr>
        <p:spPr>
          <a:xfrm>
            <a:off x="731520" y="1463040"/>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FDAD00"/>
                </a:solidFill>
                <a:latin typeface="Helvetica Neue" pitchFamily="34" charset="0"/>
                <a:ea typeface="Helvetica Neue" pitchFamily="34" charset="-122"/>
                <a:cs typeface="Helvetica Neue" pitchFamily="34" charset="-120"/>
              </a:rPr>
              <a:t>2.1 The model</a:t>
            </a:r>
            <a:endParaRPr lang="en-US" sz="1900" dirty="0"/>
          </a:p>
        </p:txBody>
      </p:sp>
      <p:sp>
        <p:nvSpPr>
          <p:cNvPr id="7" name="Text 4"/>
          <p:cNvSpPr txBox="1"/>
          <p:nvPr/>
        </p:nvSpPr>
        <p:spPr>
          <a:xfrm>
            <a:off x="731520" y="1764792"/>
            <a:ext cx="4334256" cy="246888"/>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select, measure, replace</a:t>
            </a:r>
            <a:endParaRPr lang="en-US" sz="1600" dirty="0"/>
          </a:p>
        </p:txBody>
      </p:sp>
      <p:sp>
        <p:nvSpPr>
          <p:cNvPr id="8" name="Text 5"/>
          <p:cNvSpPr txBox="1"/>
          <p:nvPr/>
        </p:nvSpPr>
        <p:spPr>
          <a:xfrm>
            <a:off x="731520" y="2103120"/>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1064F8"/>
                </a:solidFill>
                <a:latin typeface="Helvetica Neue" pitchFamily="34" charset="0"/>
                <a:ea typeface="Helvetica Neue" pitchFamily="34" charset="-122"/>
                <a:cs typeface="Helvetica Neue" pitchFamily="34" charset="-120"/>
              </a:rPr>
              <a:t>2.2 Context</a:t>
            </a:r>
            <a:endParaRPr lang="en-US" sz="1900" dirty="0"/>
          </a:p>
        </p:txBody>
      </p:sp>
      <p:sp>
        <p:nvSpPr>
          <p:cNvPr id="9" name="Text 6"/>
          <p:cNvSpPr txBox="1"/>
          <p:nvPr/>
        </p:nvSpPr>
        <p:spPr>
          <a:xfrm>
            <a:off x="731520" y="2404872"/>
            <a:ext cx="4334256" cy="246888"/>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context engineering and retrieval</a:t>
            </a:r>
            <a:endParaRPr lang="en-US" sz="1600" dirty="0"/>
          </a:p>
        </p:txBody>
      </p:sp>
      <p:sp>
        <p:nvSpPr>
          <p:cNvPr id="10" name="Text 7"/>
          <p:cNvSpPr txBox="1"/>
          <p:nvPr/>
        </p:nvSpPr>
        <p:spPr>
          <a:xfrm>
            <a:off x="731520" y="2743200"/>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1064F8"/>
                </a:solidFill>
                <a:latin typeface="Helvetica Neue" pitchFamily="34" charset="0"/>
                <a:ea typeface="Helvetica Neue" pitchFamily="34" charset="-122"/>
                <a:cs typeface="Helvetica Neue" pitchFamily="34" charset="-120"/>
              </a:rPr>
              <a:t>2.3 Tools and action tiers</a:t>
            </a:r>
            <a:endParaRPr lang="en-US" sz="1900" dirty="0"/>
          </a:p>
        </p:txBody>
      </p:sp>
      <p:sp>
        <p:nvSpPr>
          <p:cNvPr id="11" name="Text 8"/>
          <p:cNvSpPr txBox="1"/>
          <p:nvPr/>
        </p:nvSpPr>
        <p:spPr>
          <a:xfrm>
            <a:off x="731520" y="3044952"/>
            <a:ext cx="4334256" cy="246888"/>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tools and extensibility, guardrails</a:t>
            </a:r>
            <a:endParaRPr lang="en-US" sz="1600" dirty="0"/>
          </a:p>
        </p:txBody>
      </p:sp>
      <p:sp>
        <p:nvSpPr>
          <p:cNvPr id="12" name="Text 9"/>
          <p:cNvSpPr txBox="1"/>
          <p:nvPr/>
        </p:nvSpPr>
        <p:spPr>
          <a:xfrm>
            <a:off x="731520" y="3383280"/>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1064F8"/>
                </a:solidFill>
                <a:latin typeface="Helvetica Neue" pitchFamily="34" charset="0"/>
                <a:ea typeface="Helvetica Neue" pitchFamily="34" charset="-122"/>
                <a:cs typeface="Helvetica Neue" pitchFamily="34" charset="-120"/>
              </a:rPr>
              <a:t>2.4 Verify this action</a:t>
            </a:r>
            <a:endParaRPr lang="en-US" sz="1900" dirty="0"/>
          </a:p>
        </p:txBody>
      </p:sp>
      <p:sp>
        <p:nvSpPr>
          <p:cNvPr id="13" name="Text 10"/>
          <p:cNvSpPr txBox="1"/>
          <p:nvPr/>
        </p:nvSpPr>
        <p:spPr>
          <a:xfrm>
            <a:off x="731520" y="3685032"/>
            <a:ext cx="4334256" cy="246888"/>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verification</a:t>
            </a:r>
            <a:endParaRPr lang="en-US" sz="1600" dirty="0"/>
          </a:p>
        </p:txBody>
      </p:sp>
      <p:sp>
        <p:nvSpPr>
          <p:cNvPr id="14" name="Text 11"/>
          <p:cNvSpPr txBox="1"/>
          <p:nvPr/>
        </p:nvSpPr>
        <p:spPr>
          <a:xfrm>
            <a:off x="731520" y="4023360"/>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01B66D"/>
                </a:solidFill>
                <a:latin typeface="Helvetica Neue" pitchFamily="34" charset="0"/>
                <a:ea typeface="Helvetica Neue" pitchFamily="34" charset="-122"/>
                <a:cs typeface="Helvetica Neue" pitchFamily="34" charset="-120"/>
              </a:rPr>
              <a:t>2.4 The harness</a:t>
            </a:r>
            <a:endParaRPr lang="en-US" sz="1900" dirty="0"/>
          </a:p>
        </p:txBody>
      </p:sp>
      <p:sp>
        <p:nvSpPr>
          <p:cNvPr id="15" name="Text 12"/>
          <p:cNvSpPr txBox="1"/>
          <p:nvPr/>
        </p:nvSpPr>
        <p:spPr>
          <a:xfrm>
            <a:off x="731520" y="4325112"/>
            <a:ext cx="4334256" cy="493776"/>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harness design and orchestration, cost and latency</a:t>
            </a:r>
            <a:endParaRPr lang="en-US" sz="1600" dirty="0"/>
          </a:p>
        </p:txBody>
      </p:sp>
      <p:sp>
        <p:nvSpPr>
          <p:cNvPr id="16" name="Text 13"/>
          <p:cNvSpPr txBox="1"/>
          <p:nvPr/>
        </p:nvSpPr>
        <p:spPr>
          <a:xfrm>
            <a:off x="731520" y="4910328"/>
            <a:ext cx="4334256" cy="301752"/>
          </a:xfrm>
          <a:prstGeom prst="rect">
            <a:avLst/>
          </a:prstGeom>
          <a:noFill/>
          <a:ln/>
        </p:spPr>
        <p:txBody>
          <a:bodyPr wrap="square" lIns="0" tIns="0" rIns="0" bIns="0" rtlCol="0" anchor="t"/>
          <a:lstStyle/>
          <a:p>
            <a:pPr algn="l" indent="0" marL="0">
              <a:lnSpc>
                <a:spcPct val="110000"/>
              </a:lnSpc>
              <a:buNone/>
            </a:pPr>
            <a:r>
              <a:rPr lang="en-US" sz="1900" b="1" dirty="0">
                <a:solidFill>
                  <a:srgbClr val="A1A09E"/>
                </a:solidFill>
                <a:latin typeface="Helvetica Neue" pitchFamily="34" charset="0"/>
                <a:ea typeface="Helvetica Neue" pitchFamily="34" charset="-122"/>
                <a:cs typeface="Helvetica Neue" pitchFamily="34" charset="-120"/>
              </a:rPr>
              <a:t>2.5 Evaluate across runs</a:t>
            </a:r>
            <a:endParaRPr lang="en-US" sz="1900" dirty="0"/>
          </a:p>
        </p:txBody>
      </p:sp>
      <p:sp>
        <p:nvSpPr>
          <p:cNvPr id="17" name="Text 14"/>
          <p:cNvSpPr txBox="1"/>
          <p:nvPr/>
        </p:nvSpPr>
        <p:spPr>
          <a:xfrm>
            <a:off x="731520" y="5212080"/>
            <a:ext cx="4334256" cy="246888"/>
          </a:xfrm>
          <a:prstGeom prst="rect">
            <a:avLst/>
          </a:prstGeom>
          <a:noFill/>
          <a:ln/>
        </p:spPr>
        <p:txBody>
          <a:bodyPr wrap="square" lIns="0" tIns="0" rIns="0" bIns="0" rtlCol="0" anchor="t"/>
          <a:lstStyle/>
          <a:p>
            <a:pPr algn="l" indent="0" marL="0">
              <a:lnSpc>
                <a:spcPct val="110000"/>
              </a:lnSpc>
              <a:buNone/>
            </a:pPr>
            <a:r>
              <a:rPr lang="en-US" sz="1600" dirty="0">
                <a:solidFill>
                  <a:srgbClr val="FFFCF5"/>
                </a:solidFill>
                <a:latin typeface="Helvetica Neue" pitchFamily="34" charset="0"/>
                <a:ea typeface="Helvetica Neue" pitchFamily="34" charset="-122"/>
                <a:cs typeface="Helvetica Neue" pitchFamily="34" charset="-120"/>
              </a:rPr>
              <a:t>evaluations, cost per task</a:t>
            </a:r>
            <a:endParaRPr lang="en-US" sz="1600" dirty="0"/>
          </a:p>
        </p:txBody>
      </p:sp>
      <p:sp>
        <p:nvSpPr>
          <p:cNvPr id="18" name="Text 15"/>
          <p:cNvSpPr txBox="1"/>
          <p:nvPr/>
        </p:nvSpPr>
        <p:spPr>
          <a:xfrm>
            <a:off x="731520" y="5550408"/>
            <a:ext cx="4334256" cy="603504"/>
          </a:xfrm>
          <a:prstGeom prst="rect">
            <a:avLst/>
          </a:prstGeom>
          <a:noFill/>
          <a:ln/>
        </p:spPr>
        <p:txBody>
          <a:bodyPr wrap="square" lIns="0" tIns="0" rIns="0" bIns="0" rtlCol="0" anchor="t"/>
          <a:lstStyle/>
          <a:p>
            <a:pPr algn="l" indent="0" marL="0">
              <a:lnSpc>
                <a:spcPct val="110000"/>
              </a:lnSpc>
              <a:buNone/>
            </a:pPr>
            <a:r>
              <a:rPr lang="en-US" sz="1900" b="1" dirty="0">
                <a:solidFill>
                  <a:srgbClr val="A1A09E"/>
                </a:solidFill>
                <a:latin typeface="Helvetica Neue" pitchFamily="34" charset="0"/>
                <a:ea typeface="Helvetica Neue" pitchFamily="34" charset="-122"/>
                <a:cs typeface="Helvetica Neue" pitchFamily="34" charset="-120"/>
              </a:rPr>
              <a:t>2.6 Observability, security and guardrails, governance</a:t>
            </a:r>
            <a:endParaRPr lang="en-US" sz="1900" dirty="0"/>
          </a:p>
        </p:txBody>
      </p:sp>
      <p:sp>
        <p:nvSpPr>
          <p:cNvPr id="19" name="ring-ops"/>
          <p:cNvSpPr/>
          <p:nvPr/>
        </p:nvSpPr>
        <p:spPr>
          <a:xfrm>
            <a:off x="5586984" y="594360"/>
            <a:ext cx="5577840" cy="5577840"/>
          </a:xfrm>
          <a:prstGeom prst="ellipse">
            <a:avLst/>
          </a:prstGeom>
          <a:ln w="165100">
            <a:solidFill>
              <a:srgbClr val="A1A09E"/>
            </a:solidFill>
            <a:prstDash val="solid"/>
          </a:ln>
        </p:spPr>
      </p:sp>
      <p:sp>
        <p:nvSpPr>
          <p:cNvPr id="20" name="ring-harness"/>
          <p:cNvSpPr/>
          <p:nvPr/>
        </p:nvSpPr>
        <p:spPr>
          <a:xfrm>
            <a:off x="6227064" y="1234440"/>
            <a:ext cx="4297680" cy="4297680"/>
          </a:xfrm>
          <a:prstGeom prst="ellipse">
            <a:avLst/>
          </a:prstGeom>
          <a:ln w="165100">
            <a:solidFill>
              <a:srgbClr val="01B66D"/>
            </a:solidFill>
            <a:prstDash val="solid"/>
          </a:ln>
        </p:spPr>
      </p:sp>
      <p:sp>
        <p:nvSpPr>
          <p:cNvPr id="21" name="ring-loop"/>
          <p:cNvSpPr/>
          <p:nvPr/>
        </p:nvSpPr>
        <p:spPr>
          <a:xfrm>
            <a:off x="7004304" y="2011680"/>
            <a:ext cx="2743200" cy="2743200"/>
          </a:xfrm>
          <a:prstGeom prst="ellipse">
            <a:avLst/>
          </a:prstGeom>
          <a:ln w="165100">
            <a:solidFill>
              <a:srgbClr val="1064F8"/>
            </a:solidFill>
            <a:prstDash val="solid"/>
          </a:ln>
        </p:spPr>
      </p:sp>
      <p:sp>
        <p:nvSpPr>
          <p:cNvPr id="22" name="disc-model"/>
          <p:cNvSpPr/>
          <p:nvPr/>
        </p:nvSpPr>
        <p:spPr>
          <a:xfrm>
            <a:off x="7644384" y="2651760"/>
            <a:ext cx="1463040" cy="1463040"/>
          </a:xfrm>
          <a:prstGeom prst="ellipse">
            <a:avLst/>
          </a:prstGeom>
          <a:solidFill>
            <a:srgbClr val="FDAD00"/>
          </a:solidFill>
          <a:ln/>
        </p:spPr>
      </p:sp>
      <p:sp>
        <p:nvSpPr>
          <p:cNvPr id="23" name="tri-0"/>
          <p:cNvSpPr/>
          <p:nvPr/>
        </p:nvSpPr>
        <p:spPr>
          <a:xfrm rot="9000000">
            <a:off x="9454016" y="2587752"/>
            <a:ext cx="219456" cy="219456"/>
          </a:xfrm>
          <a:prstGeom prst="triangle">
            <a:avLst/>
          </a:prstGeom>
          <a:solidFill>
            <a:srgbClr val="FFFCF5"/>
          </a:solidFill>
          <a:ln/>
        </p:spPr>
      </p:sp>
      <p:sp>
        <p:nvSpPr>
          <p:cNvPr id="24" name="tri-1"/>
          <p:cNvSpPr/>
          <p:nvPr/>
        </p:nvSpPr>
        <p:spPr>
          <a:xfrm rot="16200000">
            <a:off x="8266176" y="4645152"/>
            <a:ext cx="219456" cy="219456"/>
          </a:xfrm>
          <a:prstGeom prst="triangle">
            <a:avLst/>
          </a:prstGeom>
          <a:solidFill>
            <a:srgbClr val="FFFCF5"/>
          </a:solidFill>
          <a:ln/>
        </p:spPr>
      </p:sp>
      <p:sp>
        <p:nvSpPr>
          <p:cNvPr id="25" name="tri-2"/>
          <p:cNvSpPr/>
          <p:nvPr/>
        </p:nvSpPr>
        <p:spPr>
          <a:xfrm rot="1800000">
            <a:off x="7078336" y="2587752"/>
            <a:ext cx="219456" cy="219456"/>
          </a:xfrm>
          <a:prstGeom prst="triangle">
            <a:avLst/>
          </a:prstGeom>
          <a:solidFill>
            <a:srgbClr val="FFFCF5"/>
          </a:solidFill>
          <a:ln/>
        </p:spPr>
      </p:sp>
      <p:sp>
        <p:nvSpPr>
          <p:cNvPr id="26" name="Text 23"/>
          <p:cNvSpPr txBox="1"/>
          <p:nvPr/>
        </p:nvSpPr>
        <p:spPr>
          <a:xfrm>
            <a:off x="7644384" y="2651760"/>
            <a:ext cx="1463040" cy="1463040"/>
          </a:xfrm>
          <a:prstGeom prst="rect">
            <a:avLst/>
          </a:prstGeom>
          <a:noFill/>
          <a:ln/>
        </p:spPr>
        <p:txBody>
          <a:bodyPr wrap="square" lIns="0" tIns="0" rIns="0" bIns="0" rtlCol="0" anchor="ctr"/>
          <a:lstStyle/>
          <a:p>
            <a:pPr algn="ctr" indent="0" marL="0">
              <a:lnSpc>
                <a:spcPct val="110000"/>
              </a:lnSpc>
              <a:buNone/>
            </a:pPr>
            <a:r>
              <a:rPr lang="en-US" sz="1800" b="1" dirty="0">
                <a:solidFill>
                  <a:srgbClr val="14161C"/>
                </a:solidFill>
                <a:latin typeface="Helvetica Neue" pitchFamily="34" charset="0"/>
                <a:ea typeface="Helvetica Neue" pitchFamily="34" charset="-122"/>
                <a:cs typeface="Helvetica Neue" pitchFamily="34" charset="-120"/>
              </a:rPr>
              <a:t>2.1</a:t>
            </a:r>
            <a:endParaRPr lang="en-US" sz="1800" dirty="0"/>
          </a:p>
          <a:p>
            <a:pPr algn="ctr" indent="0" marL="0">
              <a:lnSpc>
                <a:spcPct val="110000"/>
              </a:lnSpc>
              <a:buNone/>
            </a:pPr>
            <a:r>
              <a:rPr lang="en-US" sz="1800" b="1" dirty="0">
                <a:solidFill>
                  <a:srgbClr val="14161C"/>
                </a:solidFill>
                <a:latin typeface="Helvetica Neue" pitchFamily="34" charset="0"/>
                <a:ea typeface="Helvetica Neue" pitchFamily="34" charset="-122"/>
                <a:cs typeface="Helvetica Neue" pitchFamily="34" charset="-120"/>
              </a:rPr>
              <a:t>The model</a:t>
            </a:r>
            <a:endParaRPr lang="en-US" sz="1800" dirty="0"/>
          </a:p>
        </p:txBody>
      </p:sp>
      <p:sp>
        <p:nvSpPr>
          <p:cNvPr id="27" name="step-gather"/>
          <p:cNvSpPr txBox="1"/>
          <p:nvPr/>
        </p:nvSpPr>
        <p:spPr>
          <a:xfrm>
            <a:off x="7758684" y="1819656"/>
            <a:ext cx="1234440" cy="384048"/>
          </a:xfrm>
          <a:prstGeom prst="roundRect">
            <a:avLst>
              <a:gd name="adj" fmla="val 14286"/>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2.2 Context</a:t>
            </a:r>
            <a:endParaRPr lang="en-US" sz="1600" dirty="0"/>
          </a:p>
        </p:txBody>
      </p:sp>
      <p:sp>
        <p:nvSpPr>
          <p:cNvPr id="28" name="step-act"/>
          <p:cNvSpPr txBox="1"/>
          <p:nvPr/>
        </p:nvSpPr>
        <p:spPr>
          <a:xfrm>
            <a:off x="9060824" y="3877056"/>
            <a:ext cx="1005840" cy="384048"/>
          </a:xfrm>
          <a:prstGeom prst="roundRect">
            <a:avLst>
              <a:gd name="adj" fmla="val 14286"/>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2.3 Tools</a:t>
            </a:r>
            <a:endParaRPr lang="en-US" sz="1600" dirty="0"/>
          </a:p>
        </p:txBody>
      </p:sp>
      <p:sp>
        <p:nvSpPr>
          <p:cNvPr id="29" name="step-verify"/>
          <p:cNvSpPr txBox="1"/>
          <p:nvPr/>
        </p:nvSpPr>
        <p:spPr>
          <a:xfrm>
            <a:off x="6685144" y="3877056"/>
            <a:ext cx="1005840" cy="384048"/>
          </a:xfrm>
          <a:prstGeom prst="roundRect">
            <a:avLst>
              <a:gd name="adj" fmla="val 14286"/>
            </a:avLst>
          </a:prstGeom>
          <a:solidFill>
            <a:srgbClr val="1064F8"/>
          </a:solidFill>
          <a:ln w="12700">
            <a:solidFill>
              <a:srgbClr val="FFFCF5"/>
            </a:solidFill>
            <a:prstDash val="solid"/>
          </a:ln>
        </p:spPr>
        <p:txBody>
          <a:bodyPr wrap="square" lIns="508" tIns="508" rIns="508" bIns="508" rtlCol="0" anchor="ctr"/>
          <a:lstStyle/>
          <a:p>
            <a:pPr algn="ctr" indent="0" marL="0">
              <a:lnSpc>
                <a:spcPct val="110000"/>
              </a:lnSpc>
              <a:buNone/>
            </a:pPr>
            <a:r>
              <a:rPr lang="en-US" sz="1600" b="1" dirty="0">
                <a:solidFill>
                  <a:srgbClr val="FFFCF5"/>
                </a:solidFill>
                <a:latin typeface="Helvetica Neue" pitchFamily="34" charset="0"/>
                <a:ea typeface="Helvetica Neue" pitchFamily="34" charset="-122"/>
                <a:cs typeface="Helvetica Neue" pitchFamily="34" charset="-120"/>
              </a:rPr>
              <a:t>2.4 Verify</a:t>
            </a:r>
            <a:endParaRPr lang="en-US" sz="1600" dirty="0"/>
          </a:p>
        </p:txBody>
      </p:sp>
      <p:sp>
        <p:nvSpPr>
          <p:cNvPr id="30" name="lab-harness"/>
          <p:cNvSpPr txBox="1"/>
          <p:nvPr/>
        </p:nvSpPr>
        <p:spPr>
          <a:xfrm>
            <a:off x="7758684" y="5340096"/>
            <a:ext cx="1234440" cy="384048"/>
          </a:xfrm>
          <a:prstGeom prst="roundRect">
            <a:avLst>
              <a:gd name="adj" fmla="val 14286"/>
            </a:avLst>
          </a:prstGeom>
          <a:solidFill>
            <a:srgbClr val="01B66D"/>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2.4 Harness</a:t>
            </a:r>
            <a:endParaRPr lang="en-US" sz="1600" dirty="0"/>
          </a:p>
        </p:txBody>
      </p:sp>
      <p:sp>
        <p:nvSpPr>
          <p:cNvPr id="31" name="lab-ops-0"/>
          <p:cNvSpPr txBox="1"/>
          <p:nvPr/>
        </p:nvSpPr>
        <p:spPr>
          <a:xfrm>
            <a:off x="9707888" y="1219192"/>
            <a:ext cx="12801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2.5 Evaluate</a:t>
            </a:r>
            <a:endParaRPr lang="en-US" sz="1600" dirty="0"/>
          </a:p>
        </p:txBody>
      </p:sp>
      <p:sp>
        <p:nvSpPr>
          <p:cNvPr id="32" name="lab-ops-1"/>
          <p:cNvSpPr txBox="1"/>
          <p:nvPr/>
        </p:nvSpPr>
        <p:spPr>
          <a:xfrm>
            <a:off x="9707888" y="5163320"/>
            <a:ext cx="12801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2.6 Observe</a:t>
            </a:r>
            <a:endParaRPr lang="en-US" sz="1600" dirty="0"/>
          </a:p>
        </p:txBody>
      </p:sp>
      <p:sp>
        <p:nvSpPr>
          <p:cNvPr id="33" name="lab-ops-2"/>
          <p:cNvSpPr txBox="1"/>
          <p:nvPr/>
        </p:nvSpPr>
        <p:spPr>
          <a:xfrm>
            <a:off x="5763760" y="5163320"/>
            <a:ext cx="12801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2.6 Secure</a:t>
            </a:r>
            <a:endParaRPr lang="en-US" sz="1600" dirty="0"/>
          </a:p>
        </p:txBody>
      </p:sp>
      <p:sp>
        <p:nvSpPr>
          <p:cNvPr id="34" name="lab-ops-3"/>
          <p:cNvSpPr txBox="1"/>
          <p:nvPr/>
        </p:nvSpPr>
        <p:spPr>
          <a:xfrm>
            <a:off x="5763760" y="1219192"/>
            <a:ext cx="1280160" cy="384048"/>
          </a:xfrm>
          <a:prstGeom prst="roundRect">
            <a:avLst>
              <a:gd name="adj" fmla="val 14286"/>
            </a:avLst>
          </a:prstGeom>
          <a:solidFill>
            <a:srgbClr val="FFFCF5"/>
          </a:solidFill>
          <a:ln/>
        </p:spPr>
        <p:txBody>
          <a:bodyPr wrap="square" lIns="508" tIns="508" rIns="508" bIns="508" rtlCol="0" anchor="ctr"/>
          <a:lstStyle/>
          <a:p>
            <a:pPr algn="ctr" indent="0" marL="0">
              <a:lnSpc>
                <a:spcPct val="110000"/>
              </a:lnSpc>
              <a:buNone/>
            </a:pPr>
            <a:r>
              <a:rPr lang="en-US" sz="1600" b="1" dirty="0">
                <a:solidFill>
                  <a:srgbClr val="14161C"/>
                </a:solidFill>
                <a:latin typeface="Helvetica Neue" pitchFamily="34" charset="0"/>
                <a:ea typeface="Helvetica Neue" pitchFamily="34" charset="-122"/>
                <a:cs typeface="Helvetica Neue" pitchFamily="34" charset="-120"/>
              </a:rPr>
              <a:t>2.6 Govern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15</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Most of the job is the job you already have.</a:t>
            </a:r>
            <a:endParaRPr lang="en-US" sz="3600" dirty="0"/>
          </a:p>
        </p:txBody>
      </p:sp>
      <p:pic>
        <p:nvPicPr>
          <p:cNvPr id="6" name="Image 0" descr="preencoded.png">    </p:cNvPr>
          <p:cNvPicPr>
            <a:picLocks noChangeAspect="1"/>
          </p:cNvPicPr>
          <p:nvPr/>
        </p:nvPicPr>
        <p:blipFill>
          <a:blip r:embed="rId1"/>
          <a:stretch>
            <a:fillRect/>
          </a:stretch>
        </p:blipFill>
        <p:spPr>
          <a:xfrm>
            <a:off x="731520" y="1810512"/>
            <a:ext cx="256032" cy="256032"/>
          </a:xfrm>
          <a:prstGeom prst="rect">
            <a:avLst/>
          </a:prstGeom>
        </p:spPr>
      </p:pic>
      <p:sp>
        <p:nvSpPr>
          <p:cNvPr id="7" name="Text 3"/>
          <p:cNvSpPr txBox="1"/>
          <p:nvPr/>
        </p:nvSpPr>
        <p:spPr>
          <a:xfrm>
            <a:off x="1188720" y="17373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Systems design</a:t>
            </a:r>
            <a:endParaRPr lang="en-US" sz="2200" dirty="0"/>
          </a:p>
        </p:txBody>
      </p:sp>
      <p:pic>
        <p:nvPicPr>
          <p:cNvPr id="8" name="Image 1" descr="preencoded.png">    </p:cNvPr>
          <p:cNvPicPr>
            <a:picLocks noChangeAspect="1"/>
          </p:cNvPicPr>
          <p:nvPr/>
        </p:nvPicPr>
        <p:blipFill>
          <a:blip r:embed="rId2"/>
          <a:stretch>
            <a:fillRect/>
          </a:stretch>
        </p:blipFill>
        <p:spPr>
          <a:xfrm>
            <a:off x="731520" y="2267712"/>
            <a:ext cx="256032" cy="256032"/>
          </a:xfrm>
          <a:prstGeom prst="rect">
            <a:avLst/>
          </a:prstGeom>
        </p:spPr>
      </p:pic>
      <p:sp>
        <p:nvSpPr>
          <p:cNvPr id="9" name="Text 4"/>
          <p:cNvSpPr txBox="1"/>
          <p:nvPr/>
        </p:nvSpPr>
        <p:spPr>
          <a:xfrm>
            <a:off x="1188720" y="21945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API and integration work</a:t>
            </a:r>
            <a:endParaRPr lang="en-US" sz="2200" dirty="0"/>
          </a:p>
        </p:txBody>
      </p:sp>
      <p:pic>
        <p:nvPicPr>
          <p:cNvPr id="10" name="Image 2" descr="preencoded.png">    </p:cNvPr>
          <p:cNvPicPr>
            <a:picLocks noChangeAspect="1"/>
          </p:cNvPicPr>
          <p:nvPr/>
        </p:nvPicPr>
        <p:blipFill>
          <a:blip r:embed="rId3"/>
          <a:stretch>
            <a:fillRect/>
          </a:stretch>
        </p:blipFill>
        <p:spPr>
          <a:xfrm>
            <a:off x="731520" y="2724912"/>
            <a:ext cx="256032" cy="256032"/>
          </a:xfrm>
          <a:prstGeom prst="rect">
            <a:avLst/>
          </a:prstGeom>
        </p:spPr>
      </p:pic>
      <p:sp>
        <p:nvSpPr>
          <p:cNvPr id="11" name="Text 5"/>
          <p:cNvSpPr txBox="1"/>
          <p:nvPr/>
        </p:nvSpPr>
        <p:spPr>
          <a:xfrm>
            <a:off x="1188720" y="26517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Testing discipline</a:t>
            </a:r>
            <a:endParaRPr lang="en-US" sz="2200" dirty="0"/>
          </a:p>
        </p:txBody>
      </p:sp>
      <p:pic>
        <p:nvPicPr>
          <p:cNvPr id="12" name="Image 3" descr="preencoded.png">    </p:cNvPr>
          <p:cNvPicPr>
            <a:picLocks noChangeAspect="1"/>
          </p:cNvPicPr>
          <p:nvPr/>
        </p:nvPicPr>
        <p:blipFill>
          <a:blip r:embed="rId4"/>
          <a:stretch>
            <a:fillRect/>
          </a:stretch>
        </p:blipFill>
        <p:spPr>
          <a:xfrm>
            <a:off x="731520" y="3182112"/>
            <a:ext cx="256032" cy="256032"/>
          </a:xfrm>
          <a:prstGeom prst="rect">
            <a:avLst/>
          </a:prstGeom>
        </p:spPr>
      </p:pic>
      <p:sp>
        <p:nvSpPr>
          <p:cNvPr id="13" name="Text 6"/>
          <p:cNvSpPr txBox="1"/>
          <p:nvPr/>
        </p:nvSpPr>
        <p:spPr>
          <a:xfrm>
            <a:off x="1188720" y="31089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Observability</a:t>
            </a:r>
            <a:endParaRPr lang="en-US" sz="2200" dirty="0"/>
          </a:p>
        </p:txBody>
      </p:sp>
      <p:pic>
        <p:nvPicPr>
          <p:cNvPr id="14" name="Image 4" descr="preencoded.png">    </p:cNvPr>
          <p:cNvPicPr>
            <a:picLocks noChangeAspect="1"/>
          </p:cNvPicPr>
          <p:nvPr/>
        </p:nvPicPr>
        <p:blipFill>
          <a:blip r:embed="rId5"/>
          <a:stretch>
            <a:fillRect/>
          </a:stretch>
        </p:blipFill>
        <p:spPr>
          <a:xfrm>
            <a:off x="731520" y="3639312"/>
            <a:ext cx="256032" cy="256032"/>
          </a:xfrm>
          <a:prstGeom prst="rect">
            <a:avLst/>
          </a:prstGeom>
        </p:spPr>
      </p:pic>
      <p:sp>
        <p:nvSpPr>
          <p:cNvPr id="15" name="Text 7"/>
          <p:cNvSpPr txBox="1"/>
          <p:nvPr/>
        </p:nvSpPr>
        <p:spPr>
          <a:xfrm>
            <a:off x="1188720" y="35661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Security</a:t>
            </a:r>
            <a:endParaRPr lang="en-US" sz="2200" dirty="0"/>
          </a:p>
        </p:txBody>
      </p:sp>
      <p:pic>
        <p:nvPicPr>
          <p:cNvPr id="16" name="Image 5" descr="preencoded.png">    </p:cNvPr>
          <p:cNvPicPr>
            <a:picLocks noChangeAspect="1"/>
          </p:cNvPicPr>
          <p:nvPr/>
        </p:nvPicPr>
        <p:blipFill>
          <a:blip r:embed="rId6"/>
          <a:stretch>
            <a:fillRect/>
          </a:stretch>
        </p:blipFill>
        <p:spPr>
          <a:xfrm>
            <a:off x="731520" y="4096512"/>
            <a:ext cx="256032" cy="256032"/>
          </a:xfrm>
          <a:prstGeom prst="rect">
            <a:avLst/>
          </a:prstGeom>
        </p:spPr>
      </p:pic>
      <p:sp>
        <p:nvSpPr>
          <p:cNvPr id="17" name="Text 8"/>
          <p:cNvSpPr txBox="1"/>
          <p:nvPr/>
        </p:nvSpPr>
        <p:spPr>
          <a:xfrm>
            <a:off x="1188720" y="40233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Product sense</a:t>
            </a:r>
            <a:endParaRPr lang="en-US" sz="2200" dirty="0"/>
          </a:p>
        </p:txBody>
      </p:sp>
      <p:pic>
        <p:nvPicPr>
          <p:cNvPr id="18" name="Image 6" descr="preencoded.png">    </p:cNvPr>
          <p:cNvPicPr>
            <a:picLocks noChangeAspect="1"/>
          </p:cNvPicPr>
          <p:nvPr/>
        </p:nvPicPr>
        <p:blipFill>
          <a:blip r:embed="rId7"/>
          <a:stretch>
            <a:fillRect/>
          </a:stretch>
        </p:blipFill>
        <p:spPr>
          <a:xfrm>
            <a:off x="731520" y="4553712"/>
            <a:ext cx="256032" cy="256032"/>
          </a:xfrm>
          <a:prstGeom prst="rect">
            <a:avLst/>
          </a:prstGeom>
        </p:spPr>
      </p:pic>
      <p:sp>
        <p:nvSpPr>
          <p:cNvPr id="19" name="Text 9"/>
          <p:cNvSpPr txBox="1"/>
          <p:nvPr/>
        </p:nvSpPr>
        <p:spPr>
          <a:xfrm>
            <a:off x="1188720" y="4480560"/>
            <a:ext cx="5029200" cy="411480"/>
          </a:xfrm>
          <a:prstGeom prst="rect">
            <a:avLst/>
          </a:prstGeom>
          <a:noFill/>
          <a:ln/>
        </p:spPr>
        <p:txBody>
          <a:bodyPr wrap="square" lIns="0" tIns="0" rIns="0" bIns="0" rtlCol="0" anchor="ctr"/>
          <a:lstStyle/>
          <a:p>
            <a:pPr algn="l" indent="0" marL="0">
              <a:lnSpc>
                <a:spcPct val="120000"/>
              </a:lnSpc>
              <a:buNone/>
            </a:pPr>
            <a:r>
              <a:rPr lang="en-US" sz="2200" dirty="0">
                <a:solidFill>
                  <a:srgbClr val="FFFCF5"/>
                </a:solidFill>
                <a:latin typeface="Helvetica Neue" pitchFamily="34" charset="0"/>
                <a:ea typeface="Helvetica Neue" pitchFamily="34" charset="-122"/>
                <a:cs typeface="Helvetica Neue" pitchFamily="34" charset="-120"/>
              </a:rPr>
              <a:t>Domain knowledge</a:t>
            </a:r>
            <a:endParaRPr lang="en-US" sz="2200" dirty="0"/>
          </a:p>
        </p:txBody>
      </p:sp>
      <p:sp>
        <p:nvSpPr>
          <p:cNvPr id="20" name="Shape 10"/>
          <p:cNvSpPr/>
          <p:nvPr/>
        </p:nvSpPr>
        <p:spPr>
          <a:xfrm>
            <a:off x="6675120" y="1737360"/>
            <a:ext cx="4782312" cy="3063240"/>
          </a:xfrm>
          <a:prstGeom prst="roundRect">
            <a:avLst>
              <a:gd name="adj" fmla="val 1791"/>
            </a:avLst>
          </a:prstGeom>
          <a:solidFill>
            <a:srgbClr val="1C1F27"/>
          </a:solidFill>
          <a:ln w="12700">
            <a:solidFill>
              <a:srgbClr val="303236"/>
            </a:solidFill>
            <a:prstDash val="solid"/>
          </a:ln>
        </p:spPr>
      </p:sp>
      <p:sp>
        <p:nvSpPr>
          <p:cNvPr id="21" name="Shape 11"/>
          <p:cNvSpPr/>
          <p:nvPr/>
        </p:nvSpPr>
        <p:spPr>
          <a:xfrm>
            <a:off x="6675120" y="1737360"/>
            <a:ext cx="41148" cy="3063240"/>
          </a:xfrm>
          <a:prstGeom prst="rect">
            <a:avLst/>
          </a:prstGeom>
          <a:solidFill>
            <a:srgbClr val="F948BE"/>
          </a:solidFill>
          <a:ln/>
        </p:spPr>
      </p:sp>
      <p:sp>
        <p:nvSpPr>
          <p:cNvPr id="22" name="Text 12"/>
          <p:cNvSpPr txBox="1"/>
          <p:nvPr/>
        </p:nvSpPr>
        <p:spPr>
          <a:xfrm>
            <a:off x="7040880" y="2011680"/>
            <a:ext cx="2743200" cy="365760"/>
          </a:xfrm>
          <a:prstGeom prst="rect">
            <a:avLst/>
          </a:prstGeom>
          <a:noFill/>
          <a:ln/>
        </p:spPr>
        <p:txBody>
          <a:bodyPr wrap="square" lIns="0" tIns="0" rIns="0" bIns="0" rtlCol="0" anchor="t"/>
          <a:lstStyle/>
          <a:p>
            <a:pPr algn="l" indent="0" marL="0">
              <a:lnSpc>
                <a:spcPct val="120000"/>
              </a:lnSpc>
              <a:buNone/>
            </a:pPr>
            <a:r>
              <a:rPr lang="en-US" sz="2400" dirty="0">
                <a:solidFill>
                  <a:srgbClr val="F948BE"/>
                </a:solidFill>
                <a:latin typeface="Helvetica Neue" pitchFamily="34" charset="0"/>
                <a:ea typeface="Helvetica Neue" pitchFamily="34" charset="-122"/>
                <a:cs typeface="Helvetica Neue" pitchFamily="34" charset="-120"/>
              </a:rPr>
              <a:t>about</a:t>
            </a:r>
            <a:endParaRPr lang="en-US" sz="2400" dirty="0"/>
          </a:p>
        </p:txBody>
      </p:sp>
      <p:sp>
        <p:nvSpPr>
          <p:cNvPr id="23" name="Text 13"/>
          <p:cNvSpPr txBox="1"/>
          <p:nvPr/>
        </p:nvSpPr>
        <p:spPr>
          <a:xfrm>
            <a:off x="6949440" y="2194560"/>
            <a:ext cx="4233672" cy="1463040"/>
          </a:xfrm>
          <a:prstGeom prst="rect">
            <a:avLst/>
          </a:prstGeom>
          <a:noFill/>
          <a:ln/>
        </p:spPr>
        <p:txBody>
          <a:bodyPr wrap="square" lIns="0" tIns="0" rIns="0" bIns="0" rtlCol="0" anchor="ctr"/>
          <a:lstStyle/>
          <a:p>
            <a:pPr algn="l" indent="0" marL="0">
              <a:lnSpc>
                <a:spcPct val="120000"/>
              </a:lnSpc>
              <a:buNone/>
            </a:pPr>
            <a:r>
              <a:rPr lang="en-US" sz="12000" b="1" spc="-400" kern="0" dirty="0">
                <a:solidFill>
                  <a:srgbClr val="F948BE"/>
                </a:solidFill>
                <a:latin typeface="Helvetica Neue" pitchFamily="34" charset="0"/>
                <a:ea typeface="Helvetica Neue" pitchFamily="34" charset="-122"/>
                <a:cs typeface="Helvetica Neue" pitchFamily="34" charset="-120"/>
              </a:rPr>
              <a:t>80%</a:t>
            </a:r>
            <a:endParaRPr lang="en-US" sz="12000" dirty="0"/>
          </a:p>
        </p:txBody>
      </p:sp>
      <p:sp>
        <p:nvSpPr>
          <p:cNvPr id="24" name="Text 14"/>
          <p:cNvSpPr txBox="1"/>
          <p:nvPr/>
        </p:nvSpPr>
        <p:spPr>
          <a:xfrm>
            <a:off x="7040880" y="3977640"/>
            <a:ext cx="4050792" cy="548640"/>
          </a:xfrm>
          <a:prstGeom prst="rect">
            <a:avLst/>
          </a:prstGeom>
          <a:noFill/>
          <a:ln/>
        </p:spPr>
        <p:txBody>
          <a:bodyPr wrap="square" lIns="0" tIns="0" rIns="0" bIns="0" rtlCol="0" anchor="b"/>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of the role, by one practitioner's estimate, 2026</a:t>
            </a:r>
            <a:endParaRPr lang="en-US" sz="1600" dirty="0"/>
          </a:p>
        </p:txBody>
      </p:sp>
      <p:sp>
        <p:nvSpPr>
          <p:cNvPr id="25" name="Text 15"/>
          <p:cNvSpPr txBox="1"/>
          <p:nvPr/>
        </p:nvSpPr>
        <p:spPr>
          <a:xfrm>
            <a:off x="731520" y="5120640"/>
            <a:ext cx="10728655" cy="685800"/>
          </a:xfrm>
          <a:prstGeom prst="rect">
            <a:avLst/>
          </a:prstGeom>
          <a:noFill/>
          <a:ln/>
        </p:spPr>
        <p:txBody>
          <a:bodyPr wrap="square" lIns="0" tIns="0" rIns="0" bIns="0" rtlCol="0" anchor="t"/>
          <a:lstStyle/>
          <a:p>
            <a:pPr algn="l" indent="0" marL="0">
              <a:lnSpc>
                <a:spcPct val="125000"/>
              </a:lnSpc>
              <a:buNone/>
            </a:pPr>
            <a:r>
              <a:rPr lang="en-US" sz="2200" i="1" dirty="0">
                <a:solidFill>
                  <a:srgbClr val="FFFCF5"/>
                </a:solidFill>
                <a:latin typeface="Helvetica Neue" pitchFamily="34" charset="0"/>
                <a:ea typeface="Helvetica Neue" pitchFamily="34" charset="-122"/>
                <a:cs typeface="Helvetica Neue" pitchFamily="34" charset="-120"/>
              </a:rPr>
              <a:t>"AI engineering is just software engineering with AI models thrown in the stack."</a:t>
            </a:r>
            <a:endParaRPr lang="en-US" sz="2200" dirty="0"/>
          </a:p>
        </p:txBody>
      </p:sp>
      <p:sp>
        <p:nvSpPr>
          <p:cNvPr id="26" name="Text 16"/>
          <p:cNvSpPr txBox="1"/>
          <p:nvPr/>
        </p:nvSpPr>
        <p:spPr>
          <a:xfrm>
            <a:off x="731520" y="5852160"/>
            <a:ext cx="10728655" cy="274320"/>
          </a:xfrm>
          <a:prstGeom prst="rect">
            <a:avLst/>
          </a:prstGeom>
          <a:noFill/>
          <a:ln/>
        </p:spPr>
        <p:txBody>
          <a:bodyPr wrap="square" lIns="0" tIns="0" rIns="0" bIns="0" rtlCol="0" anchor="t"/>
          <a:lstStyle/>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Chip Huyen, 2025</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16</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Six things to add, one per area of the map.</a:t>
            </a:r>
            <a:endParaRPr lang="en-US" sz="3600" dirty="0"/>
          </a:p>
        </p:txBody>
      </p:sp>
      <p:sp>
        <p:nvSpPr>
          <p:cNvPr id="6" name="Shape 3"/>
          <p:cNvSpPr/>
          <p:nvPr/>
        </p:nvSpPr>
        <p:spPr>
          <a:xfrm>
            <a:off x="731520" y="1691640"/>
            <a:ext cx="7989341" cy="0"/>
          </a:xfrm>
          <a:prstGeom prst="line">
            <a:avLst/>
          </a:prstGeom>
          <a:noFill/>
          <a:ln w="12700">
            <a:solidFill>
              <a:srgbClr val="303236"/>
            </a:solidFill>
            <a:prstDash val="solid"/>
          </a:ln>
        </p:spPr>
      </p:sp>
      <p:sp>
        <p:nvSpPr>
          <p:cNvPr id="7" name="Text 4"/>
          <p:cNvSpPr txBox="1"/>
          <p:nvPr/>
        </p:nvSpPr>
        <p:spPr>
          <a:xfrm>
            <a:off x="868680" y="169164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FDAD00"/>
                </a:solidFill>
                <a:latin typeface="Helvetica Neue" pitchFamily="34" charset="0"/>
                <a:ea typeface="Helvetica Neue" pitchFamily="34" charset="-122"/>
                <a:cs typeface="Helvetica Neue" pitchFamily="34" charset="-120"/>
              </a:rPr>
              <a:t>The model</a:t>
            </a:r>
            <a:endParaRPr lang="en-US" sz="2000" dirty="0"/>
          </a:p>
        </p:txBody>
      </p:sp>
      <p:sp>
        <p:nvSpPr>
          <p:cNvPr id="8" name="Text 5"/>
          <p:cNvSpPr txBox="1"/>
          <p:nvPr/>
        </p:nvSpPr>
        <p:spPr>
          <a:xfrm>
            <a:off x="3108960" y="169164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Model intuition: how they fail, what to ask for, when to swap</a:t>
            </a:r>
            <a:endParaRPr lang="en-US" sz="1800" dirty="0"/>
          </a:p>
        </p:txBody>
      </p:sp>
      <p:sp>
        <p:nvSpPr>
          <p:cNvPr id="9" name="Shape 6"/>
          <p:cNvSpPr/>
          <p:nvPr/>
        </p:nvSpPr>
        <p:spPr>
          <a:xfrm>
            <a:off x="731520" y="2423160"/>
            <a:ext cx="7989341" cy="0"/>
          </a:xfrm>
          <a:prstGeom prst="line">
            <a:avLst/>
          </a:prstGeom>
          <a:noFill/>
          <a:ln w="12700">
            <a:solidFill>
              <a:srgbClr val="303236"/>
            </a:solidFill>
            <a:prstDash val="solid"/>
          </a:ln>
        </p:spPr>
      </p:sp>
      <p:sp>
        <p:nvSpPr>
          <p:cNvPr id="10" name="Text 7"/>
          <p:cNvSpPr txBox="1"/>
          <p:nvPr/>
        </p:nvSpPr>
        <p:spPr>
          <a:xfrm>
            <a:off x="868680" y="242316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1064F8"/>
                </a:solidFill>
                <a:latin typeface="Helvetica Neue" pitchFamily="34" charset="0"/>
                <a:ea typeface="Helvetica Neue" pitchFamily="34" charset="-122"/>
                <a:cs typeface="Helvetica Neue" pitchFamily="34" charset="-120"/>
              </a:rPr>
              <a:t>Context</a:t>
            </a:r>
            <a:endParaRPr lang="en-US" sz="2000" dirty="0"/>
          </a:p>
        </p:txBody>
      </p:sp>
      <p:sp>
        <p:nvSpPr>
          <p:cNvPr id="11" name="Text 8"/>
          <p:cNvSpPr txBox="1"/>
          <p:nvPr/>
        </p:nvSpPr>
        <p:spPr>
          <a:xfrm>
            <a:off x="3108960" y="242316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Context engineering: the token budget, retrieval, provenance, memory</a:t>
            </a:r>
            <a:endParaRPr lang="en-US" sz="1800" dirty="0"/>
          </a:p>
        </p:txBody>
      </p:sp>
      <p:sp>
        <p:nvSpPr>
          <p:cNvPr id="12" name="Shape 9"/>
          <p:cNvSpPr/>
          <p:nvPr/>
        </p:nvSpPr>
        <p:spPr>
          <a:xfrm>
            <a:off x="731520" y="3154680"/>
            <a:ext cx="7989341" cy="0"/>
          </a:xfrm>
          <a:prstGeom prst="line">
            <a:avLst/>
          </a:prstGeom>
          <a:noFill/>
          <a:ln w="12700">
            <a:solidFill>
              <a:srgbClr val="303236"/>
            </a:solidFill>
            <a:prstDash val="solid"/>
          </a:ln>
        </p:spPr>
      </p:sp>
      <p:sp>
        <p:nvSpPr>
          <p:cNvPr id="13" name="Text 10"/>
          <p:cNvSpPr txBox="1"/>
          <p:nvPr/>
        </p:nvSpPr>
        <p:spPr>
          <a:xfrm>
            <a:off x="868680" y="315468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1064F8"/>
                </a:solidFill>
                <a:latin typeface="Helvetica Neue" pitchFamily="34" charset="0"/>
                <a:ea typeface="Helvetica Neue" pitchFamily="34" charset="-122"/>
                <a:cs typeface="Helvetica Neue" pitchFamily="34" charset="-120"/>
              </a:rPr>
              <a:t>Tools</a:t>
            </a:r>
            <a:endParaRPr lang="en-US" sz="2000" dirty="0"/>
          </a:p>
        </p:txBody>
      </p:sp>
      <p:sp>
        <p:nvSpPr>
          <p:cNvPr id="14" name="Text 11"/>
          <p:cNvSpPr txBox="1"/>
          <p:nvPr/>
        </p:nvSpPr>
        <p:spPr>
          <a:xfrm>
            <a:off x="3108960" y="315468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Tool design and action tiers</a:t>
            </a:r>
            <a:endParaRPr lang="en-US" sz="1800" dirty="0"/>
          </a:p>
        </p:txBody>
      </p:sp>
      <p:sp>
        <p:nvSpPr>
          <p:cNvPr id="15" name="Shape 12"/>
          <p:cNvSpPr/>
          <p:nvPr/>
        </p:nvSpPr>
        <p:spPr>
          <a:xfrm>
            <a:off x="731520" y="3886200"/>
            <a:ext cx="7989341" cy="0"/>
          </a:xfrm>
          <a:prstGeom prst="line">
            <a:avLst/>
          </a:prstGeom>
          <a:noFill/>
          <a:ln w="12700">
            <a:solidFill>
              <a:srgbClr val="303236"/>
            </a:solidFill>
            <a:prstDash val="solid"/>
          </a:ln>
        </p:spPr>
      </p:sp>
      <p:sp>
        <p:nvSpPr>
          <p:cNvPr id="16" name="Text 13"/>
          <p:cNvSpPr txBox="1"/>
          <p:nvPr/>
        </p:nvSpPr>
        <p:spPr>
          <a:xfrm>
            <a:off x="868680" y="388620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01B66D"/>
                </a:solidFill>
                <a:latin typeface="Helvetica Neue" pitchFamily="34" charset="0"/>
                <a:ea typeface="Helvetica Neue" pitchFamily="34" charset="-122"/>
                <a:cs typeface="Helvetica Neue" pitchFamily="34" charset="-120"/>
              </a:rPr>
              <a:t>The harness</a:t>
            </a:r>
            <a:endParaRPr lang="en-US" sz="2000" dirty="0"/>
          </a:p>
        </p:txBody>
      </p:sp>
      <p:sp>
        <p:nvSpPr>
          <p:cNvPr id="17" name="Text 14"/>
          <p:cNvSpPr txBox="1"/>
          <p:nvPr/>
        </p:nvSpPr>
        <p:spPr>
          <a:xfrm>
            <a:off x="3108960" y="388620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Loop control: verify each action, durable state, the workflow-versus-agent judgment</a:t>
            </a:r>
            <a:endParaRPr lang="en-US" sz="1800" dirty="0"/>
          </a:p>
        </p:txBody>
      </p:sp>
      <p:sp>
        <p:nvSpPr>
          <p:cNvPr id="18" name="Shape 15"/>
          <p:cNvSpPr/>
          <p:nvPr/>
        </p:nvSpPr>
        <p:spPr>
          <a:xfrm>
            <a:off x="731520" y="4617720"/>
            <a:ext cx="7989341" cy="0"/>
          </a:xfrm>
          <a:prstGeom prst="line">
            <a:avLst/>
          </a:prstGeom>
          <a:noFill/>
          <a:ln w="12700">
            <a:solidFill>
              <a:srgbClr val="303236"/>
            </a:solidFill>
            <a:prstDash val="solid"/>
          </a:ln>
        </p:spPr>
      </p:sp>
      <p:sp>
        <p:nvSpPr>
          <p:cNvPr id="19" name="Text 16"/>
          <p:cNvSpPr txBox="1"/>
          <p:nvPr/>
        </p:nvSpPr>
        <p:spPr>
          <a:xfrm>
            <a:off x="868680" y="461772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A1A09E"/>
                </a:solidFill>
                <a:latin typeface="Helvetica Neue" pitchFamily="34" charset="0"/>
                <a:ea typeface="Helvetica Neue" pitchFamily="34" charset="-122"/>
                <a:cs typeface="Helvetica Neue" pitchFamily="34" charset="-120"/>
              </a:rPr>
              <a:t>Evaluate</a:t>
            </a:r>
            <a:endParaRPr lang="en-US" sz="2000" dirty="0"/>
          </a:p>
        </p:txBody>
      </p:sp>
      <p:sp>
        <p:nvSpPr>
          <p:cNvPr id="20" name="Text 17"/>
          <p:cNvSpPr txBox="1"/>
          <p:nvPr/>
        </p:nvSpPr>
        <p:spPr>
          <a:xfrm>
            <a:off x="3108960" y="461772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Error analysis and evals. The priority.</a:t>
            </a:r>
            <a:endParaRPr lang="en-US" sz="1800" dirty="0"/>
          </a:p>
        </p:txBody>
      </p:sp>
      <p:sp>
        <p:nvSpPr>
          <p:cNvPr id="21" name="Shape 18"/>
          <p:cNvSpPr/>
          <p:nvPr/>
        </p:nvSpPr>
        <p:spPr>
          <a:xfrm>
            <a:off x="731520" y="5349240"/>
            <a:ext cx="7989341" cy="0"/>
          </a:xfrm>
          <a:prstGeom prst="line">
            <a:avLst/>
          </a:prstGeom>
          <a:noFill/>
          <a:ln w="12700">
            <a:solidFill>
              <a:srgbClr val="303236"/>
            </a:solidFill>
            <a:prstDash val="solid"/>
          </a:ln>
        </p:spPr>
      </p:sp>
      <p:sp>
        <p:nvSpPr>
          <p:cNvPr id="22" name="Text 19"/>
          <p:cNvSpPr txBox="1"/>
          <p:nvPr/>
        </p:nvSpPr>
        <p:spPr>
          <a:xfrm>
            <a:off x="868680" y="5349240"/>
            <a:ext cx="2194560" cy="731520"/>
          </a:xfrm>
          <a:prstGeom prst="rect">
            <a:avLst/>
          </a:prstGeom>
          <a:noFill/>
          <a:ln/>
        </p:spPr>
        <p:txBody>
          <a:bodyPr wrap="square" lIns="0" tIns="0" rIns="0" bIns="0" rtlCol="0" anchor="ctr"/>
          <a:lstStyle/>
          <a:p>
            <a:pPr algn="l" indent="0" marL="0">
              <a:lnSpc>
                <a:spcPct val="120000"/>
              </a:lnSpc>
              <a:buNone/>
            </a:pPr>
            <a:r>
              <a:rPr lang="en-US" sz="2000" b="1" dirty="0">
                <a:solidFill>
                  <a:srgbClr val="A1A09E"/>
                </a:solidFill>
                <a:latin typeface="Helvetica Neue" pitchFamily="34" charset="0"/>
                <a:ea typeface="Helvetica Neue" pitchFamily="34" charset="-122"/>
                <a:cs typeface="Helvetica Neue" pitchFamily="34" charset="-120"/>
              </a:rPr>
              <a:t>Operations</a:t>
            </a:r>
            <a:endParaRPr lang="en-US" sz="2000" dirty="0"/>
          </a:p>
        </p:txBody>
      </p:sp>
      <p:sp>
        <p:nvSpPr>
          <p:cNvPr id="23" name="Text 20"/>
          <p:cNvSpPr txBox="1"/>
          <p:nvPr/>
        </p:nvSpPr>
        <p:spPr>
          <a:xfrm>
            <a:off x="3108960" y="5349240"/>
            <a:ext cx="5429021" cy="731520"/>
          </a:xfrm>
          <a:prstGeom prst="rect">
            <a:avLst/>
          </a:prstGeom>
          <a:noFill/>
          <a:ln/>
        </p:spPr>
        <p:txBody>
          <a:bodyPr wrap="square" lIns="0" tIns="0" rIns="0" bIns="0" rtlCol="0" anchor="ctr"/>
          <a:lstStyle/>
          <a:p>
            <a:pPr algn="l" indent="0" marL="0">
              <a:lnSpc>
                <a:spcPct val="120000"/>
              </a:lnSpc>
              <a:buNone/>
            </a:pPr>
            <a:r>
              <a:rPr lang="en-US" sz="1800" dirty="0">
                <a:solidFill>
                  <a:srgbClr val="FFFCF5"/>
                </a:solidFill>
                <a:latin typeface="Helvetica Neue" pitchFamily="34" charset="0"/>
                <a:ea typeface="Helvetica Neue" pitchFamily="34" charset="-122"/>
                <a:cs typeface="Helvetica Neue" pitchFamily="34" charset="-120"/>
              </a:rPr>
              <a:t>Security and operations for probabilistic systems: injection, identity, tracing</a:t>
            </a:r>
            <a:endParaRPr lang="en-US" sz="1800" dirty="0"/>
          </a:p>
        </p:txBody>
      </p:sp>
      <p:sp>
        <p:nvSpPr>
          <p:cNvPr id="24" name="Shape 21"/>
          <p:cNvSpPr/>
          <p:nvPr/>
        </p:nvSpPr>
        <p:spPr>
          <a:xfrm>
            <a:off x="731520" y="6080760"/>
            <a:ext cx="7989341" cy="0"/>
          </a:xfrm>
          <a:prstGeom prst="line">
            <a:avLst/>
          </a:prstGeom>
          <a:noFill/>
          <a:ln w="12700">
            <a:solidFill>
              <a:srgbClr val="303236"/>
            </a:solidFill>
            <a:prstDash val="solid"/>
          </a:ln>
        </p:spPr>
      </p:sp>
      <p:sp>
        <p:nvSpPr>
          <p:cNvPr id="25" name="b1:hilite"/>
          <p:cNvSpPr/>
          <p:nvPr/>
        </p:nvSpPr>
        <p:spPr>
          <a:xfrm>
            <a:off x="713232" y="4636008"/>
            <a:ext cx="8025917" cy="694944"/>
          </a:xfrm>
          <a:prstGeom prst="roundRect">
            <a:avLst>
              <a:gd name="adj" fmla="val 7895"/>
            </a:avLst>
          </a:prstGeom>
          <a:ln w="38100">
            <a:solidFill>
              <a:srgbClr val="F948BE"/>
            </a:solidFill>
            <a:prstDash val="solid"/>
          </a:ln>
        </p:spPr>
      </p:sp>
      <p:sp>
        <p:nvSpPr>
          <p:cNvPr id="26" name="b1:tag"/>
          <p:cNvSpPr/>
          <p:nvPr/>
        </p:nvSpPr>
        <p:spPr>
          <a:xfrm>
            <a:off x="8949461" y="4645152"/>
            <a:ext cx="2510714" cy="676656"/>
          </a:xfrm>
          <a:prstGeom prst="roundRect">
            <a:avLst>
              <a:gd name="adj" fmla="val 8108"/>
            </a:avLst>
          </a:prstGeom>
          <a:solidFill>
            <a:srgbClr val="1C1F27"/>
          </a:solidFill>
          <a:ln w="12700">
            <a:solidFill>
              <a:srgbClr val="303236"/>
            </a:solidFill>
            <a:prstDash val="solid"/>
          </a:ln>
        </p:spPr>
      </p:sp>
      <p:sp>
        <p:nvSpPr>
          <p:cNvPr id="27" name="b1:tag-bar"/>
          <p:cNvSpPr/>
          <p:nvPr/>
        </p:nvSpPr>
        <p:spPr>
          <a:xfrm>
            <a:off x="8949461" y="4645152"/>
            <a:ext cx="41148" cy="676656"/>
          </a:xfrm>
          <a:prstGeom prst="rect">
            <a:avLst/>
          </a:prstGeom>
          <a:solidFill>
            <a:srgbClr val="F948BE"/>
          </a:solidFill>
          <a:ln/>
        </p:spPr>
      </p:sp>
      <p:sp>
        <p:nvSpPr>
          <p:cNvPr id="28" name="b1:tag-t"/>
          <p:cNvSpPr txBox="1"/>
          <p:nvPr/>
        </p:nvSpPr>
        <p:spPr>
          <a:xfrm>
            <a:off x="9178061" y="4645152"/>
            <a:ext cx="2144954" cy="676656"/>
          </a:xfrm>
          <a:prstGeom prst="rect">
            <a:avLst/>
          </a:prstGeom>
          <a:noFill/>
          <a:ln/>
        </p:spPr>
        <p:txBody>
          <a:bodyPr wrap="square" lIns="0" tIns="0" rIns="0" bIns="0" rtlCol="0" anchor="ctr"/>
          <a:lstStyle/>
          <a:p>
            <a:pPr algn="l"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every source names this the hardest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17</a:t>
            </a:r>
            <a:endParaRPr lang="en-US" sz="1400" dirty="0"/>
          </a:p>
        </p:txBody>
      </p:sp>
      <p:sp>
        <p:nvSpPr>
          <p:cNvPr id="5" name="Text 2"/>
          <p:cNvSpPr txBox="1"/>
          <p:nvPr/>
        </p:nvSpPr>
        <p:spPr>
          <a:xfrm>
            <a:off x="731520" y="457200"/>
            <a:ext cx="10728655" cy="685800"/>
          </a:xfrm>
          <a:prstGeom prst="rect">
            <a:avLst/>
          </a:prstGeom>
          <a:noFill/>
          <a:ln/>
        </p:spPr>
        <p:txBody>
          <a:bodyPr wrap="square" lIns="0" tIns="0" rIns="0" bIns="0" rtlCol="0" anchor="t"/>
          <a:lstStyle/>
          <a:p>
            <a:pPr algn="l" indent="0" marL="0">
              <a:lnSpc>
                <a:spcPct val="110000"/>
              </a:lnSpc>
              <a:buNone/>
            </a:pPr>
            <a:r>
              <a:rPr lang="en-US" sz="4000" b="1" spc="-100" kern="0" dirty="0">
                <a:solidFill>
                  <a:srgbClr val="FFFCF5"/>
                </a:solidFill>
                <a:latin typeface="Helvetica Neue" pitchFamily="34" charset="0"/>
                <a:ea typeface="Helvetica Neue" pitchFamily="34" charset="-122"/>
                <a:cs typeface="Helvetica Neue" pitchFamily="34" charset="-120"/>
              </a:rPr>
              <a:t>Seven mistakes, seven antidotes.</a:t>
            </a:r>
            <a:endParaRPr lang="en-US" sz="4000" dirty="0"/>
          </a:p>
        </p:txBody>
      </p:sp>
      <p:sp>
        <p:nvSpPr>
          <p:cNvPr id="6" name="Text 3"/>
          <p:cNvSpPr txBox="1"/>
          <p:nvPr/>
        </p:nvSpPr>
        <p:spPr>
          <a:xfrm>
            <a:off x="731520" y="1325880"/>
            <a:ext cx="4206240" cy="365760"/>
          </a:xfrm>
          <a:prstGeom prst="rect">
            <a:avLst/>
          </a:prstGeom>
          <a:noFill/>
          <a:ln/>
        </p:spPr>
        <p:txBody>
          <a:bodyPr wrap="square" lIns="0" tIns="0" rIns="0" bIns="0" rtlCol="0" anchor="ctr"/>
          <a:lstStyle/>
          <a:p>
            <a:pPr algn="l" indent="0" marL="0">
              <a:lnSpc>
                <a:spcPct val="120000"/>
              </a:lnSpc>
              <a:buNone/>
            </a:pPr>
            <a:r>
              <a:rPr lang="en-US" sz="2000" b="1" dirty="0">
                <a:solidFill>
                  <a:srgbClr val="FDAD00"/>
                </a:solidFill>
                <a:latin typeface="Helvetica Neue" pitchFamily="34" charset="0"/>
                <a:ea typeface="Helvetica Neue" pitchFamily="34" charset="-122"/>
                <a:cs typeface="Helvetica Neue" pitchFamily="34" charset="-120"/>
              </a:rPr>
              <a:t>Mistake</a:t>
            </a:r>
            <a:endParaRPr lang="en-US" sz="2000" dirty="0"/>
          </a:p>
        </p:txBody>
      </p:sp>
      <p:sp>
        <p:nvSpPr>
          <p:cNvPr id="7" name="Text 4"/>
          <p:cNvSpPr txBox="1"/>
          <p:nvPr/>
        </p:nvSpPr>
        <p:spPr>
          <a:xfrm>
            <a:off x="5212080" y="1325880"/>
            <a:ext cx="6248095" cy="365760"/>
          </a:xfrm>
          <a:prstGeom prst="rect">
            <a:avLst/>
          </a:prstGeom>
          <a:noFill/>
          <a:ln/>
        </p:spPr>
        <p:txBody>
          <a:bodyPr wrap="square" lIns="0" tIns="0" rIns="0" bIns="0" rtlCol="0" anchor="ctr"/>
          <a:lstStyle/>
          <a:p>
            <a:pPr algn="l" indent="0" marL="0">
              <a:lnSpc>
                <a:spcPct val="120000"/>
              </a:lnSpc>
              <a:buNone/>
            </a:pPr>
            <a:r>
              <a:rPr lang="en-US" sz="2000" b="1" dirty="0">
                <a:solidFill>
                  <a:srgbClr val="01B66D"/>
                </a:solidFill>
                <a:latin typeface="Helvetica Neue" pitchFamily="34" charset="0"/>
                <a:ea typeface="Helvetica Neue" pitchFamily="34" charset="-122"/>
                <a:cs typeface="Helvetica Neue" pitchFamily="34" charset="-120"/>
              </a:rPr>
              <a:t>Antidote</a:t>
            </a:r>
            <a:endParaRPr lang="en-US" sz="2000" dirty="0"/>
          </a:p>
        </p:txBody>
      </p:sp>
      <p:sp>
        <p:nvSpPr>
          <p:cNvPr id="8" name="Shape 5"/>
          <p:cNvSpPr/>
          <p:nvPr/>
        </p:nvSpPr>
        <p:spPr>
          <a:xfrm>
            <a:off x="731520" y="1709928"/>
            <a:ext cx="10728655" cy="0"/>
          </a:xfrm>
          <a:prstGeom prst="line">
            <a:avLst/>
          </a:prstGeom>
          <a:noFill/>
          <a:ln w="12700">
            <a:solidFill>
              <a:srgbClr val="303236"/>
            </a:solidFill>
            <a:prstDash val="solid"/>
          </a:ln>
        </p:spPr>
      </p:sp>
      <p:sp>
        <p:nvSpPr>
          <p:cNvPr id="9" name="b1:m"/>
          <p:cNvSpPr txBox="1"/>
          <p:nvPr/>
        </p:nvSpPr>
        <p:spPr>
          <a:xfrm>
            <a:off x="731520" y="1709928"/>
            <a:ext cx="4206240" cy="475488"/>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An agent when a workflow would do</a:t>
            </a:r>
            <a:endParaRPr lang="en-US" sz="1800" dirty="0"/>
          </a:p>
        </p:txBody>
      </p:sp>
      <p:sp>
        <p:nvSpPr>
          <p:cNvPr id="10" name="b1:a"/>
          <p:cNvSpPr txBox="1"/>
          <p:nvPr/>
        </p:nvSpPr>
        <p:spPr>
          <a:xfrm>
            <a:off x="5212080" y="1709928"/>
            <a:ext cx="6248095" cy="475488"/>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Helvetica Neue" pitchFamily="34" charset="0"/>
                <a:ea typeface="Helvetica Neue" pitchFamily="34" charset="-122"/>
                <a:cs typeface="Helvetica Neue" pitchFamily="34" charset="-120"/>
              </a:rPr>
              <a:t>Start with a workflow</a:t>
            </a:r>
            <a:endParaRPr lang="en-US" sz="1800" dirty="0"/>
          </a:p>
        </p:txBody>
      </p:sp>
      <p:sp>
        <p:nvSpPr>
          <p:cNvPr id="11" name="b1:d"/>
          <p:cNvSpPr/>
          <p:nvPr/>
        </p:nvSpPr>
        <p:spPr>
          <a:xfrm>
            <a:off x="731520" y="2185416"/>
            <a:ext cx="10728655" cy="0"/>
          </a:xfrm>
          <a:prstGeom prst="line">
            <a:avLst/>
          </a:prstGeom>
          <a:noFill/>
          <a:ln w="12700">
            <a:solidFill>
              <a:srgbClr val="303236"/>
            </a:solidFill>
            <a:prstDash val="solid"/>
          </a:ln>
        </p:spPr>
      </p:sp>
      <p:sp>
        <p:nvSpPr>
          <p:cNvPr id="12" name="b2:m"/>
          <p:cNvSpPr txBox="1"/>
          <p:nvPr/>
        </p:nvSpPr>
        <p:spPr>
          <a:xfrm>
            <a:off x="731520" y="2185416"/>
            <a:ext cx="4206240" cy="694944"/>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Prompt and pray</a:t>
            </a:r>
            <a:endParaRPr lang="en-US" sz="1800" dirty="0"/>
          </a:p>
        </p:txBody>
      </p:sp>
      <p:sp>
        <p:nvSpPr>
          <p:cNvPr id="13" name="b2:a"/>
          <p:cNvSpPr txBox="1"/>
          <p:nvPr/>
        </p:nvSpPr>
        <p:spPr>
          <a:xfrm>
            <a:off x="5212080" y="2185416"/>
            <a:ext cx="6248095" cy="694944"/>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Helvetica Neue" pitchFamily="34" charset="0"/>
                <a:ea typeface="Helvetica Neue" pitchFamily="34" charset="-122"/>
                <a:cs typeface="Helvetica Neue" pitchFamily="34" charset="-120"/>
              </a:rPr>
              <a:t>20 to 50 eval cases from real examples before tuning the first prompt</a:t>
            </a:r>
            <a:endParaRPr lang="en-US" sz="1800" dirty="0"/>
          </a:p>
        </p:txBody>
      </p:sp>
      <p:sp>
        <p:nvSpPr>
          <p:cNvPr id="14" name="b2:d"/>
          <p:cNvSpPr/>
          <p:nvPr/>
        </p:nvSpPr>
        <p:spPr>
          <a:xfrm>
            <a:off x="731520" y="2880360"/>
            <a:ext cx="10728655" cy="0"/>
          </a:xfrm>
          <a:prstGeom prst="line">
            <a:avLst/>
          </a:prstGeom>
          <a:noFill/>
          <a:ln w="12700">
            <a:solidFill>
              <a:srgbClr val="303236"/>
            </a:solidFill>
            <a:prstDash val="solid"/>
          </a:ln>
        </p:spPr>
      </p:sp>
      <p:sp>
        <p:nvSpPr>
          <p:cNvPr id="15" name="b3:m"/>
          <p:cNvSpPr txBox="1"/>
          <p:nvPr/>
        </p:nvSpPr>
        <p:spPr>
          <a:xfrm>
            <a:off x="731520" y="2880360"/>
            <a:ext cx="4206240" cy="694944"/>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Frameworks before primitives</a:t>
            </a:r>
            <a:endParaRPr lang="en-US" sz="1800" dirty="0"/>
          </a:p>
        </p:txBody>
      </p:sp>
      <p:sp>
        <p:nvSpPr>
          <p:cNvPr id="16" name="b3:a"/>
          <p:cNvSpPr txBox="1"/>
          <p:nvPr/>
        </p:nvSpPr>
        <p:spPr>
          <a:xfrm>
            <a:off x="5212080" y="2880360"/>
            <a:ext cx="6248095" cy="694944"/>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Helvetica Neue" pitchFamily="34" charset="0"/>
                <a:ea typeface="Helvetica Neue" pitchFamily="34" charset="-122"/>
                <a:cs typeface="Helvetica Neue" pitchFamily="34" charset="-120"/>
              </a:rPr>
              <a:t>Direct API calls first, then a framework you can read. Own your prompts, context, and control flow.</a:t>
            </a:r>
            <a:endParaRPr lang="en-US" sz="1800" dirty="0"/>
          </a:p>
        </p:txBody>
      </p:sp>
      <p:sp>
        <p:nvSpPr>
          <p:cNvPr id="17" name="b3:d"/>
          <p:cNvSpPr/>
          <p:nvPr/>
        </p:nvSpPr>
        <p:spPr>
          <a:xfrm>
            <a:off x="731520" y="3575304"/>
            <a:ext cx="10728655" cy="0"/>
          </a:xfrm>
          <a:prstGeom prst="line">
            <a:avLst/>
          </a:prstGeom>
          <a:noFill/>
          <a:ln w="12700">
            <a:solidFill>
              <a:srgbClr val="303236"/>
            </a:solidFill>
            <a:prstDash val="solid"/>
          </a:ln>
        </p:spPr>
      </p:sp>
      <p:sp>
        <p:nvSpPr>
          <p:cNvPr id="18" name="b4:m"/>
          <p:cNvSpPr txBox="1"/>
          <p:nvPr/>
        </p:nvSpPr>
        <p:spPr>
          <a:xfrm>
            <a:off x="731520" y="3575304"/>
            <a:ext cx="4206240" cy="694944"/>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Generic metrics instead of reading traces</a:t>
            </a:r>
            <a:endParaRPr lang="en-US" sz="1800" dirty="0"/>
          </a:p>
        </p:txBody>
      </p:sp>
      <p:sp>
        <p:nvSpPr>
          <p:cNvPr id="19" name="b4:a"/>
          <p:cNvSpPr txBox="1"/>
          <p:nvPr/>
        </p:nvSpPr>
        <p:spPr>
          <a:xfrm>
            <a:off x="5212080" y="3575304"/>
            <a:ext cx="6248095" cy="694944"/>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Helvetica Neue" pitchFamily="34" charset="0"/>
                <a:ea typeface="Helvetica Neue" pitchFamily="34" charset="-122"/>
                <a:cs typeface="Helvetica Neue" pitchFamily="34" charset="-120"/>
              </a:rPr>
              <a:t>Read a hundred</a:t>
            </a:r>
            <a:endParaRPr lang="en-US" sz="1800" dirty="0"/>
          </a:p>
        </p:txBody>
      </p:sp>
      <p:sp>
        <p:nvSpPr>
          <p:cNvPr id="20" name="b4:d"/>
          <p:cNvSpPr/>
          <p:nvPr/>
        </p:nvSpPr>
        <p:spPr>
          <a:xfrm>
            <a:off x="731520" y="4270248"/>
            <a:ext cx="10728655" cy="0"/>
          </a:xfrm>
          <a:prstGeom prst="line">
            <a:avLst/>
          </a:prstGeom>
          <a:noFill/>
          <a:ln w="12700">
            <a:solidFill>
              <a:srgbClr val="303236"/>
            </a:solidFill>
            <a:prstDash val="solid"/>
          </a:ln>
        </p:spPr>
      </p:sp>
      <p:sp>
        <p:nvSpPr>
          <p:cNvPr id="21" name="b5:m"/>
          <p:cNvSpPr txBox="1"/>
          <p:nvPr/>
        </p:nvSpPr>
        <p:spPr>
          <a:xfrm>
            <a:off x="731520" y="4270248"/>
            <a:ext cx="4206240" cy="694944"/>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Shipping unread output</a:t>
            </a:r>
            <a:endParaRPr lang="en-US" sz="1800" dirty="0"/>
          </a:p>
        </p:txBody>
      </p:sp>
      <p:sp>
        <p:nvSpPr>
          <p:cNvPr id="22" name="b5:a"/>
          <p:cNvSpPr txBox="1"/>
          <p:nvPr/>
        </p:nvSpPr>
        <p:spPr>
          <a:xfrm>
            <a:off x="5212080" y="4270248"/>
            <a:ext cx="6248095" cy="694944"/>
          </a:xfrm>
          <a:prstGeom prst="rect">
            <a:avLst/>
          </a:prstGeom>
          <a:noFill/>
          <a:ln/>
        </p:spPr>
        <p:txBody>
          <a:bodyPr wrap="square" lIns="0" tIns="0" rIns="0" bIns="0" rtlCol="0" anchor="ctr"/>
          <a:lstStyle/>
          <a:p>
            <a:pPr algn="l" indent="0" marL="0">
              <a:lnSpc>
                <a:spcPct val="120000"/>
              </a:lnSpc>
              <a:buNone/>
            </a:pPr>
            <a:r>
              <a:rPr lang="en-US" sz="1800" i="1" dirty="0">
                <a:solidFill>
                  <a:srgbClr val="01B66D"/>
                </a:solidFill>
                <a:latin typeface="Helvetica Neue" pitchFamily="34" charset="0"/>
                <a:ea typeface="Helvetica Neue" pitchFamily="34" charset="-122"/>
                <a:cs typeface="Helvetica Neue" pitchFamily="34" charset="-120"/>
              </a:rPr>
              <a:t>"Shipping unread code spells disaster within months."</a:t>
            </a:r>
            <a:endParaRPr lang="en-US" sz="1800" dirty="0"/>
          </a:p>
          <a:p>
            <a:pPr algn="l" indent="0" marL="0">
              <a:lnSpc>
                <a:spcPct val="120000"/>
              </a:lnSpc>
              <a:buNone/>
            </a:pPr>
            <a:r>
              <a:rPr lang="en-US" sz="1600" dirty="0">
                <a:solidFill>
                  <a:srgbClr val="A1A09E"/>
                </a:solidFill>
                <a:latin typeface="Helvetica Neue" pitchFamily="34" charset="0"/>
                <a:ea typeface="Helvetica Neue" pitchFamily="34" charset="-122"/>
                <a:cs typeface="Helvetica Neue" pitchFamily="34" charset="-120"/>
              </a:rPr>
              <a:t>Dex Horthy, 2026</a:t>
            </a:r>
            <a:endParaRPr lang="en-US" sz="1800" dirty="0"/>
          </a:p>
        </p:txBody>
      </p:sp>
      <p:sp>
        <p:nvSpPr>
          <p:cNvPr id="23" name="b5:d"/>
          <p:cNvSpPr/>
          <p:nvPr/>
        </p:nvSpPr>
        <p:spPr>
          <a:xfrm>
            <a:off x="731520" y="4965192"/>
            <a:ext cx="10728655" cy="0"/>
          </a:xfrm>
          <a:prstGeom prst="line">
            <a:avLst/>
          </a:prstGeom>
          <a:noFill/>
          <a:ln w="12700">
            <a:solidFill>
              <a:srgbClr val="303236"/>
            </a:solidFill>
            <a:prstDash val="solid"/>
          </a:ln>
        </p:spPr>
      </p:sp>
      <p:sp>
        <p:nvSpPr>
          <p:cNvPr id="24" name="b6:m"/>
          <p:cNvSpPr txBox="1"/>
          <p:nvPr/>
        </p:nvSpPr>
        <p:spPr>
          <a:xfrm>
            <a:off x="731520" y="4965192"/>
            <a:ext cx="4206240" cy="475488"/>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Treating the demo as done</a:t>
            </a:r>
            <a:endParaRPr lang="en-US" sz="1800" dirty="0"/>
          </a:p>
        </p:txBody>
      </p:sp>
      <p:sp>
        <p:nvSpPr>
          <p:cNvPr id="25" name="b6:a"/>
          <p:cNvSpPr txBox="1"/>
          <p:nvPr/>
        </p:nvSpPr>
        <p:spPr>
          <a:xfrm>
            <a:off x="5212080" y="4965192"/>
            <a:ext cx="6248095" cy="475488"/>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Menlo" pitchFamily="34" charset="0"/>
                <a:ea typeface="Menlo" pitchFamily="34" charset="-122"/>
                <a:cs typeface="Menlo" pitchFamily="34" charset="-120"/>
              </a:rPr>
              <a:t>works.any()</a:t>
            </a:r>
            <a:r>
              <a:rPr lang="en-US" sz="1800" dirty="0">
                <a:solidFill>
                  <a:srgbClr val="01B66D"/>
                </a:solidFill>
                <a:latin typeface="Helvetica Neue" pitchFamily="34" charset="0"/>
                <a:ea typeface="Helvetica Neue" pitchFamily="34" charset="-122"/>
                <a:cs typeface="Helvetica Neue" pitchFamily="34" charset="-120"/>
              </a:rPr>
              <a:t> is not </a:t>
            </a:r>
            <a:r>
              <a:rPr lang="en-US" sz="1800" dirty="0">
                <a:solidFill>
                  <a:srgbClr val="01B66D"/>
                </a:solidFill>
                <a:latin typeface="Menlo" pitchFamily="34" charset="0"/>
                <a:ea typeface="Menlo" pitchFamily="34" charset="-122"/>
                <a:cs typeface="Menlo" pitchFamily="34" charset="-120"/>
              </a:rPr>
              <a:t>works.all()</a:t>
            </a:r>
            <a:endParaRPr lang="en-US" sz="1800" dirty="0"/>
          </a:p>
        </p:txBody>
      </p:sp>
      <p:sp>
        <p:nvSpPr>
          <p:cNvPr id="26" name="b6:d"/>
          <p:cNvSpPr/>
          <p:nvPr/>
        </p:nvSpPr>
        <p:spPr>
          <a:xfrm>
            <a:off x="731520" y="5440680"/>
            <a:ext cx="10728655" cy="0"/>
          </a:xfrm>
          <a:prstGeom prst="line">
            <a:avLst/>
          </a:prstGeom>
          <a:noFill/>
          <a:ln w="12700">
            <a:solidFill>
              <a:srgbClr val="303236"/>
            </a:solidFill>
            <a:prstDash val="solid"/>
          </a:ln>
        </p:spPr>
      </p:sp>
      <p:sp>
        <p:nvSpPr>
          <p:cNvPr id="27" name="b7:m"/>
          <p:cNvSpPr txBox="1"/>
          <p:nvPr/>
        </p:nvSpPr>
        <p:spPr>
          <a:xfrm>
            <a:off x="731520" y="5440680"/>
            <a:ext cx="4206240" cy="694944"/>
          </a:xfrm>
          <a:prstGeom prst="rect">
            <a:avLst/>
          </a:prstGeom>
          <a:noFill/>
          <a:ln/>
        </p:spPr>
        <p:txBody>
          <a:bodyPr wrap="square" lIns="0" tIns="0" rIns="0" bIns="0" rtlCol="0" anchor="ctr"/>
          <a:lstStyle/>
          <a:p>
            <a:pPr algn="l" indent="0" marL="0">
              <a:lnSpc>
                <a:spcPct val="120000"/>
              </a:lnSpc>
              <a:buNone/>
            </a:pPr>
            <a:r>
              <a:rPr lang="en-US" sz="1800" dirty="0">
                <a:solidFill>
                  <a:srgbClr val="FDAD00"/>
                </a:solidFill>
                <a:latin typeface="Helvetica Neue" pitchFamily="34" charset="0"/>
                <a:ea typeface="Helvetica Neue" pitchFamily="34" charset="-122"/>
                <a:cs typeface="Helvetica Neue" pitchFamily="34" charset="-120"/>
              </a:rPr>
              <a:t>Ignoring cost and latency until the invoice arrives</a:t>
            </a:r>
            <a:endParaRPr lang="en-US" sz="1800" dirty="0"/>
          </a:p>
        </p:txBody>
      </p:sp>
      <p:sp>
        <p:nvSpPr>
          <p:cNvPr id="28" name="b7:a"/>
          <p:cNvSpPr txBox="1"/>
          <p:nvPr/>
        </p:nvSpPr>
        <p:spPr>
          <a:xfrm>
            <a:off x="5212080" y="5440680"/>
            <a:ext cx="6248095" cy="694944"/>
          </a:xfrm>
          <a:prstGeom prst="rect">
            <a:avLst/>
          </a:prstGeom>
          <a:noFill/>
          <a:ln/>
        </p:spPr>
        <p:txBody>
          <a:bodyPr wrap="square" lIns="0" tIns="0" rIns="0" bIns="0" rtlCol="0" anchor="ctr"/>
          <a:lstStyle/>
          <a:p>
            <a:pPr algn="l" indent="0" marL="0">
              <a:lnSpc>
                <a:spcPct val="120000"/>
              </a:lnSpc>
              <a:buNone/>
            </a:pPr>
            <a:r>
              <a:rPr lang="en-US" sz="1800" dirty="0">
                <a:solidFill>
                  <a:srgbClr val="01B66D"/>
                </a:solidFill>
                <a:latin typeface="Helvetica Neue" pitchFamily="34" charset="0"/>
                <a:ea typeface="Helvetica Neue" pitchFamily="34" charset="-122"/>
                <a:cs typeface="Helvetica Neue" pitchFamily="34" charset="-120"/>
              </a:rPr>
              <a:t>On the scorecard from day one</a:t>
            </a:r>
            <a:endParaRPr lang="en-US" sz="1800" dirty="0"/>
          </a:p>
        </p:txBody>
      </p:sp>
      <p:sp>
        <p:nvSpPr>
          <p:cNvPr id="29" name="b7:d"/>
          <p:cNvSpPr/>
          <p:nvPr/>
        </p:nvSpPr>
        <p:spPr>
          <a:xfrm>
            <a:off x="731520" y="6135624"/>
            <a:ext cx="10728655" cy="0"/>
          </a:xfrm>
          <a:prstGeom prst="line">
            <a:avLst/>
          </a:prstGeom>
          <a:noFill/>
          <a:ln w="12700">
            <a:solidFill>
              <a:srgbClr val="303236"/>
            </a:solidFill>
            <a:prstDash val="soli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18</a:t>
            </a:r>
            <a:endParaRPr lang="en-US" sz="1400" dirty="0"/>
          </a:p>
        </p:txBody>
      </p:sp>
      <p:sp>
        <p:nvSpPr>
          <p:cNvPr id="5" name="Text 2"/>
          <p:cNvSpPr txBox="1"/>
          <p:nvPr/>
        </p:nvSpPr>
        <p:spPr>
          <a:xfrm>
            <a:off x="731520" y="457200"/>
            <a:ext cx="10728655" cy="1097280"/>
          </a:xfrm>
          <a:prstGeom prst="rect">
            <a:avLst/>
          </a:prstGeom>
          <a:noFill/>
          <a:ln/>
        </p:spPr>
        <p:txBody>
          <a:bodyPr wrap="square" lIns="0" tIns="0" rIns="0" bIns="0" rtlCol="0" anchor="t"/>
          <a:lstStyle/>
          <a:p>
            <a:pPr algn="l" indent="0" marL="0">
              <a:lnSpc>
                <a:spcPct val="110000"/>
              </a:lnSpc>
              <a:buNone/>
            </a:pPr>
            <a:r>
              <a:rPr lang="en-US" sz="3600" b="1" spc="-100" kern="0" dirty="0">
                <a:solidFill>
                  <a:srgbClr val="FFFCF5"/>
                </a:solidFill>
                <a:latin typeface="Helvetica Neue" pitchFamily="34" charset="0"/>
                <a:ea typeface="Helvetica Neue" pitchFamily="34" charset="-122"/>
                <a:cs typeface="Helvetica Neue" pitchFamily="34" charset="-120"/>
              </a:rPr>
              <a:t>Build one narrow, real agent for a task you already understand.</a:t>
            </a:r>
            <a:endParaRPr lang="en-US" sz="3600" dirty="0"/>
          </a:p>
        </p:txBody>
      </p:sp>
      <p:sp>
        <p:nvSpPr>
          <p:cNvPr id="6" name="Text 3"/>
          <p:cNvSpPr txBox="1"/>
          <p:nvPr/>
        </p:nvSpPr>
        <p:spPr>
          <a:xfrm>
            <a:off x="731520" y="1691640"/>
            <a:ext cx="3429000" cy="320040"/>
          </a:xfrm>
          <a:prstGeom prst="rect">
            <a:avLst/>
          </a:prstGeom>
          <a:noFill/>
          <a:ln/>
        </p:spPr>
        <p:txBody>
          <a:bodyPr wrap="square" lIns="0" tIns="0" rIns="0" bIns="0" rtlCol="0" anchor="t"/>
          <a:lstStyle/>
          <a:p>
            <a:pPr algn="l" indent="0" marL="0">
              <a:lnSpc>
                <a:spcPct val="120000"/>
              </a:lnSpc>
              <a:buNone/>
            </a:pPr>
            <a:r>
              <a:rPr lang="en-US" sz="2000" b="1" dirty="0">
                <a:solidFill>
                  <a:srgbClr val="F948BE"/>
                </a:solidFill>
                <a:latin typeface="Helvetica Neue" pitchFamily="34" charset="0"/>
                <a:ea typeface="Helvetica Neue" pitchFamily="34" charset="-122"/>
                <a:cs typeface="Helvetica Neue" pitchFamily="34" charset="-120"/>
              </a:rPr>
              <a:t>First project</a:t>
            </a:r>
            <a:endParaRPr lang="en-US" sz="2000" dirty="0"/>
          </a:p>
        </p:txBody>
      </p:sp>
      <p:pic>
        <p:nvPicPr>
          <p:cNvPr id="7" name="Image 0" descr="preencoded.png">    </p:cNvPr>
          <p:cNvPicPr>
            <a:picLocks noChangeAspect="1"/>
          </p:cNvPicPr>
          <p:nvPr/>
        </p:nvPicPr>
        <p:blipFill>
          <a:blip r:embed="rId1"/>
          <a:stretch>
            <a:fillRect/>
          </a:stretch>
        </p:blipFill>
        <p:spPr>
          <a:xfrm>
            <a:off x="731520" y="2139696"/>
            <a:ext cx="219456" cy="219456"/>
          </a:xfrm>
          <a:prstGeom prst="rect">
            <a:avLst/>
          </a:prstGeom>
        </p:spPr>
      </p:pic>
      <p:sp>
        <p:nvSpPr>
          <p:cNvPr id="8" name="Text 4"/>
          <p:cNvSpPr txBox="1"/>
          <p:nvPr/>
        </p:nvSpPr>
        <p:spPr>
          <a:xfrm>
            <a:off x="1097280" y="2103120"/>
            <a:ext cx="3063240" cy="768096"/>
          </a:xfrm>
          <a:prstGeom prst="rect">
            <a:avLst/>
          </a:prstGeom>
          <a:noFill/>
          <a:ln/>
        </p:spPr>
        <p:txBody>
          <a:bodyPr wrap="square" lIns="0" tIns="0" rIns="0" bIns="0" rtlCol="0" anchor="t"/>
          <a:lstStyle/>
          <a:p>
            <a:pPr algn="l"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A read-only agent over a repo you own: a pull-request reviewer or an issue-triage agent.</a:t>
            </a:r>
            <a:endParaRPr lang="en-US" sz="1600" dirty="0"/>
          </a:p>
        </p:txBody>
      </p:sp>
      <p:pic>
        <p:nvPicPr>
          <p:cNvPr id="9" name="Image 1" descr="preencoded.png">    </p:cNvPr>
          <p:cNvPicPr>
            <a:picLocks noChangeAspect="1"/>
          </p:cNvPicPr>
          <p:nvPr/>
        </p:nvPicPr>
        <p:blipFill>
          <a:blip r:embed="rId2"/>
          <a:stretch>
            <a:fillRect/>
          </a:stretch>
        </p:blipFill>
        <p:spPr>
          <a:xfrm>
            <a:off x="731520" y="3054096"/>
            <a:ext cx="219456" cy="219456"/>
          </a:xfrm>
          <a:prstGeom prst="rect">
            <a:avLst/>
          </a:prstGeom>
        </p:spPr>
      </p:pic>
      <p:sp>
        <p:nvSpPr>
          <p:cNvPr id="10" name="Text 5"/>
          <p:cNvSpPr txBox="1"/>
          <p:nvPr/>
        </p:nvSpPr>
        <p:spPr>
          <a:xfrm>
            <a:off x="1097280" y="3017520"/>
            <a:ext cx="3063240" cy="768096"/>
          </a:xfrm>
          <a:prstGeom prst="rect">
            <a:avLst/>
          </a:prstGeom>
          <a:noFill/>
          <a:ln/>
        </p:spPr>
        <p:txBody>
          <a:bodyPr wrap="square" lIns="0" tIns="0" rIns="0" bIns="0" rtlCol="0" anchor="t"/>
          <a:lstStyle/>
          <a:p>
            <a:pPr algn="l"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20 to 50 eval cases from real examples before the first prompt is tuned.</a:t>
            </a:r>
            <a:endParaRPr lang="en-US" sz="1600" dirty="0"/>
          </a:p>
        </p:txBody>
      </p:sp>
      <p:pic>
        <p:nvPicPr>
          <p:cNvPr id="11" name="Image 2" descr="preencoded.png">    </p:cNvPr>
          <p:cNvPicPr>
            <a:picLocks noChangeAspect="1"/>
          </p:cNvPicPr>
          <p:nvPr/>
        </p:nvPicPr>
        <p:blipFill>
          <a:blip r:embed="rId3"/>
          <a:stretch>
            <a:fillRect/>
          </a:stretch>
        </p:blipFill>
        <p:spPr>
          <a:xfrm>
            <a:off x="731520" y="3968496"/>
            <a:ext cx="219456" cy="219456"/>
          </a:xfrm>
          <a:prstGeom prst="rect">
            <a:avLst/>
          </a:prstGeom>
        </p:spPr>
      </p:pic>
      <p:sp>
        <p:nvSpPr>
          <p:cNvPr id="12" name="Text 6"/>
          <p:cNvSpPr txBox="1"/>
          <p:nvPr/>
        </p:nvSpPr>
        <p:spPr>
          <a:xfrm>
            <a:off x="1097280" y="3931920"/>
            <a:ext cx="3063240" cy="768096"/>
          </a:xfrm>
          <a:prstGeom prst="rect">
            <a:avLst/>
          </a:prstGeom>
          <a:noFill/>
          <a:ln/>
        </p:spPr>
        <p:txBody>
          <a:bodyPr wrap="square" lIns="0" tIns="0" rIns="0" bIns="0" rtlCol="0" anchor="t"/>
          <a:lstStyle/>
          <a:p>
            <a:pPr algn="l"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Direct API calls before a framework. A trace viewer from day one.</a:t>
            </a:r>
            <a:endParaRPr lang="en-US" sz="1600" dirty="0"/>
          </a:p>
        </p:txBody>
      </p:sp>
      <p:pic>
        <p:nvPicPr>
          <p:cNvPr id="13" name="Image 3" descr="preencoded.png">    </p:cNvPr>
          <p:cNvPicPr>
            <a:picLocks noChangeAspect="1"/>
          </p:cNvPicPr>
          <p:nvPr/>
        </p:nvPicPr>
        <p:blipFill>
          <a:blip r:embed="rId4"/>
          <a:stretch>
            <a:fillRect/>
          </a:stretch>
        </p:blipFill>
        <p:spPr>
          <a:xfrm>
            <a:off x="731520" y="4882896"/>
            <a:ext cx="219456" cy="219456"/>
          </a:xfrm>
          <a:prstGeom prst="rect">
            <a:avLst/>
          </a:prstGeom>
        </p:spPr>
      </p:pic>
      <p:sp>
        <p:nvSpPr>
          <p:cNvPr id="14" name="Text 7"/>
          <p:cNvSpPr txBox="1"/>
          <p:nvPr/>
        </p:nvSpPr>
        <p:spPr>
          <a:xfrm>
            <a:off x="1097280" y="4846320"/>
            <a:ext cx="3063240" cy="512064"/>
          </a:xfrm>
          <a:prstGeom prst="rect">
            <a:avLst/>
          </a:prstGeom>
          <a:noFill/>
          <a:ln/>
        </p:spPr>
        <p:txBody>
          <a:bodyPr wrap="square" lIns="0" tIns="0" rIns="0" bIns="0" rtlCol="0" anchor="t"/>
          <a:lstStyle/>
          <a:p>
            <a:pPr algn="l" indent="0" marL="0">
              <a:lnSpc>
                <a:spcPct val="120000"/>
              </a:lnSpc>
              <a:buNone/>
            </a:pPr>
            <a:r>
              <a:rPr lang="en-US" sz="1600" dirty="0">
                <a:solidFill>
                  <a:srgbClr val="FFFCF5"/>
                </a:solidFill>
                <a:latin typeface="Helvetica Neue" pitchFamily="34" charset="0"/>
                <a:ea typeface="Helvetica Neue" pitchFamily="34" charset="-122"/>
                <a:cs typeface="Helvetica Neue" pitchFamily="34" charset="-120"/>
              </a:rPr>
              <a:t>One agent, one tier at a time. Let the evals tell you when.</a:t>
            </a:r>
            <a:endParaRPr lang="en-US" sz="1600" dirty="0"/>
          </a:p>
        </p:txBody>
      </p:sp>
      <p:sp>
        <p:nvSpPr>
          <p:cNvPr id="15" name="Text 8"/>
          <p:cNvSpPr txBox="1"/>
          <p:nvPr/>
        </p:nvSpPr>
        <p:spPr>
          <a:xfrm>
            <a:off x="4480560" y="1691640"/>
            <a:ext cx="3337560" cy="292608"/>
          </a:xfrm>
          <a:prstGeom prst="rect">
            <a:avLst/>
          </a:prstGeom>
          <a:noFill/>
          <a:ln/>
        </p:spPr>
        <p:txBody>
          <a:bodyPr wrap="square" lIns="0" tIns="0" rIns="0" bIns="0" rtlCol="0" anchor="t"/>
          <a:lstStyle/>
          <a:p>
            <a:pPr algn="l" indent="0" marL="0">
              <a:lnSpc>
                <a:spcPct val="120000"/>
              </a:lnSpc>
              <a:buNone/>
            </a:pPr>
            <a:r>
              <a:rPr lang="en-US" sz="1900" b="1" dirty="0">
                <a:solidFill>
                  <a:srgbClr val="F948BE"/>
                </a:solidFill>
                <a:latin typeface="Helvetica Neue" pitchFamily="34" charset="0"/>
                <a:ea typeface="Helvetica Neue" pitchFamily="34" charset="-122"/>
                <a:cs typeface="Helvetica Neue" pitchFamily="34" charset="-120"/>
              </a:rPr>
              <a:t>Books</a:t>
            </a:r>
            <a:endParaRPr lang="en-US" sz="1900" dirty="0"/>
          </a:p>
        </p:txBody>
      </p:sp>
      <p:sp>
        <p:nvSpPr>
          <p:cNvPr id="16" name="Text 9"/>
          <p:cNvSpPr txBox="1"/>
          <p:nvPr/>
        </p:nvSpPr>
        <p:spPr>
          <a:xfrm>
            <a:off x="4480560" y="2002536"/>
            <a:ext cx="3337560" cy="2194560"/>
          </a:xfrm>
          <a:prstGeom prst="rect">
            <a:avLst/>
          </a:prstGeom>
          <a:noFill/>
          <a:ln/>
        </p:spPr>
        <p:txBody>
          <a:bodyPr wrap="square" lIns="0" tIns="0" rIns="0" bIns="0" rtlCol="0" anchor="t"/>
          <a:lstStyle/>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Chip Huyen, AI Engineering (O'Reilly, 2025)</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Hamel Husain and Shreya Shankar, Evals for AI Engineers (O'Reilly, due October 2026)</a:t>
            </a:r>
            <a:endParaRPr lang="en-US" sz="1600" dirty="0"/>
          </a:p>
        </p:txBody>
      </p:sp>
      <p:sp>
        <p:nvSpPr>
          <p:cNvPr id="17" name="Text 10"/>
          <p:cNvSpPr txBox="1"/>
          <p:nvPr/>
        </p:nvSpPr>
        <p:spPr>
          <a:xfrm>
            <a:off x="4480560" y="3474720"/>
            <a:ext cx="3337560" cy="292608"/>
          </a:xfrm>
          <a:prstGeom prst="rect">
            <a:avLst/>
          </a:prstGeom>
          <a:noFill/>
          <a:ln/>
        </p:spPr>
        <p:txBody>
          <a:bodyPr wrap="square" lIns="0" tIns="0" rIns="0" bIns="0" rtlCol="0" anchor="t"/>
          <a:lstStyle/>
          <a:p>
            <a:pPr algn="l" indent="0" marL="0">
              <a:lnSpc>
                <a:spcPct val="120000"/>
              </a:lnSpc>
              <a:buNone/>
            </a:pPr>
            <a:r>
              <a:rPr lang="en-US" sz="1900" b="1" dirty="0">
                <a:solidFill>
                  <a:srgbClr val="1064F8"/>
                </a:solidFill>
                <a:latin typeface="Helvetica Neue" pitchFamily="34" charset="0"/>
                <a:ea typeface="Helvetica Neue" pitchFamily="34" charset="-122"/>
                <a:cs typeface="Helvetica Neue" pitchFamily="34" charset="-120"/>
              </a:rPr>
              <a:t>Guides</a:t>
            </a:r>
            <a:endParaRPr lang="en-US" sz="1900" dirty="0"/>
          </a:p>
        </p:txBody>
      </p:sp>
      <p:sp>
        <p:nvSpPr>
          <p:cNvPr id="18" name="Text 11"/>
          <p:cNvSpPr txBox="1"/>
          <p:nvPr/>
        </p:nvSpPr>
        <p:spPr>
          <a:xfrm>
            <a:off x="4480560" y="3785616"/>
            <a:ext cx="3337560" cy="2194560"/>
          </a:xfrm>
          <a:prstGeom prst="rect">
            <a:avLst/>
          </a:prstGeom>
          <a:noFill/>
          <a:ln/>
        </p:spPr>
        <p:txBody>
          <a:bodyPr wrap="square" lIns="0" tIns="0" rIns="0" bIns="0" rtlCol="0" anchor="t"/>
          <a:lstStyle/>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Anthropic: "Building Effective Agents," "Effective Context Engineering for AI Agents," "Demystifying Evals for AI Agents"</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OpenAI: "A Practical Guide to Building Agents"</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Dex Horthy: "12-Factor Agents"</a:t>
            </a:r>
            <a:endParaRPr lang="en-US" sz="1600" dirty="0"/>
          </a:p>
        </p:txBody>
      </p:sp>
      <p:sp>
        <p:nvSpPr>
          <p:cNvPr id="19" name="Text 12"/>
          <p:cNvSpPr txBox="1"/>
          <p:nvPr/>
        </p:nvSpPr>
        <p:spPr>
          <a:xfrm>
            <a:off x="8138160" y="1691640"/>
            <a:ext cx="3319272" cy="292608"/>
          </a:xfrm>
          <a:prstGeom prst="rect">
            <a:avLst/>
          </a:prstGeom>
          <a:noFill/>
          <a:ln/>
        </p:spPr>
        <p:txBody>
          <a:bodyPr wrap="square" lIns="0" tIns="0" rIns="0" bIns="0" rtlCol="0" anchor="t"/>
          <a:lstStyle/>
          <a:p>
            <a:pPr algn="l" indent="0" marL="0">
              <a:lnSpc>
                <a:spcPct val="120000"/>
              </a:lnSpc>
              <a:buNone/>
            </a:pPr>
            <a:r>
              <a:rPr lang="en-US" sz="1900" b="1" dirty="0">
                <a:solidFill>
                  <a:srgbClr val="01B66D"/>
                </a:solidFill>
                <a:latin typeface="Helvetica Neue" pitchFamily="34" charset="0"/>
                <a:ea typeface="Helvetica Neue" pitchFamily="34" charset="-122"/>
                <a:cs typeface="Helvetica Neue" pitchFamily="34" charset="-120"/>
              </a:rPr>
              <a:t>Courses</a:t>
            </a:r>
            <a:endParaRPr lang="en-US" sz="1900" dirty="0"/>
          </a:p>
        </p:txBody>
      </p:sp>
      <p:sp>
        <p:nvSpPr>
          <p:cNvPr id="20" name="Text 13"/>
          <p:cNvSpPr txBox="1"/>
          <p:nvPr/>
        </p:nvSpPr>
        <p:spPr>
          <a:xfrm>
            <a:off x="8138160" y="2002536"/>
            <a:ext cx="3319272" cy="2194560"/>
          </a:xfrm>
          <a:prstGeom prst="rect">
            <a:avLst/>
          </a:prstGeom>
          <a:noFill/>
          <a:ln/>
        </p:spPr>
        <p:txBody>
          <a:bodyPr wrap="square" lIns="0" tIns="0" rIns="0" bIns="0" rtlCol="0" anchor="t"/>
          <a:lstStyle/>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Hamel Husain and Shreya Shankar's evals course</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Google and Kaggle's 5-Day AI Agents Intensive (free)</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The Hugging Face Agents course (free)</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Anthropic Academy (free)</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OpenAI Academy (free)</a:t>
            </a:r>
            <a:endParaRPr lang="en-US" sz="1600" dirty="0"/>
          </a:p>
        </p:txBody>
      </p:sp>
      <p:sp>
        <p:nvSpPr>
          <p:cNvPr id="21" name="Text 14"/>
          <p:cNvSpPr txBox="1"/>
          <p:nvPr/>
        </p:nvSpPr>
        <p:spPr>
          <a:xfrm>
            <a:off x="8138160" y="4297680"/>
            <a:ext cx="3319272" cy="292608"/>
          </a:xfrm>
          <a:prstGeom prst="rect">
            <a:avLst/>
          </a:prstGeom>
          <a:noFill/>
          <a:ln/>
        </p:spPr>
        <p:txBody>
          <a:bodyPr wrap="square" lIns="0" tIns="0" rIns="0" bIns="0" rtlCol="0" anchor="t"/>
          <a:lstStyle/>
          <a:p>
            <a:pPr algn="l" indent="0" marL="0">
              <a:lnSpc>
                <a:spcPct val="120000"/>
              </a:lnSpc>
              <a:buNone/>
            </a:pPr>
            <a:r>
              <a:rPr lang="en-US" sz="1900" b="1" dirty="0">
                <a:solidFill>
                  <a:srgbClr val="FDAD00"/>
                </a:solidFill>
                <a:latin typeface="Helvetica Neue" pitchFamily="34" charset="0"/>
                <a:ea typeface="Helvetica Neue" pitchFamily="34" charset="-122"/>
                <a:cs typeface="Helvetica Neue" pitchFamily="34" charset="-120"/>
              </a:rPr>
              <a:t>Staying current</a:t>
            </a:r>
            <a:endParaRPr lang="en-US" sz="1900" dirty="0"/>
          </a:p>
        </p:txBody>
      </p:sp>
      <p:sp>
        <p:nvSpPr>
          <p:cNvPr id="22" name="Text 15"/>
          <p:cNvSpPr txBox="1"/>
          <p:nvPr/>
        </p:nvSpPr>
        <p:spPr>
          <a:xfrm>
            <a:off x="8138160" y="4608576"/>
            <a:ext cx="3319272" cy="2194560"/>
          </a:xfrm>
          <a:prstGeom prst="rect">
            <a:avLst/>
          </a:prstGeom>
          <a:noFill/>
          <a:ln/>
        </p:spPr>
        <p:txBody>
          <a:bodyPr wrap="square" lIns="0" tIns="0" rIns="0" bIns="0" rtlCol="0" anchor="t"/>
          <a:lstStyle/>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Latent Space</a:t>
            </a:r>
            <a:endParaRPr lang="en-US" sz="1600" dirty="0"/>
          </a:p>
          <a:p>
            <a:pPr marL="177800" indent="-177800">
              <a:lnSpc>
                <a:spcPct val="110000"/>
              </a:lnSpc>
              <a:spcAft>
                <a:spcPts val="300"/>
              </a:spcAft>
              <a:buSzPct val="100000"/>
              <a:buChar char="•"/>
            </a:pPr>
            <a:r>
              <a:rPr lang="en-US" sz="1600" dirty="0">
                <a:solidFill>
                  <a:srgbClr val="FFFCF5"/>
                </a:solidFill>
                <a:latin typeface="Helvetica Neue" pitchFamily="34" charset="0"/>
                <a:ea typeface="Helvetica Neue" pitchFamily="34" charset="-122"/>
                <a:cs typeface="Helvetica Neue" pitchFamily="34" charset="-120"/>
              </a:rPr>
              <a:t>The Pragmatic Engineer</a:t>
            </a:r>
            <a:endParaRPr lang="en-US" sz="1600" dirty="0"/>
          </a:p>
        </p:txBody>
      </p:sp>
      <p:sp>
        <p:nvSpPr>
          <p:cNvPr id="23" name="Text 16"/>
          <p:cNvSpPr txBox="1"/>
          <p:nvPr/>
        </p:nvSpPr>
        <p:spPr>
          <a:xfrm>
            <a:off x="731520" y="5742432"/>
            <a:ext cx="10728655" cy="548640"/>
          </a:xfrm>
          <a:prstGeom prst="rect">
            <a:avLst/>
          </a:prstGeom>
          <a:noFill/>
          <a:ln/>
        </p:spPr>
        <p:txBody>
          <a:bodyPr wrap="square" lIns="0" tIns="0" rIns="0" bIns="0" rtlCol="0" anchor="t"/>
          <a:lstStyle/>
          <a:p>
            <a:pPr algn="l" indent="0" marL="0">
              <a:lnSpc>
                <a:spcPct val="115000"/>
              </a:lnSpc>
              <a:buNone/>
            </a:pPr>
            <a:r>
              <a:rPr lang="en-US" sz="1600" dirty="0">
                <a:solidFill>
                  <a:srgbClr val="A1A09E"/>
                </a:solidFill>
                <a:latin typeface="Helvetica Neue" pitchFamily="34" charset="0"/>
                <a:ea typeface="Helvetica Neue" pitchFamily="34" charset="-122"/>
                <a:cs typeface="Helvetica Neue" pitchFamily="34" charset="-120"/>
              </a:rPr>
              <a:t>AI engineer is LinkedIn's fastest-growing US role for the second year. The premium outside frontier labs is modest. Postings want shipped production LLM work.</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61C"/>
        </a:solidFill>
      </p:bgPr>
    </p:bg>
    <p:spTree>
      <p:nvGrpSpPr>
        <p:cNvPr id="1" name=""/>
        <p:cNvGrpSpPr/>
        <p:nvPr/>
      </p:nvGrpSpPr>
      <p:grpSpPr>
        <a:xfrm>
          <a:off x="0" y="0"/>
          <a:ext cx="0" cy="0"/>
          <a:chOff x="0" y="0"/>
          <a:chExt cx="0" cy="0"/>
        </a:xfrm>
      </p:grpSpPr>
      <p:sp>
        <p:nvSpPr>
          <p:cNvPr id="2" name="Text 0"/>
          <p:cNvSpPr txBox="1"/>
          <p:nvPr/>
        </p:nvSpPr>
        <p:spPr>
          <a:xfrm>
            <a:off x="731520" y="6382512"/>
            <a:ext cx="7315200" cy="256032"/>
          </a:xfrm>
          <a:prstGeom prst="rect">
            <a:avLst/>
          </a:prstGeom>
          <a:noFill/>
          <a:ln/>
        </p:spPr>
        <p:txBody>
          <a:bodyPr wrap="square" lIns="0" tIns="0" rIns="0" bIns="0" rtlCol="0" anchor="ctr"/>
          <a:lstStyle/>
          <a:p>
            <a:pPr algn="l"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Beyond the Coding Agent: From Software Engineer to AI Engineer</a:t>
            </a:r>
            <a:endParaRPr lang="en-US" sz="1400" dirty="0"/>
          </a:p>
        </p:txBody>
      </p:sp>
      <p:sp>
        <p:nvSpPr>
          <p:cNvPr id="3" name="Text 1"/>
          <p:cNvSpPr txBox="1"/>
          <p:nvPr/>
        </p:nvSpPr>
        <p:spPr>
          <a:xfrm>
            <a:off x="10362895" y="6382512"/>
            <a:ext cx="1097280" cy="256032"/>
          </a:xfrm>
          <a:prstGeom prst="rect">
            <a:avLst/>
          </a:prstGeom>
          <a:noFill/>
          <a:ln/>
        </p:spPr>
        <p:txBody>
          <a:bodyPr wrap="square" lIns="0" tIns="0" rIns="0" bIns="0" rtlCol="0" anchor="ctr"/>
          <a:lstStyle/>
          <a:p>
            <a:pPr algn="r" indent="0" marL="0">
              <a:lnSpc>
                <a:spcPct val="120000"/>
              </a:lnSpc>
              <a:buNone/>
            </a:pPr>
            <a:r>
              <a:rPr lang="en-US" sz="1400" dirty="0">
                <a:solidFill>
                  <a:srgbClr val="A1A09E"/>
                </a:solidFill>
                <a:latin typeface="Helvetica Neue" pitchFamily="34" charset="0"/>
                <a:ea typeface="Helvetica Neue" pitchFamily="34" charset="-122"/>
                <a:cs typeface="Helvetica Neue" pitchFamily="34" charset="-120"/>
              </a:rPr>
              <a:t>19</a:t>
            </a:r>
            <a:endParaRPr lang="en-US" sz="1400" dirty="0"/>
          </a:p>
        </p:txBody>
      </p:sp>
      <p:sp>
        <p:nvSpPr>
          <p:cNvPr id="5" name="ring-ops"/>
          <p:cNvSpPr/>
          <p:nvPr/>
        </p:nvSpPr>
        <p:spPr>
          <a:xfrm>
            <a:off x="4478274" y="394106"/>
            <a:ext cx="3235147" cy="3235147"/>
          </a:xfrm>
          <a:prstGeom prst="ellipse">
            <a:avLst/>
          </a:prstGeom>
          <a:ln w="95758">
            <a:solidFill>
              <a:srgbClr val="A1A09E"/>
            </a:solidFill>
            <a:prstDash val="solid"/>
          </a:ln>
        </p:spPr>
      </p:sp>
      <p:sp>
        <p:nvSpPr>
          <p:cNvPr id="6" name="ring-harness"/>
          <p:cNvSpPr/>
          <p:nvPr/>
        </p:nvSpPr>
        <p:spPr>
          <a:xfrm>
            <a:off x="4849520" y="765353"/>
            <a:ext cx="2492654" cy="2492654"/>
          </a:xfrm>
          <a:prstGeom prst="ellipse">
            <a:avLst/>
          </a:prstGeom>
          <a:ln w="95758">
            <a:solidFill>
              <a:srgbClr val="01B66D"/>
            </a:solidFill>
            <a:prstDash val="solid"/>
          </a:ln>
        </p:spPr>
      </p:sp>
      <p:sp>
        <p:nvSpPr>
          <p:cNvPr id="7" name="ring-loop"/>
          <p:cNvSpPr/>
          <p:nvPr/>
        </p:nvSpPr>
        <p:spPr>
          <a:xfrm>
            <a:off x="5300320" y="1216152"/>
            <a:ext cx="1591056" cy="1591056"/>
          </a:xfrm>
          <a:prstGeom prst="ellipse">
            <a:avLst/>
          </a:prstGeom>
          <a:ln w="95758">
            <a:solidFill>
              <a:srgbClr val="1064F8"/>
            </a:solidFill>
            <a:prstDash val="solid"/>
          </a:ln>
        </p:spPr>
      </p:sp>
      <p:sp>
        <p:nvSpPr>
          <p:cNvPr id="8" name="disc-model"/>
          <p:cNvSpPr/>
          <p:nvPr/>
        </p:nvSpPr>
        <p:spPr>
          <a:xfrm>
            <a:off x="5671566" y="1587398"/>
            <a:ext cx="848563" cy="848563"/>
          </a:xfrm>
          <a:prstGeom prst="ellipse">
            <a:avLst/>
          </a:prstGeom>
          <a:solidFill>
            <a:srgbClr val="FDAD00"/>
          </a:solidFill>
          <a:ln/>
        </p:spPr>
      </p:sp>
      <p:sp>
        <p:nvSpPr>
          <p:cNvPr id="9" name="tri-0"/>
          <p:cNvSpPr/>
          <p:nvPr/>
        </p:nvSpPr>
        <p:spPr>
          <a:xfrm rot="9000000">
            <a:off x="6713472" y="1542593"/>
            <a:ext cx="142646" cy="142646"/>
          </a:xfrm>
          <a:prstGeom prst="triangle">
            <a:avLst/>
          </a:prstGeom>
          <a:solidFill>
            <a:srgbClr val="FFFCF5"/>
          </a:solidFill>
          <a:ln/>
        </p:spPr>
      </p:sp>
      <p:sp>
        <p:nvSpPr>
          <p:cNvPr id="10" name="tri-1"/>
          <p:cNvSpPr/>
          <p:nvPr/>
        </p:nvSpPr>
        <p:spPr>
          <a:xfrm rot="16200000">
            <a:off x="6024524" y="2735885"/>
            <a:ext cx="142646" cy="142646"/>
          </a:xfrm>
          <a:prstGeom prst="triangle">
            <a:avLst/>
          </a:prstGeom>
          <a:solidFill>
            <a:srgbClr val="FFFCF5"/>
          </a:solidFill>
          <a:ln/>
        </p:spPr>
      </p:sp>
      <p:sp>
        <p:nvSpPr>
          <p:cNvPr id="11" name="tri-2"/>
          <p:cNvSpPr/>
          <p:nvPr/>
        </p:nvSpPr>
        <p:spPr>
          <a:xfrm rot="1800000">
            <a:off x="5335577" y="1542593"/>
            <a:ext cx="142646" cy="142646"/>
          </a:xfrm>
          <a:prstGeom prst="triangle">
            <a:avLst/>
          </a:prstGeom>
          <a:solidFill>
            <a:srgbClr val="FFFCF5"/>
          </a:solidFill>
          <a:ln/>
        </p:spPr>
      </p:sp>
      <p:sp>
        <p:nvSpPr>
          <p:cNvPr id="12" name="Text 9"/>
          <p:cNvSpPr txBox="1"/>
          <p:nvPr/>
        </p:nvSpPr>
        <p:spPr>
          <a:xfrm>
            <a:off x="5671566" y="1587398"/>
            <a:ext cx="848563" cy="848563"/>
          </a:xfrm>
          <a:prstGeom prst="rect">
            <a:avLst/>
          </a:prstGeom>
          <a:noFill/>
          <a:ln/>
        </p:spPr>
        <p:txBody>
          <a:bodyPr wrap="square" lIns="0" tIns="0" rIns="0" bIns="0" rtlCol="0" anchor="ctr"/>
          <a:lstStyle/>
          <a:p>
            <a:pPr algn="ctr" indent="0" marL="0">
              <a:lnSpc>
                <a:spcPct val="120000"/>
              </a:lnSpc>
              <a:buNone/>
            </a:pPr>
            <a:r>
              <a:rPr lang="en-US" sz="1600" b="1" dirty="0">
                <a:solidFill>
                  <a:srgbClr val="14161C"/>
                </a:solidFill>
                <a:latin typeface="Helvetica Neue" pitchFamily="34" charset="0"/>
                <a:ea typeface="Helvetica Neue" pitchFamily="34" charset="-122"/>
                <a:cs typeface="Helvetica Neue" pitchFamily="34" charset="-120"/>
              </a:rPr>
              <a:t>Model</a:t>
            </a:r>
            <a:endParaRPr lang="en-US" sz="1600" dirty="0"/>
          </a:p>
        </p:txBody>
      </p:sp>
      <p:sp>
        <p:nvSpPr>
          <p:cNvPr id="13" name="dot-loop-0"/>
          <p:cNvSpPr/>
          <p:nvPr/>
        </p:nvSpPr>
        <p:spPr>
          <a:xfrm>
            <a:off x="6002396" y="1122700"/>
            <a:ext cx="186903" cy="186903"/>
          </a:xfrm>
          <a:prstGeom prst="ellipse">
            <a:avLst/>
          </a:prstGeom>
          <a:solidFill>
            <a:srgbClr val="1064F8"/>
          </a:solidFill>
          <a:ln w="19050">
            <a:solidFill>
              <a:srgbClr val="14161C"/>
            </a:solidFill>
            <a:prstDash val="solid"/>
          </a:ln>
        </p:spPr>
      </p:sp>
      <p:sp>
        <p:nvSpPr>
          <p:cNvPr id="14" name="dot-loop-1"/>
          <p:cNvSpPr/>
          <p:nvPr/>
        </p:nvSpPr>
        <p:spPr>
          <a:xfrm>
            <a:off x="6691343" y="2315992"/>
            <a:ext cx="186903" cy="186903"/>
          </a:xfrm>
          <a:prstGeom prst="ellipse">
            <a:avLst/>
          </a:prstGeom>
          <a:solidFill>
            <a:srgbClr val="1064F8"/>
          </a:solidFill>
          <a:ln w="19050">
            <a:solidFill>
              <a:srgbClr val="14161C"/>
            </a:solidFill>
            <a:prstDash val="solid"/>
          </a:ln>
        </p:spPr>
      </p:sp>
      <p:sp>
        <p:nvSpPr>
          <p:cNvPr id="15" name="dot-loop-2"/>
          <p:cNvSpPr/>
          <p:nvPr/>
        </p:nvSpPr>
        <p:spPr>
          <a:xfrm>
            <a:off x="5313448" y="2315992"/>
            <a:ext cx="186903" cy="186903"/>
          </a:xfrm>
          <a:prstGeom prst="ellipse">
            <a:avLst/>
          </a:prstGeom>
          <a:solidFill>
            <a:srgbClr val="1064F8"/>
          </a:solidFill>
          <a:ln w="19050">
            <a:solidFill>
              <a:srgbClr val="14161C"/>
            </a:solidFill>
            <a:prstDash val="solid"/>
          </a:ln>
        </p:spPr>
      </p:sp>
      <p:sp>
        <p:nvSpPr>
          <p:cNvPr id="16" name="dot-harness"/>
          <p:cNvSpPr/>
          <p:nvPr/>
        </p:nvSpPr>
        <p:spPr>
          <a:xfrm>
            <a:off x="6002396" y="3164556"/>
            <a:ext cx="186903" cy="186903"/>
          </a:xfrm>
          <a:prstGeom prst="ellipse">
            <a:avLst/>
          </a:prstGeom>
          <a:solidFill>
            <a:srgbClr val="01B66D"/>
          </a:solidFill>
          <a:ln w="19050">
            <a:solidFill>
              <a:srgbClr val="14161C"/>
            </a:solidFill>
            <a:prstDash val="solid"/>
          </a:ln>
        </p:spPr>
      </p:sp>
      <p:sp>
        <p:nvSpPr>
          <p:cNvPr id="17" name="dot-ops-0"/>
          <p:cNvSpPr/>
          <p:nvPr/>
        </p:nvSpPr>
        <p:spPr>
          <a:xfrm>
            <a:off x="7146193" y="774431"/>
            <a:ext cx="186903" cy="186903"/>
          </a:xfrm>
          <a:prstGeom prst="ellipse">
            <a:avLst/>
          </a:prstGeom>
          <a:solidFill>
            <a:srgbClr val="FFFCF5"/>
          </a:solidFill>
          <a:ln w="19050">
            <a:solidFill>
              <a:srgbClr val="14161C"/>
            </a:solidFill>
            <a:prstDash val="solid"/>
          </a:ln>
        </p:spPr>
      </p:sp>
      <p:sp>
        <p:nvSpPr>
          <p:cNvPr id="18" name="dot-ops-1"/>
          <p:cNvSpPr/>
          <p:nvPr/>
        </p:nvSpPr>
        <p:spPr>
          <a:xfrm>
            <a:off x="7146193" y="3062026"/>
            <a:ext cx="186903" cy="186903"/>
          </a:xfrm>
          <a:prstGeom prst="ellipse">
            <a:avLst/>
          </a:prstGeom>
          <a:solidFill>
            <a:srgbClr val="FFFCF5"/>
          </a:solidFill>
          <a:ln w="19050">
            <a:solidFill>
              <a:srgbClr val="14161C"/>
            </a:solidFill>
            <a:prstDash val="solid"/>
          </a:ln>
        </p:spPr>
      </p:sp>
      <p:sp>
        <p:nvSpPr>
          <p:cNvPr id="19" name="dot-ops-2"/>
          <p:cNvSpPr/>
          <p:nvPr/>
        </p:nvSpPr>
        <p:spPr>
          <a:xfrm>
            <a:off x="4858599" y="3062026"/>
            <a:ext cx="186903" cy="186903"/>
          </a:xfrm>
          <a:prstGeom prst="ellipse">
            <a:avLst/>
          </a:prstGeom>
          <a:solidFill>
            <a:srgbClr val="FFFCF5"/>
          </a:solidFill>
          <a:ln w="19050">
            <a:solidFill>
              <a:srgbClr val="14161C"/>
            </a:solidFill>
            <a:prstDash val="solid"/>
          </a:ln>
        </p:spPr>
      </p:sp>
      <p:sp>
        <p:nvSpPr>
          <p:cNvPr id="20" name="dot-ops-3"/>
          <p:cNvSpPr/>
          <p:nvPr/>
        </p:nvSpPr>
        <p:spPr>
          <a:xfrm>
            <a:off x="4858599" y="774431"/>
            <a:ext cx="186903" cy="186903"/>
          </a:xfrm>
          <a:prstGeom prst="ellipse">
            <a:avLst/>
          </a:prstGeom>
          <a:solidFill>
            <a:srgbClr val="FFFCF5"/>
          </a:solidFill>
          <a:ln w="19050">
            <a:solidFill>
              <a:srgbClr val="14161C"/>
            </a:solidFill>
            <a:prstDash val="solid"/>
          </a:ln>
        </p:spPr>
      </p:sp>
      <p:sp>
        <p:nvSpPr>
          <p:cNvPr id="21" name="Text 18"/>
          <p:cNvSpPr txBox="1"/>
          <p:nvPr/>
        </p:nvSpPr>
        <p:spPr>
          <a:xfrm>
            <a:off x="731520" y="3886200"/>
            <a:ext cx="10728655" cy="384048"/>
          </a:xfrm>
          <a:prstGeom prst="rect">
            <a:avLst/>
          </a:prstGeom>
          <a:noFill/>
          <a:ln/>
        </p:spPr>
        <p:txBody>
          <a:bodyPr wrap="square" lIns="0" tIns="0" rIns="0" bIns="0" rtlCol="0" anchor="t"/>
          <a:lstStyle/>
          <a:p>
            <a:pPr algn="ctr" indent="0" marL="0">
              <a:lnSpc>
                <a:spcPct val="120000"/>
              </a:lnSpc>
              <a:buNone/>
            </a:pPr>
            <a:r>
              <a:rPr lang="en-US" sz="2400" dirty="0">
                <a:solidFill>
                  <a:srgbClr val="FFFCF5"/>
                </a:solidFill>
                <a:latin typeface="Helvetica Neue" pitchFamily="34" charset="0"/>
                <a:ea typeface="Helvetica Neue" pitchFamily="34" charset="-122"/>
                <a:cs typeface="Helvetica Neue" pitchFamily="34" charset="-120"/>
              </a:rPr>
              <a:t>Using AI makes you an </a:t>
            </a:r>
            <a:r>
              <a:rPr lang="en-US" sz="2400" b="1" dirty="0">
                <a:solidFill>
                  <a:srgbClr val="F948BE"/>
                </a:solidFill>
                <a:latin typeface="Helvetica Neue" pitchFamily="34" charset="0"/>
                <a:ea typeface="Helvetica Neue" pitchFamily="34" charset="-122"/>
                <a:cs typeface="Helvetica Neue" pitchFamily="34" charset="-120"/>
              </a:rPr>
              <a:t>AI-enabled software engineer</a:t>
            </a:r>
            <a:r>
              <a:rPr lang="en-US" sz="2400" dirty="0">
                <a:solidFill>
                  <a:srgbClr val="FFFCF5"/>
                </a:solidFill>
                <a:latin typeface="Helvetica Neue" pitchFamily="34" charset="0"/>
                <a:ea typeface="Helvetica Neue" pitchFamily="34" charset="-122"/>
                <a:cs typeface="Helvetica Neue" pitchFamily="34" charset="-120"/>
              </a:rPr>
              <a:t>.</a:t>
            </a:r>
            <a:endParaRPr lang="en-US" sz="2400" dirty="0"/>
          </a:p>
        </p:txBody>
      </p:sp>
      <p:sp>
        <p:nvSpPr>
          <p:cNvPr id="22" name="Text 19"/>
          <p:cNvSpPr txBox="1"/>
          <p:nvPr/>
        </p:nvSpPr>
        <p:spPr>
          <a:xfrm>
            <a:off x="1984248" y="4297680"/>
            <a:ext cx="8229600" cy="777240"/>
          </a:xfrm>
          <a:prstGeom prst="rect">
            <a:avLst/>
          </a:prstGeom>
          <a:noFill/>
          <a:ln/>
        </p:spPr>
        <p:txBody>
          <a:bodyPr wrap="square" lIns="0" tIns="0" rIns="0" bIns="0" rtlCol="0" anchor="t"/>
          <a:lstStyle/>
          <a:p>
            <a:pPr algn="ctr" indent="0" marL="0">
              <a:lnSpc>
                <a:spcPct val="120000"/>
              </a:lnSpc>
              <a:buNone/>
            </a:pPr>
            <a:r>
              <a:rPr lang="en-US" sz="2400" dirty="0">
                <a:solidFill>
                  <a:srgbClr val="FFFCF5"/>
                </a:solidFill>
                <a:latin typeface="Helvetica Neue" pitchFamily="34" charset="0"/>
                <a:ea typeface="Helvetica Neue" pitchFamily="34" charset="-122"/>
                <a:cs typeface="Helvetica Neue" pitchFamily="34" charset="-120"/>
              </a:rPr>
              <a:t>Engineering systems whose behavior depends on AI makes you an </a:t>
            </a:r>
            <a:r>
              <a:rPr lang="en-US" sz="2400" b="1" dirty="0">
                <a:solidFill>
                  <a:srgbClr val="F948BE"/>
                </a:solidFill>
                <a:latin typeface="Helvetica Neue" pitchFamily="34" charset="0"/>
                <a:ea typeface="Helvetica Neue" pitchFamily="34" charset="-122"/>
                <a:cs typeface="Helvetica Neue" pitchFamily="34" charset="-120"/>
              </a:rPr>
              <a:t>AI engineer</a:t>
            </a:r>
            <a:r>
              <a:rPr lang="en-US" sz="2400" dirty="0">
                <a:solidFill>
                  <a:srgbClr val="FFFCF5"/>
                </a:solidFill>
                <a:latin typeface="Helvetica Neue" pitchFamily="34" charset="0"/>
                <a:ea typeface="Helvetica Neue" pitchFamily="34" charset="-122"/>
                <a:cs typeface="Helvetica Neue" pitchFamily="34" charset="-120"/>
              </a:rPr>
              <a:t>.</a:t>
            </a:r>
            <a:endParaRPr lang="en-US" sz="2400" dirty="0"/>
          </a:p>
        </p:txBody>
      </p:sp>
      <p:sp>
        <p:nvSpPr>
          <p:cNvPr id="23" name="b1:close"/>
          <p:cNvSpPr txBox="1"/>
          <p:nvPr/>
        </p:nvSpPr>
        <p:spPr>
          <a:xfrm>
            <a:off x="731520" y="5166360"/>
            <a:ext cx="10728655" cy="384048"/>
          </a:xfrm>
          <a:prstGeom prst="rect">
            <a:avLst/>
          </a:prstGeom>
          <a:noFill/>
          <a:ln/>
        </p:spPr>
        <p:txBody>
          <a:bodyPr wrap="square" lIns="0" tIns="0" rIns="0" bIns="0" rtlCol="0" anchor="t"/>
          <a:lstStyle/>
          <a:p>
            <a:pPr algn="ctr" indent="0" marL="0">
              <a:lnSpc>
                <a:spcPct val="120000"/>
              </a:lnSpc>
              <a:buNone/>
            </a:pPr>
            <a:r>
              <a:rPr lang="en-US" sz="2400" b="1" dirty="0">
                <a:solidFill>
                  <a:srgbClr val="F948BE"/>
                </a:solidFill>
                <a:latin typeface="Helvetica Neue" pitchFamily="34" charset="0"/>
                <a:ea typeface="Helvetica Neue" pitchFamily="34" charset="-122"/>
                <a:cs typeface="Helvetica Neue" pitchFamily="34" charset="-120"/>
              </a:rPr>
              <a:t>Go build one where the customer is on the other end.</a:t>
            </a:r>
            <a:endParaRPr lang="en-US" sz="2400" dirty="0"/>
          </a:p>
        </p:txBody>
      </p:sp>
      <p:sp>
        <p:nvSpPr>
          <p:cNvPr id="24" name="b2:questions"/>
          <p:cNvSpPr txBox="1"/>
          <p:nvPr/>
        </p:nvSpPr>
        <p:spPr>
          <a:xfrm>
            <a:off x="731520" y="5623560"/>
            <a:ext cx="10728655" cy="502920"/>
          </a:xfrm>
          <a:prstGeom prst="rect">
            <a:avLst/>
          </a:prstGeom>
          <a:noFill/>
          <a:ln/>
        </p:spPr>
        <p:txBody>
          <a:bodyPr wrap="square" lIns="0" tIns="0" rIns="0" bIns="0" rtlCol="0" anchor="t"/>
          <a:lstStyle/>
          <a:p>
            <a:pPr algn="ctr" indent="0" marL="0">
              <a:lnSpc>
                <a:spcPct val="120000"/>
              </a:lnSpc>
              <a:buNone/>
            </a:pPr>
            <a:r>
              <a:rPr lang="en-US" sz="3200" b="1" dirty="0">
                <a:solidFill>
                  <a:srgbClr val="FFFCF5"/>
                </a:solidFill>
                <a:latin typeface="Helvetica Neue" pitchFamily="34" charset="0"/>
                <a:ea typeface="Helvetica Neue" pitchFamily="34" charset="-122"/>
                <a:cs typeface="Helvetica Neue" pitchFamily="34" charset="-120"/>
              </a:rPr>
              <a:t>Questions</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Coding Agent: From Software Engineer to AI Engineer</dc:title>
  <dc:subject>PptxGenJS Presentation</dc:subject>
  <dc:creator>Beyond the Coding Agent</dc:creator>
  <cp:lastModifiedBy>Beyond the Coding Agent</cp:lastModifiedBy>
  <cp:revision>1</cp:revision>
  <dcterms:created xsi:type="dcterms:W3CDTF">2026-09-14T03:33:31Z</dcterms:created>
  <dcterms:modified xsi:type="dcterms:W3CDTF">2026-09-14T03:33:31Z</dcterms:modified>
</cp:coreProperties>
</file>